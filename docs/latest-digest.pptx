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oi.org/10.1186/s13020-026-01381-5" TargetMode="External"/><Relationship Id="rId2" Type="http://schemas.openxmlformats.org/officeDocument/2006/relationships/hyperlink" Target="https://doi.org/10.1186/s13020-026-01381-5"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oi.org/10.1186/s13020-026-01381-5"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doi.org/10.1002/advs.202520000" TargetMode="External"/><Relationship Id="rId2" Type="http://schemas.openxmlformats.org/officeDocument/2006/relationships/hyperlink" Target="https://doi.org/10.1002/advs.202520000"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doi.org/10.1002/advs.202520000"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doi.org/10.1002/cbic.202600004" TargetMode="External"/><Relationship Id="rId2" Type="http://schemas.openxmlformats.org/officeDocument/2006/relationships/hyperlink" Target="https://doi.org/10.1002/cbic.202600004" TargetMode="Externa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doi.org/10.1002/cbic.202600004"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doi.org/10.1016/j.jep.2026.121657" TargetMode="External"/><Relationship Id="rId2" Type="http://schemas.openxmlformats.org/officeDocument/2006/relationships/hyperlink" Target="https://doi.org/10.1016/j.jep.2026.121657"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doi.org/10.1016/j.jep.2026.121657"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doi.org/10.1021/acs.orglett.6c00971" TargetMode="External"/><Relationship Id="rId2" Type="http://schemas.openxmlformats.org/officeDocument/2006/relationships/hyperlink" Target="https://doi.org/10.1021/acs.orglett.6c00971" TargetMode="External"/><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doi.org/10.1021/acs.orglett.6c00971" TargetMode="Externa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563EB"/>
          </a:solidFill>
          <a:ln/>
        </p:spPr>
      </p:sp>
      <p:sp>
        <p:nvSpPr>
          <p:cNvPr id="3" name="Text 1"/>
          <p:cNvSpPr/>
          <p:nvPr/>
        </p:nvSpPr>
        <p:spPr>
          <a:xfrm>
            <a:off x="731520" y="365760"/>
            <a:ext cx="3657600" cy="0"/>
          </a:xfrm>
          <a:prstGeom prst="rect">
            <a:avLst/>
          </a:prstGeom>
          <a:noFill/>
          <a:ln/>
        </p:spPr>
        <p:txBody>
          <a:bodyPr wrap="square" rtlCol="0" anchor="ctr"/>
          <a:lstStyle/>
          <a:p>
            <a:pPr indent="0" marL="0">
              <a:buNone/>
            </a:pPr>
            <a:r>
              <a:rPr lang="en-US" sz="900" b="1" spc="600" kern="0" dirty="0">
                <a:solidFill>
                  <a:srgbClr val="888888"/>
                </a:solidFill>
                <a:latin typeface="Arial" pitchFamily="34" charset="0"/>
                <a:ea typeface="Arial" pitchFamily="34" charset="-122"/>
                <a:cs typeface="Arial" pitchFamily="34" charset="-120"/>
              </a:rPr>
              <a:t>WEEKLY DIGEST</a:t>
            </a:r>
            <a:endParaRPr lang="en-US" sz="900" dirty="0"/>
          </a:p>
        </p:txBody>
      </p:sp>
      <p:sp>
        <p:nvSpPr>
          <p:cNvPr id="4" name="Text 2"/>
          <p:cNvSpPr/>
          <p:nvPr/>
        </p:nvSpPr>
        <p:spPr>
          <a:xfrm>
            <a:off x="731520" y="1371600"/>
            <a:ext cx="10058400" cy="0"/>
          </a:xfrm>
          <a:prstGeom prst="rect">
            <a:avLst/>
          </a:prstGeom>
          <a:noFill/>
          <a:ln/>
        </p:spPr>
        <p:txBody>
          <a:bodyPr wrap="square" rtlCol="0" anchor="ctr"/>
          <a:lstStyle/>
          <a:p>
            <a:pPr indent="0" marL="0">
              <a:lnSpc>
                <a:spcPct val="95000"/>
              </a:lnSpc>
              <a:buNone/>
            </a:pPr>
            <a:r>
              <a:rPr lang="en-US" sz="5400" b="1" dirty="0">
                <a:solidFill>
                  <a:srgbClr val="FFFFFF"/>
                </a:solidFill>
                <a:latin typeface="Arial" pitchFamily="34" charset="0"/>
                <a:ea typeface="Arial" pitchFamily="34" charset="-122"/>
                <a:cs typeface="Arial" pitchFamily="34" charset="-120"/>
              </a:rPr>
              <a:t>Colorectal</a:t>
            </a:r>
            <a:endParaRPr lang="en-US" sz="5400" dirty="0"/>
          </a:p>
          <a:p>
            <a:pPr indent="0" marL="0">
              <a:lnSpc>
                <a:spcPct val="95000"/>
              </a:lnSpc>
              <a:buNone/>
            </a:pPr>
            <a:r>
              <a:rPr lang="en-US" sz="5400" b="1" dirty="0">
                <a:solidFill>
                  <a:srgbClr val="FFFFFF"/>
                </a:solidFill>
                <a:latin typeface="Arial" pitchFamily="34" charset="0"/>
                <a:ea typeface="Arial" pitchFamily="34" charset="-122"/>
                <a:cs typeface="Arial" pitchFamily="34" charset="-120"/>
              </a:rPr>
              <a:t>Surgery</a:t>
            </a:r>
            <a:endParaRPr lang="en-US" sz="5400" dirty="0"/>
          </a:p>
        </p:txBody>
      </p:sp>
      <p:sp>
        <p:nvSpPr>
          <p:cNvPr id="5" name="Shape 3"/>
          <p:cNvSpPr/>
          <p:nvPr/>
        </p:nvSpPr>
        <p:spPr>
          <a:xfrm>
            <a:off x="731520" y="3657600"/>
            <a:ext cx="2743200" cy="54864"/>
          </a:xfrm>
          <a:prstGeom prst="rect">
            <a:avLst/>
          </a:prstGeom>
          <a:solidFill>
            <a:srgbClr val="2563EB"/>
          </a:solidFill>
          <a:ln/>
        </p:spPr>
      </p:sp>
      <p:sp>
        <p:nvSpPr>
          <p:cNvPr id="6" name="Text 4"/>
          <p:cNvSpPr/>
          <p:nvPr/>
        </p:nvSpPr>
        <p:spPr>
          <a:xfrm>
            <a:off x="731520" y="3931920"/>
            <a:ext cx="5486400" cy="0"/>
          </a:xfrm>
          <a:prstGeom prst="rect">
            <a:avLst/>
          </a:prstGeom>
          <a:noFill/>
          <a:ln/>
        </p:spPr>
        <p:txBody>
          <a:bodyPr wrap="square" rtlCol="0" anchor="ctr"/>
          <a:lstStyle/>
          <a:p>
            <a:pPr indent="0" marL="0">
              <a:buNone/>
            </a:pPr>
            <a:r>
              <a:rPr lang="en-US" sz="1800" dirty="0">
                <a:solidFill>
                  <a:srgbClr val="888888"/>
                </a:solidFill>
                <a:latin typeface="Microsoft JhengHei" pitchFamily="34" charset="0"/>
                <a:ea typeface="Microsoft JhengHei" pitchFamily="34" charset="-122"/>
                <a:cs typeface="Microsoft JhengHei" pitchFamily="34" charset="-120"/>
              </a:rPr>
              <a:t>大腸直腸外科文獻週報</a:t>
            </a:r>
            <a:endParaRPr lang="en-US" sz="1800" dirty="0"/>
          </a:p>
        </p:txBody>
      </p:sp>
      <p:sp>
        <p:nvSpPr>
          <p:cNvPr id="7" name="Text 5"/>
          <p:cNvSpPr/>
          <p:nvPr/>
        </p:nvSpPr>
        <p:spPr>
          <a:xfrm>
            <a:off x="7315200" y="5669280"/>
            <a:ext cx="4114800" cy="0"/>
          </a:xfrm>
          <a:prstGeom prst="rect">
            <a:avLst/>
          </a:prstGeom>
          <a:noFill/>
          <a:ln/>
        </p:spPr>
        <p:txBody>
          <a:bodyPr wrap="square" rtlCol="0" anchor="ctr"/>
          <a:lstStyle/>
          <a:p>
            <a:pPr algn="r" indent="0" marL="0">
              <a:buNone/>
            </a:pPr>
            <a:r>
              <a:rPr lang="en-US" sz="1200" dirty="0">
                <a:solidFill>
                  <a:srgbClr val="888888"/>
                </a:solidFill>
                <a:latin typeface="Arial" pitchFamily="34" charset="0"/>
                <a:ea typeface="Arial" pitchFamily="34" charset="-122"/>
                <a:cs typeface="Arial" pitchFamily="34" charset="-120"/>
              </a:rPr>
              <a:t>2026-04-12 — 2026-04-19</a:t>
            </a:r>
            <a:endParaRPr lang="en-US" sz="1200" dirty="0"/>
          </a:p>
        </p:txBody>
      </p:sp>
      <p:sp>
        <p:nvSpPr>
          <p:cNvPr id="8" name="Text 6"/>
          <p:cNvSpPr/>
          <p:nvPr/>
        </p:nvSpPr>
        <p:spPr>
          <a:xfrm>
            <a:off x="7315200" y="6035040"/>
            <a:ext cx="4114800" cy="0"/>
          </a:xfrm>
          <a:prstGeom prst="rect">
            <a:avLst/>
          </a:prstGeom>
          <a:noFill/>
          <a:ln/>
        </p:spPr>
        <p:txBody>
          <a:bodyPr wrap="square" rtlCol="0" anchor="ctr"/>
          <a:lstStyle/>
          <a:p>
            <a:pPr algn="r" indent="0" marL="0">
              <a:buNone/>
            </a:pPr>
            <a:r>
              <a:rPr lang="en-US" sz="1000" b="1" spc="400" kern="0" dirty="0">
                <a:solidFill>
                  <a:srgbClr val="2563EB"/>
                </a:solidFill>
                <a:latin typeface="Arial" pitchFamily="34" charset="0"/>
                <a:ea typeface="Arial" pitchFamily="34" charset="-122"/>
                <a:cs typeface="Arial" pitchFamily="34" charset="-120"/>
              </a:rPr>
              <a:t>10 PAPERS</a:t>
            </a:r>
            <a:endParaRPr lang="en-US" sz="1000" dirty="0"/>
          </a:p>
        </p:txBody>
      </p:sp>
      <p:sp>
        <p:nvSpPr>
          <p:cNvPr id="9" name="Shape 7"/>
          <p:cNvSpPr/>
          <p:nvPr/>
        </p:nvSpPr>
        <p:spPr>
          <a:xfrm>
            <a:off x="0" y="6803136"/>
            <a:ext cx="12188952" cy="54864"/>
          </a:xfrm>
          <a:prstGeom prst="rect">
            <a:avLst/>
          </a:prstGeom>
          <a:solidFill>
            <a:srgbClr val="2563EB"/>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5486400" cy="0"/>
          </a:xfrm>
          <a:prstGeom prst="rect">
            <a:avLst/>
          </a:prstGeom>
          <a:noFill/>
          <a:ln/>
        </p:spPr>
        <p:txBody>
          <a:bodyPr wrap="square" rtlCol="0" anchor="ctr"/>
          <a:lstStyle/>
          <a:p>
            <a:pPr indent="0" marL="0">
              <a:buNone/>
            </a:pPr>
            <a:r>
              <a:rPr lang="en-US" sz="900" spc="400" kern="0" dirty="0">
                <a:solidFill>
                  <a:srgbClr val="888888"/>
                </a:solidFill>
                <a:latin typeface="Arial" pitchFamily="34" charset="0"/>
                <a:ea typeface="Arial" pitchFamily="34" charset="-122"/>
                <a:cs typeface="Arial" pitchFamily="34" charset="-120"/>
              </a:rPr>
              <a:t>00 — CONTENTS</a:t>
            </a:r>
            <a:endParaRPr lang="en-US" sz="900" dirty="0"/>
          </a:p>
        </p:txBody>
      </p:sp>
      <p:sp>
        <p:nvSpPr>
          <p:cNvPr id="3" name="Shape 1"/>
          <p:cNvSpPr/>
          <p:nvPr/>
        </p:nvSpPr>
        <p:spPr>
          <a:xfrm>
            <a:off x="731520" y="640080"/>
            <a:ext cx="10515600" cy="9144"/>
          </a:xfrm>
          <a:prstGeom prst="rect">
            <a:avLst/>
          </a:prstGeom>
          <a:solidFill>
            <a:srgbClr val="E0E0E0"/>
          </a:solidFill>
          <a:ln/>
        </p:spPr>
      </p:sp>
      <p:sp>
        <p:nvSpPr>
          <p:cNvPr id="4" name="Text 2"/>
          <p:cNvSpPr/>
          <p:nvPr/>
        </p:nvSpPr>
        <p:spPr>
          <a:xfrm>
            <a:off x="731520" y="1005840"/>
            <a:ext cx="731520" cy="0"/>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01</a:t>
            </a:r>
            <a:endParaRPr lang="en-US" sz="1600" dirty="0"/>
          </a:p>
        </p:txBody>
      </p:sp>
      <p:sp>
        <p:nvSpPr>
          <p:cNvPr id="5" name="Text 3"/>
          <p:cNvSpPr/>
          <p:nvPr/>
        </p:nvSpPr>
        <p:spPr>
          <a:xfrm>
            <a:off x="1645920" y="1024128"/>
            <a:ext cx="9601200" cy="0"/>
          </a:xfrm>
          <a:prstGeom prst="rect">
            <a:avLst/>
          </a:prstGeom>
          <a:noFill/>
          <a:ln/>
        </p:spPr>
        <p:txBody>
          <a:bodyPr wrap="square" rtlCol="0" anchor="ctr"/>
          <a:lstStyle/>
          <a:p>
            <a:pPr indent="0" marL="0">
              <a:buNone/>
            </a:pPr>
            <a:r>
              <a:rPr lang="en-US" sz="1100" dirty="0">
                <a:solidFill>
                  <a:srgbClr val="111111"/>
                </a:solidFill>
                <a:latin typeface="Arial" pitchFamily="34" charset="0"/>
                <a:ea typeface="Arial" pitchFamily="34" charset="-122"/>
                <a:cs typeface="Arial" pitchFamily="34" charset="-120"/>
              </a:rPr>
              <a:t>Parasutterella excrementihominis exacerbates experimental colitis and colitis-associated c…</a:t>
            </a:r>
            <a:endParaRPr lang="en-US" sz="1100" dirty="0"/>
          </a:p>
        </p:txBody>
      </p:sp>
      <p:sp>
        <p:nvSpPr>
          <p:cNvPr id="6" name="Shape 4"/>
          <p:cNvSpPr/>
          <p:nvPr/>
        </p:nvSpPr>
        <p:spPr>
          <a:xfrm>
            <a:off x="1645920" y="1417320"/>
            <a:ext cx="9601200" cy="4572"/>
          </a:xfrm>
          <a:prstGeom prst="rect">
            <a:avLst/>
          </a:prstGeom>
          <a:solidFill>
            <a:srgbClr val="E0E0E0"/>
          </a:solidFill>
          <a:ln/>
        </p:spPr>
      </p:sp>
      <p:sp>
        <p:nvSpPr>
          <p:cNvPr id="7" name="Text 5"/>
          <p:cNvSpPr/>
          <p:nvPr/>
        </p:nvSpPr>
        <p:spPr>
          <a:xfrm>
            <a:off x="731520" y="1536192"/>
            <a:ext cx="731520" cy="0"/>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02</a:t>
            </a:r>
            <a:endParaRPr lang="en-US" sz="1600" dirty="0"/>
          </a:p>
        </p:txBody>
      </p:sp>
      <p:sp>
        <p:nvSpPr>
          <p:cNvPr id="8" name="Text 6"/>
          <p:cNvSpPr/>
          <p:nvPr/>
        </p:nvSpPr>
        <p:spPr>
          <a:xfrm>
            <a:off x="1645920" y="1554480"/>
            <a:ext cx="9601200" cy="0"/>
          </a:xfrm>
          <a:prstGeom prst="rect">
            <a:avLst/>
          </a:prstGeom>
          <a:noFill/>
          <a:ln/>
        </p:spPr>
        <p:txBody>
          <a:bodyPr wrap="square" rtlCol="0" anchor="ctr"/>
          <a:lstStyle/>
          <a:p>
            <a:pPr indent="0" marL="0">
              <a:buNone/>
            </a:pPr>
            <a:r>
              <a:rPr lang="en-US" sz="1100" dirty="0">
                <a:solidFill>
                  <a:srgbClr val="111111"/>
                </a:solidFill>
                <a:latin typeface="Arial" pitchFamily="34" charset="0"/>
                <a:ea typeface="Arial" pitchFamily="34" charset="-122"/>
                <a:cs typeface="Arial" pitchFamily="34" charset="-120"/>
              </a:rPr>
              <a:t>Effect of hyperthermic intraperitoneal chemotherapy on patients with advanced colorectal c…</a:t>
            </a:r>
            <a:endParaRPr lang="en-US" sz="1100" dirty="0"/>
          </a:p>
        </p:txBody>
      </p:sp>
      <p:sp>
        <p:nvSpPr>
          <p:cNvPr id="9" name="Shape 7"/>
          <p:cNvSpPr/>
          <p:nvPr/>
        </p:nvSpPr>
        <p:spPr>
          <a:xfrm>
            <a:off x="1645920" y="1947672"/>
            <a:ext cx="9601200" cy="4572"/>
          </a:xfrm>
          <a:prstGeom prst="rect">
            <a:avLst/>
          </a:prstGeom>
          <a:solidFill>
            <a:srgbClr val="E0E0E0"/>
          </a:solidFill>
          <a:ln/>
        </p:spPr>
      </p:sp>
      <p:sp>
        <p:nvSpPr>
          <p:cNvPr id="10" name="Text 8"/>
          <p:cNvSpPr/>
          <p:nvPr/>
        </p:nvSpPr>
        <p:spPr>
          <a:xfrm>
            <a:off x="731520" y="2066544"/>
            <a:ext cx="731520" cy="0"/>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03</a:t>
            </a:r>
            <a:endParaRPr lang="en-US" sz="1600" dirty="0"/>
          </a:p>
        </p:txBody>
      </p:sp>
      <p:sp>
        <p:nvSpPr>
          <p:cNvPr id="11" name="Text 9"/>
          <p:cNvSpPr/>
          <p:nvPr/>
        </p:nvSpPr>
        <p:spPr>
          <a:xfrm>
            <a:off x="1645920" y="2084832"/>
            <a:ext cx="9601200" cy="0"/>
          </a:xfrm>
          <a:prstGeom prst="rect">
            <a:avLst/>
          </a:prstGeom>
          <a:noFill/>
          <a:ln/>
        </p:spPr>
        <p:txBody>
          <a:bodyPr wrap="square" rtlCol="0" anchor="ctr"/>
          <a:lstStyle/>
          <a:p>
            <a:pPr indent="0" marL="0">
              <a:buNone/>
            </a:pPr>
            <a:r>
              <a:rPr lang="en-US" sz="1100" dirty="0">
                <a:solidFill>
                  <a:srgbClr val="111111"/>
                </a:solidFill>
                <a:latin typeface="Arial" pitchFamily="34" charset="0"/>
                <a:ea typeface="Arial" pitchFamily="34" charset="-122"/>
                <a:cs typeface="Arial" pitchFamily="34" charset="-120"/>
              </a:rPr>
              <a:t>Prognostic value of systemic immune-inflammation index for colorectal cancer: a systematic…</a:t>
            </a:r>
            <a:endParaRPr lang="en-US" sz="1100" dirty="0"/>
          </a:p>
        </p:txBody>
      </p:sp>
      <p:sp>
        <p:nvSpPr>
          <p:cNvPr id="12" name="Shape 10"/>
          <p:cNvSpPr/>
          <p:nvPr/>
        </p:nvSpPr>
        <p:spPr>
          <a:xfrm>
            <a:off x="1645920" y="2478024"/>
            <a:ext cx="9601200" cy="4572"/>
          </a:xfrm>
          <a:prstGeom prst="rect">
            <a:avLst/>
          </a:prstGeom>
          <a:solidFill>
            <a:srgbClr val="E0E0E0"/>
          </a:solidFill>
          <a:ln/>
        </p:spPr>
      </p:sp>
      <p:sp>
        <p:nvSpPr>
          <p:cNvPr id="13" name="Text 11"/>
          <p:cNvSpPr/>
          <p:nvPr/>
        </p:nvSpPr>
        <p:spPr>
          <a:xfrm>
            <a:off x="731520" y="2596896"/>
            <a:ext cx="731520" cy="0"/>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04</a:t>
            </a:r>
            <a:endParaRPr lang="en-US" sz="1600" dirty="0"/>
          </a:p>
        </p:txBody>
      </p:sp>
      <p:sp>
        <p:nvSpPr>
          <p:cNvPr id="14" name="Text 12"/>
          <p:cNvSpPr/>
          <p:nvPr/>
        </p:nvSpPr>
        <p:spPr>
          <a:xfrm>
            <a:off x="1645920" y="2615184"/>
            <a:ext cx="9601200" cy="0"/>
          </a:xfrm>
          <a:prstGeom prst="rect">
            <a:avLst/>
          </a:prstGeom>
          <a:noFill/>
          <a:ln/>
        </p:spPr>
        <p:txBody>
          <a:bodyPr wrap="square" rtlCol="0" anchor="ctr"/>
          <a:lstStyle/>
          <a:p>
            <a:pPr indent="0" marL="0">
              <a:buNone/>
            </a:pPr>
            <a:r>
              <a:rPr lang="en-US" sz="1100" dirty="0">
                <a:solidFill>
                  <a:srgbClr val="111111"/>
                </a:solidFill>
                <a:latin typeface="Arial" pitchFamily="34" charset="0"/>
                <a:ea typeface="Arial" pitchFamily="34" charset="-122"/>
                <a:cs typeface="Arial" pitchFamily="34" charset="-120"/>
              </a:rPr>
              <a:t>Thlaspi arvense attenuates colitis-associated colorectal tumorigenesis through suppression…</a:t>
            </a:r>
            <a:endParaRPr lang="en-US" sz="1100" dirty="0"/>
          </a:p>
        </p:txBody>
      </p:sp>
      <p:sp>
        <p:nvSpPr>
          <p:cNvPr id="15" name="Shape 13"/>
          <p:cNvSpPr/>
          <p:nvPr/>
        </p:nvSpPr>
        <p:spPr>
          <a:xfrm>
            <a:off x="1645920" y="3008376"/>
            <a:ext cx="9601200" cy="4572"/>
          </a:xfrm>
          <a:prstGeom prst="rect">
            <a:avLst/>
          </a:prstGeom>
          <a:solidFill>
            <a:srgbClr val="E0E0E0"/>
          </a:solidFill>
          <a:ln/>
        </p:spPr>
      </p:sp>
      <p:sp>
        <p:nvSpPr>
          <p:cNvPr id="16" name="Text 14"/>
          <p:cNvSpPr/>
          <p:nvPr/>
        </p:nvSpPr>
        <p:spPr>
          <a:xfrm>
            <a:off x="731520" y="3127248"/>
            <a:ext cx="731520" cy="0"/>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05</a:t>
            </a:r>
            <a:endParaRPr lang="en-US" sz="1600" dirty="0"/>
          </a:p>
        </p:txBody>
      </p:sp>
      <p:sp>
        <p:nvSpPr>
          <p:cNvPr id="17" name="Text 15"/>
          <p:cNvSpPr/>
          <p:nvPr/>
        </p:nvSpPr>
        <p:spPr>
          <a:xfrm>
            <a:off x="1645920" y="3145536"/>
            <a:ext cx="9601200" cy="0"/>
          </a:xfrm>
          <a:prstGeom prst="rect">
            <a:avLst/>
          </a:prstGeom>
          <a:noFill/>
          <a:ln/>
        </p:spPr>
        <p:txBody>
          <a:bodyPr wrap="square" rtlCol="0" anchor="ctr"/>
          <a:lstStyle/>
          <a:p>
            <a:pPr indent="0" marL="0">
              <a:buNone/>
            </a:pPr>
            <a:r>
              <a:rPr lang="en-US" sz="1100" dirty="0">
                <a:solidFill>
                  <a:srgbClr val="111111"/>
                </a:solidFill>
                <a:latin typeface="Arial" pitchFamily="34" charset="0"/>
                <a:ea typeface="Arial" pitchFamily="34" charset="-122"/>
                <a:cs typeface="Arial" pitchFamily="34" charset="-120"/>
              </a:rPr>
              <a:t>Tumor-Derived Alpha-1 Antitrypsin Promotes Liver Metastasis of Colorectal Cancer Through t…</a:t>
            </a:r>
            <a:endParaRPr lang="en-US" sz="1100" dirty="0"/>
          </a:p>
        </p:txBody>
      </p:sp>
      <p:sp>
        <p:nvSpPr>
          <p:cNvPr id="18" name="Shape 16"/>
          <p:cNvSpPr/>
          <p:nvPr/>
        </p:nvSpPr>
        <p:spPr>
          <a:xfrm>
            <a:off x="1645920" y="3538728"/>
            <a:ext cx="9601200" cy="4572"/>
          </a:xfrm>
          <a:prstGeom prst="rect">
            <a:avLst/>
          </a:prstGeom>
          <a:solidFill>
            <a:srgbClr val="E0E0E0"/>
          </a:solidFill>
          <a:ln/>
        </p:spPr>
      </p:sp>
      <p:sp>
        <p:nvSpPr>
          <p:cNvPr id="19" name="Text 17"/>
          <p:cNvSpPr/>
          <p:nvPr/>
        </p:nvSpPr>
        <p:spPr>
          <a:xfrm>
            <a:off x="731520" y="3657600"/>
            <a:ext cx="731520" cy="0"/>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06</a:t>
            </a:r>
            <a:endParaRPr lang="en-US" sz="1600" dirty="0"/>
          </a:p>
        </p:txBody>
      </p:sp>
      <p:sp>
        <p:nvSpPr>
          <p:cNvPr id="20" name="Text 18"/>
          <p:cNvSpPr/>
          <p:nvPr/>
        </p:nvSpPr>
        <p:spPr>
          <a:xfrm>
            <a:off x="1645920" y="3675888"/>
            <a:ext cx="9601200" cy="0"/>
          </a:xfrm>
          <a:prstGeom prst="rect">
            <a:avLst/>
          </a:prstGeom>
          <a:noFill/>
          <a:ln/>
        </p:spPr>
        <p:txBody>
          <a:bodyPr wrap="square" rtlCol="0" anchor="ctr"/>
          <a:lstStyle/>
          <a:p>
            <a:pPr indent="0" marL="0">
              <a:buNone/>
            </a:pPr>
            <a:r>
              <a:rPr lang="en-US" sz="1100" dirty="0">
                <a:solidFill>
                  <a:srgbClr val="111111"/>
                </a:solidFill>
                <a:latin typeface="Arial" pitchFamily="34" charset="0"/>
                <a:ea typeface="Arial" pitchFamily="34" charset="-122"/>
                <a:cs typeface="Arial" pitchFamily="34" charset="-120"/>
              </a:rPr>
              <a:t>Radioiodination of Two Carborane-Based Dual Cyclooxygenase-2/5-Lipoxygenase Inhibitors and…</a:t>
            </a:r>
            <a:endParaRPr lang="en-US" sz="1100" dirty="0"/>
          </a:p>
        </p:txBody>
      </p:sp>
      <p:sp>
        <p:nvSpPr>
          <p:cNvPr id="21" name="Shape 19"/>
          <p:cNvSpPr/>
          <p:nvPr/>
        </p:nvSpPr>
        <p:spPr>
          <a:xfrm>
            <a:off x="1645920" y="4069080"/>
            <a:ext cx="9601200" cy="4572"/>
          </a:xfrm>
          <a:prstGeom prst="rect">
            <a:avLst/>
          </a:prstGeom>
          <a:solidFill>
            <a:srgbClr val="E0E0E0"/>
          </a:solidFill>
          <a:ln/>
        </p:spPr>
      </p:sp>
      <p:sp>
        <p:nvSpPr>
          <p:cNvPr id="22" name="Text 20"/>
          <p:cNvSpPr/>
          <p:nvPr/>
        </p:nvSpPr>
        <p:spPr>
          <a:xfrm>
            <a:off x="731520" y="4187952"/>
            <a:ext cx="731520" cy="0"/>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07</a:t>
            </a:r>
            <a:endParaRPr lang="en-US" sz="1600" dirty="0"/>
          </a:p>
        </p:txBody>
      </p:sp>
      <p:sp>
        <p:nvSpPr>
          <p:cNvPr id="23" name="Text 21"/>
          <p:cNvSpPr/>
          <p:nvPr/>
        </p:nvSpPr>
        <p:spPr>
          <a:xfrm>
            <a:off x="1645920" y="4206240"/>
            <a:ext cx="9601200" cy="0"/>
          </a:xfrm>
          <a:prstGeom prst="rect">
            <a:avLst/>
          </a:prstGeom>
          <a:noFill/>
          <a:ln/>
        </p:spPr>
        <p:txBody>
          <a:bodyPr wrap="square" rtlCol="0" anchor="ctr"/>
          <a:lstStyle/>
          <a:p>
            <a:pPr indent="0" marL="0">
              <a:buNone/>
            </a:pPr>
            <a:r>
              <a:rPr lang="en-US" sz="1100" dirty="0">
                <a:solidFill>
                  <a:srgbClr val="111111"/>
                </a:solidFill>
                <a:latin typeface="Arial" pitchFamily="34" charset="0"/>
                <a:ea typeface="Arial" pitchFamily="34" charset="-122"/>
                <a:cs typeface="Arial" pitchFamily="34" charset="-120"/>
              </a:rPr>
              <a:t>Sanghuangporus vaninii extract exerts dual anti-tumor effects in colitis-associated colore…</a:t>
            </a:r>
            <a:endParaRPr lang="en-US" sz="1100" dirty="0"/>
          </a:p>
        </p:txBody>
      </p:sp>
      <p:sp>
        <p:nvSpPr>
          <p:cNvPr id="24" name="Shape 22"/>
          <p:cNvSpPr/>
          <p:nvPr/>
        </p:nvSpPr>
        <p:spPr>
          <a:xfrm>
            <a:off x="1645920" y="4599432"/>
            <a:ext cx="9601200" cy="4572"/>
          </a:xfrm>
          <a:prstGeom prst="rect">
            <a:avLst/>
          </a:prstGeom>
          <a:solidFill>
            <a:srgbClr val="E0E0E0"/>
          </a:solidFill>
          <a:ln/>
        </p:spPr>
      </p:sp>
      <p:sp>
        <p:nvSpPr>
          <p:cNvPr id="25" name="Text 23"/>
          <p:cNvSpPr/>
          <p:nvPr/>
        </p:nvSpPr>
        <p:spPr>
          <a:xfrm>
            <a:off x="731520" y="4718304"/>
            <a:ext cx="731520" cy="0"/>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08</a:t>
            </a:r>
            <a:endParaRPr lang="en-US" sz="1600" dirty="0"/>
          </a:p>
        </p:txBody>
      </p:sp>
      <p:sp>
        <p:nvSpPr>
          <p:cNvPr id="26" name="Text 24"/>
          <p:cNvSpPr/>
          <p:nvPr/>
        </p:nvSpPr>
        <p:spPr>
          <a:xfrm>
            <a:off x="1645920" y="4736592"/>
            <a:ext cx="9601200" cy="0"/>
          </a:xfrm>
          <a:prstGeom prst="rect">
            <a:avLst/>
          </a:prstGeom>
          <a:noFill/>
          <a:ln/>
        </p:spPr>
        <p:txBody>
          <a:bodyPr wrap="square" rtlCol="0" anchor="ctr"/>
          <a:lstStyle/>
          <a:p>
            <a:pPr indent="0" marL="0">
              <a:buNone/>
            </a:pPr>
            <a:r>
              <a:rPr lang="en-US" sz="1100" dirty="0">
                <a:solidFill>
                  <a:srgbClr val="111111"/>
                </a:solidFill>
                <a:latin typeface="Arial" pitchFamily="34" charset="0"/>
                <a:ea typeface="Arial" pitchFamily="34" charset="-122"/>
                <a:cs typeface="Arial" pitchFamily="34" charset="-120"/>
              </a:rPr>
              <a:t>Repurposing PARP inhibitors in molecularly defined subgroups of peritoneal metastatic colo…</a:t>
            </a:r>
            <a:endParaRPr lang="en-US" sz="1100" dirty="0"/>
          </a:p>
        </p:txBody>
      </p:sp>
      <p:sp>
        <p:nvSpPr>
          <p:cNvPr id="27" name="Shape 25"/>
          <p:cNvSpPr/>
          <p:nvPr/>
        </p:nvSpPr>
        <p:spPr>
          <a:xfrm>
            <a:off x="1645920" y="5129784"/>
            <a:ext cx="9601200" cy="4572"/>
          </a:xfrm>
          <a:prstGeom prst="rect">
            <a:avLst/>
          </a:prstGeom>
          <a:solidFill>
            <a:srgbClr val="E0E0E0"/>
          </a:solidFill>
          <a:ln/>
        </p:spPr>
      </p:sp>
      <p:sp>
        <p:nvSpPr>
          <p:cNvPr id="28" name="Text 26"/>
          <p:cNvSpPr/>
          <p:nvPr/>
        </p:nvSpPr>
        <p:spPr>
          <a:xfrm>
            <a:off x="731520" y="5248656"/>
            <a:ext cx="731520" cy="0"/>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09</a:t>
            </a:r>
            <a:endParaRPr lang="en-US" sz="1600" dirty="0"/>
          </a:p>
        </p:txBody>
      </p:sp>
      <p:sp>
        <p:nvSpPr>
          <p:cNvPr id="29" name="Text 27"/>
          <p:cNvSpPr/>
          <p:nvPr/>
        </p:nvSpPr>
        <p:spPr>
          <a:xfrm>
            <a:off x="1645920" y="5266944"/>
            <a:ext cx="9601200" cy="0"/>
          </a:xfrm>
          <a:prstGeom prst="rect">
            <a:avLst/>
          </a:prstGeom>
          <a:noFill/>
          <a:ln/>
        </p:spPr>
        <p:txBody>
          <a:bodyPr wrap="square" rtlCol="0" anchor="ctr"/>
          <a:lstStyle/>
          <a:p>
            <a:pPr indent="0" marL="0">
              <a:buNone/>
            </a:pPr>
            <a:r>
              <a:rPr lang="en-US" sz="1100" dirty="0">
                <a:solidFill>
                  <a:srgbClr val="111111"/>
                </a:solidFill>
                <a:latin typeface="Arial" pitchFamily="34" charset="0"/>
                <a:ea typeface="Arial" pitchFamily="34" charset="-122"/>
                <a:cs typeface="Arial" pitchFamily="34" charset="-120"/>
              </a:rPr>
              <a:t>The Mechanism of Acetyl-L-Carnitine on Colorectal Cancer and Its Metabolomic Study</a:t>
            </a:r>
            <a:endParaRPr lang="en-US" sz="1100" dirty="0"/>
          </a:p>
        </p:txBody>
      </p:sp>
      <p:sp>
        <p:nvSpPr>
          <p:cNvPr id="30" name="Shape 28"/>
          <p:cNvSpPr/>
          <p:nvPr/>
        </p:nvSpPr>
        <p:spPr>
          <a:xfrm>
            <a:off x="1645920" y="5660136"/>
            <a:ext cx="9601200" cy="4572"/>
          </a:xfrm>
          <a:prstGeom prst="rect">
            <a:avLst/>
          </a:prstGeom>
          <a:solidFill>
            <a:srgbClr val="E0E0E0"/>
          </a:solidFill>
          <a:ln/>
        </p:spPr>
      </p:sp>
      <p:sp>
        <p:nvSpPr>
          <p:cNvPr id="31" name="Text 29"/>
          <p:cNvSpPr/>
          <p:nvPr/>
        </p:nvSpPr>
        <p:spPr>
          <a:xfrm>
            <a:off x="731520" y="5779008"/>
            <a:ext cx="731520" cy="0"/>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10</a:t>
            </a:r>
            <a:endParaRPr lang="en-US" sz="1600" dirty="0"/>
          </a:p>
        </p:txBody>
      </p:sp>
      <p:sp>
        <p:nvSpPr>
          <p:cNvPr id="32" name="Text 30"/>
          <p:cNvSpPr/>
          <p:nvPr/>
        </p:nvSpPr>
        <p:spPr>
          <a:xfrm>
            <a:off x="1645920" y="5797296"/>
            <a:ext cx="9601200" cy="0"/>
          </a:xfrm>
          <a:prstGeom prst="rect">
            <a:avLst/>
          </a:prstGeom>
          <a:noFill/>
          <a:ln/>
        </p:spPr>
        <p:txBody>
          <a:bodyPr wrap="square" rtlCol="0" anchor="ctr"/>
          <a:lstStyle/>
          <a:p>
            <a:pPr indent="0" marL="0">
              <a:buNone/>
            </a:pPr>
            <a:r>
              <a:rPr lang="en-US" sz="1100" dirty="0">
                <a:solidFill>
                  <a:srgbClr val="111111"/>
                </a:solidFill>
                <a:latin typeface="Arial" pitchFamily="34" charset="0"/>
                <a:ea typeface="Arial" pitchFamily="34" charset="-122"/>
                <a:cs typeface="Arial" pitchFamily="34" charset="-120"/>
              </a:rPr>
              <a:t>Two Triterpenoids with a Cyclobutane Moiety from Mastic: Structural Elucidation and Biolog…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5486400" cy="0"/>
          </a:xfrm>
          <a:prstGeom prst="rect">
            <a:avLst/>
          </a:prstGeom>
          <a:noFill/>
          <a:ln/>
        </p:spPr>
        <p:txBody>
          <a:bodyPr wrap="square" rtlCol="0" anchor="ctr"/>
          <a:lstStyle/>
          <a:p>
            <a:pPr indent="0" marL="0">
              <a:buNone/>
            </a:pPr>
            <a:r>
              <a:rPr lang="en-US" sz="900" spc="400" kern="0" dirty="0">
                <a:solidFill>
                  <a:srgbClr val="888888"/>
                </a:solidFill>
                <a:latin typeface="Arial" pitchFamily="34" charset="0"/>
                <a:ea typeface="Arial" pitchFamily="34" charset="-122"/>
                <a:cs typeface="Arial" pitchFamily="34" charset="-120"/>
              </a:rPr>
              <a:t>01 — KEY FINDINGS</a:t>
            </a:r>
            <a:endParaRPr lang="en-US" sz="900" dirty="0"/>
          </a:p>
        </p:txBody>
      </p:sp>
      <p:sp>
        <p:nvSpPr>
          <p:cNvPr id="3" name="Text 1"/>
          <p:cNvSpPr/>
          <p:nvPr/>
        </p:nvSpPr>
        <p:spPr>
          <a:xfrm>
            <a:off x="9601200" y="182880"/>
            <a:ext cx="2103120" cy="0"/>
          </a:xfrm>
          <a:prstGeom prst="rect">
            <a:avLst/>
          </a:prstGeom>
          <a:noFill/>
          <a:ln/>
        </p:spPr>
        <p:txBody>
          <a:bodyPr wrap="square" rtlCol="0" anchor="ctr"/>
          <a:lstStyle/>
          <a:p>
            <a:pPr algn="r" indent="0" marL="0">
              <a:buNone/>
            </a:pPr>
            <a:r>
              <a:rPr lang="en-US" sz="4800" b="1" dirty="0">
                <a:solidFill>
                  <a:srgbClr val="DBEAFE"/>
                </a:solidFill>
                <a:latin typeface="Arial" pitchFamily="34" charset="0"/>
                <a:ea typeface="Arial" pitchFamily="34" charset="-122"/>
                <a:cs typeface="Arial" pitchFamily="34" charset="-120"/>
              </a:rPr>
              <a:t>01</a:t>
            </a:r>
            <a:endParaRPr lang="en-US" sz="4800" dirty="0"/>
          </a:p>
        </p:txBody>
      </p:sp>
      <p:sp>
        <p:nvSpPr>
          <p:cNvPr id="4" name="Text 2"/>
          <p:cNvSpPr/>
          <p:nvPr/>
        </p:nvSpPr>
        <p:spPr>
          <a:xfrm>
            <a:off x="731520" y="822960"/>
            <a:ext cx="9144000" cy="0"/>
          </a:xfrm>
          <a:prstGeom prst="rect">
            <a:avLst/>
          </a:prstGeom>
          <a:noFill/>
          <a:ln/>
        </p:spPr>
        <p:txBody>
          <a:bodyPr wrap="square" rtlCol="0" anchor="ctr"/>
          <a:lstStyle/>
          <a:p>
            <a:pPr indent="0" marL="0">
              <a:lnSpc>
                <a:spcPct val="115000"/>
              </a:lnSpc>
              <a:buNone/>
            </a:pPr>
            <a:r>
              <a:rPr lang="en-US" sz="2400" b="1" dirty="0">
                <a:solidFill>
                  <a:srgbClr val="111111"/>
                </a:solidFill>
                <a:latin typeface="Arial" pitchFamily="34" charset="0"/>
                <a:ea typeface="Arial" pitchFamily="34" charset="-122"/>
                <a:cs typeface="Arial" pitchFamily="34" charset="-120"/>
              </a:rPr>
              <a:t>Parasutterella excrementihominis exacerbates experimental colitis and colitis-associated colorectal cancer via pathogenic NETosis activation</a:t>
            </a:r>
            <a:endParaRPr lang="en-US" sz="2400" dirty="0"/>
          </a:p>
        </p:txBody>
      </p:sp>
      <p:sp>
        <p:nvSpPr>
          <p:cNvPr id="5" name="Text 3"/>
          <p:cNvSpPr/>
          <p:nvPr/>
        </p:nvSpPr>
        <p:spPr>
          <a:xfrm>
            <a:off x="731520" y="1691640"/>
            <a:ext cx="9144000" cy="0"/>
          </a:xfrm>
          <a:prstGeom prst="rect">
            <a:avLst/>
          </a:prstGeom>
          <a:noFill/>
          <a:ln/>
        </p:spPr>
        <p:txBody>
          <a:bodyPr wrap="square" rtlCol="0" anchor="ctr"/>
          <a:lstStyle/>
          <a:p>
            <a:pPr indent="0" marL="0">
              <a:buNone/>
            </a:pPr>
            <a:r>
              <a:rPr lang="en-US" sz="900" dirty="0">
                <a:solidFill>
                  <a:srgbClr val="888888"/>
                </a:solidFill>
              </a:rPr>
              <a:t>Gut  ·  IF 24.5  ·  2026</a:t>
            </a:r>
            <a:endParaRPr lang="en-US" sz="900" dirty="0"/>
          </a:p>
        </p:txBody>
      </p:sp>
      <p:sp>
        <p:nvSpPr>
          <p:cNvPr id="6" name="Text 4"/>
          <p:cNvSpPr/>
          <p:nvPr/>
        </p:nvSpPr>
        <p:spPr>
          <a:xfrm>
            <a:off x="731520" y="1920240"/>
            <a:ext cx="9144000" cy="0"/>
          </a:xfrm>
          <a:prstGeom prst="rect">
            <a:avLst/>
          </a:prstGeom>
          <a:noFill/>
          <a:ln/>
        </p:spPr>
        <p:txBody>
          <a:bodyPr wrap="square" rtlCol="0" anchor="ctr"/>
          <a:lstStyle/>
          <a:p>
            <a:pPr indent="0" marL="0">
              <a:buNone/>
            </a:pPr>
            <a:r>
              <a:rPr lang="en-US" sz="900" dirty="0">
                <a:solidFill>
                  <a:srgbClr val="888888"/>
                </a:solidFill>
              </a:rPr>
              <a:t>H Tan, L Huang, J Wang</a:t>
            </a:r>
            <a:endParaRPr lang="en-US" sz="900" dirty="0"/>
          </a:p>
        </p:txBody>
      </p:sp>
      <p:sp>
        <p:nvSpPr>
          <p:cNvPr id="7" name="Shape 5"/>
          <p:cNvSpPr/>
          <p:nvPr/>
        </p:nvSpPr>
        <p:spPr>
          <a:xfrm>
            <a:off x="731520" y="2194560"/>
            <a:ext cx="10515600" cy="9144"/>
          </a:xfrm>
          <a:prstGeom prst="rect">
            <a:avLst/>
          </a:prstGeom>
          <a:solidFill>
            <a:srgbClr val="E0E0E0"/>
          </a:solidFill>
          <a:ln/>
        </p:spPr>
      </p:sp>
      <p:sp>
        <p:nvSpPr>
          <p:cNvPr id="8" name="Text 6"/>
          <p:cNvSpPr/>
          <p:nvPr/>
        </p:nvSpPr>
        <p:spPr>
          <a:xfrm>
            <a:off x="731520" y="2377440"/>
            <a:ext cx="457200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KEY FINDINGS</a:t>
            </a:r>
            <a:endParaRPr lang="en-US" sz="900" dirty="0"/>
          </a:p>
        </p:txBody>
      </p:sp>
      <p:sp>
        <p:nvSpPr>
          <p:cNvPr id="9" name="Text 7"/>
          <p:cNvSpPr/>
          <p:nvPr/>
        </p:nvSpPr>
        <p:spPr>
          <a:xfrm>
            <a:off x="731520" y="2743200"/>
            <a:ext cx="5029200" cy="0"/>
          </a:xfrm>
          <a:prstGeom prst="rect">
            <a:avLst/>
          </a:prstGeom>
          <a:noFill/>
          <a:ln/>
        </p:spPr>
        <p:txBody>
          <a:bodyPr wrap="square" rtlCol="0" anchor="t"/>
          <a:lstStyle/>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P. excrementihominis role</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Exacerbates colitis severity</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Promotes colorectal cancer</a:t>
            </a:r>
            <a:endParaRPr lang="en-US" sz="1800" dirty="0"/>
          </a:p>
        </p:txBody>
      </p:sp>
      <p:sp>
        <p:nvSpPr>
          <p:cNvPr id="10" name="Text 8"/>
          <p:cNvSpPr/>
          <p:nvPr/>
        </p:nvSpPr>
        <p:spPr>
          <a:xfrm>
            <a:off x="6400800" y="2377440"/>
            <a:ext cx="4572000" cy="0"/>
          </a:xfrm>
          <a:prstGeom prst="rect">
            <a:avLst/>
          </a:prstGeom>
          <a:noFill/>
          <a:ln/>
        </p:spPr>
        <p:txBody>
          <a:bodyPr wrap="square" rtlCol="0" anchor="ctr"/>
          <a:lstStyle/>
          <a:p>
            <a:pPr indent="0" marL="0">
              <a:buNone/>
            </a:pPr>
            <a:r>
              <a:rPr lang="en-US" sz="900" b="1" spc="300" kern="0" dirty="0">
                <a:solidFill>
                  <a:srgbClr val="2563EB"/>
                </a:solidFill>
                <a:latin typeface="Microsoft JhengHei" pitchFamily="34" charset="0"/>
                <a:ea typeface="Microsoft JhengHei" pitchFamily="34" charset="-122"/>
                <a:cs typeface="Microsoft JhengHei" pitchFamily="34" charset="-120"/>
              </a:rPr>
              <a:t>重點發現</a:t>
            </a:r>
            <a:endParaRPr lang="en-US" sz="900" dirty="0"/>
          </a:p>
        </p:txBody>
      </p:sp>
      <p:sp>
        <p:nvSpPr>
          <p:cNvPr id="11" name="Text 9"/>
          <p:cNvSpPr/>
          <p:nvPr/>
        </p:nvSpPr>
        <p:spPr>
          <a:xfrm>
            <a:off x="6400800" y="2743200"/>
            <a:ext cx="5029200" cy="0"/>
          </a:xfrm>
          <a:prstGeom prst="rect">
            <a:avLst/>
          </a:prstGeom>
          <a:noFill/>
          <a:ln/>
        </p:spPr>
        <p:txBody>
          <a:bodyPr wrap="square" rtlCol="0" anchor="t"/>
          <a:lstStyle/>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P. excrementihominis 角色</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加重結腸炎嚴重性</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促進大腸癌發展</a:t>
            </a:r>
            <a:endParaRPr lang="en-US" sz="1800" dirty="0"/>
          </a:p>
        </p:txBody>
      </p:sp>
      <p:sp>
        <p:nvSpPr>
          <p:cNvPr id="12" name="Shape 10"/>
          <p:cNvSpPr/>
          <p:nvPr/>
        </p:nvSpPr>
        <p:spPr>
          <a:xfrm>
            <a:off x="0" y="6803136"/>
            <a:ext cx="12188952" cy="54864"/>
          </a:xfrm>
          <a:prstGeom prst="rect">
            <a:avLst/>
          </a:prstGeom>
          <a:solidFill>
            <a:srgbClr val="2563EB"/>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365760"/>
            <a:ext cx="5486400" cy="0"/>
          </a:xfrm>
          <a:prstGeom prst="rect">
            <a:avLst/>
          </a:prstGeom>
          <a:noFill/>
          <a:ln/>
        </p:spPr>
        <p:txBody>
          <a:bodyPr wrap="square" rtlCol="0" anchor="ctr"/>
          <a:lstStyle/>
          <a:p>
            <a:pPr indent="0" marL="0">
              <a:buNone/>
            </a:pPr>
            <a:r>
              <a:rPr lang="en-US" sz="900" spc="400" kern="0" dirty="0">
                <a:solidFill>
                  <a:srgbClr val="888888"/>
                </a:solidFill>
                <a:latin typeface="Arial" pitchFamily="34" charset="0"/>
                <a:ea typeface="Arial" pitchFamily="34" charset="-122"/>
                <a:cs typeface="Arial" pitchFamily="34" charset="-120"/>
              </a:rPr>
              <a:t>01 — INSIGHTS</a:t>
            </a:r>
            <a:endParaRPr lang="en-US" sz="900" dirty="0"/>
          </a:p>
        </p:txBody>
      </p:sp>
      <p:sp>
        <p:nvSpPr>
          <p:cNvPr id="3" name="Text 1"/>
          <p:cNvSpPr/>
          <p:nvPr/>
        </p:nvSpPr>
        <p:spPr>
          <a:xfrm>
            <a:off x="731520" y="731520"/>
            <a:ext cx="10515600" cy="0"/>
          </a:xfrm>
          <a:prstGeom prst="rect">
            <a:avLst/>
          </a:prstGeom>
          <a:noFill/>
          <a:ln/>
        </p:spPr>
        <p:txBody>
          <a:bodyPr wrap="square" rtlCol="0" anchor="ctr"/>
          <a:lstStyle/>
          <a:p>
            <a:pPr indent="0" marL="0">
              <a:lnSpc>
                <a:spcPct val="110000"/>
              </a:lnSpc>
              <a:buNone/>
            </a:pPr>
            <a:r>
              <a:rPr lang="en-US" sz="1400" b="1" dirty="0">
                <a:solidFill>
                  <a:srgbClr val="FFFFFF"/>
                </a:solidFill>
                <a:latin typeface="Arial" pitchFamily="34" charset="0"/>
                <a:ea typeface="Arial" pitchFamily="34" charset="-122"/>
                <a:cs typeface="Arial" pitchFamily="34" charset="-120"/>
              </a:rPr>
              <a:t>Parasutterella excrementihominis exacerbates experimental colitis and colitis-associated colorectal …</a:t>
            </a:r>
            <a:endParaRPr lang="en-US" sz="1400" dirty="0"/>
          </a:p>
        </p:txBody>
      </p:sp>
      <p:sp>
        <p:nvSpPr>
          <p:cNvPr id="4" name="Shape 2"/>
          <p:cNvSpPr/>
          <p:nvPr/>
        </p:nvSpPr>
        <p:spPr>
          <a:xfrm>
            <a:off x="731520" y="1280160"/>
            <a:ext cx="2743200" cy="36576"/>
          </a:xfrm>
          <a:prstGeom prst="rect">
            <a:avLst/>
          </a:prstGeom>
          <a:solidFill>
            <a:srgbClr val="2563EB"/>
          </a:solidFill>
          <a:ln/>
        </p:spPr>
      </p:sp>
      <p:sp>
        <p:nvSpPr>
          <p:cNvPr id="5" name="Shape 3"/>
          <p:cNvSpPr/>
          <p:nvPr/>
        </p:nvSpPr>
        <p:spPr>
          <a:xfrm>
            <a:off x="548640" y="1554480"/>
            <a:ext cx="5303520" cy="36576"/>
          </a:xfrm>
          <a:prstGeom prst="rect">
            <a:avLst/>
          </a:prstGeom>
          <a:solidFill>
            <a:srgbClr val="2563EB"/>
          </a:solidFill>
          <a:ln/>
        </p:spPr>
      </p:sp>
      <p:sp>
        <p:nvSpPr>
          <p:cNvPr id="6" name="Text 4"/>
          <p:cNvSpPr/>
          <p:nvPr/>
        </p:nvSpPr>
        <p:spPr>
          <a:xfrm>
            <a:off x="548640" y="1737360"/>
            <a:ext cx="530352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 CLINICAL INSIGHT</a:t>
            </a:r>
            <a:endParaRPr lang="en-US" sz="900" dirty="0"/>
          </a:p>
        </p:txBody>
      </p:sp>
      <p:sp>
        <p:nvSpPr>
          <p:cNvPr id="7" name="Text 5"/>
          <p:cNvSpPr/>
          <p:nvPr/>
        </p:nvSpPr>
        <p:spPr>
          <a:xfrm>
            <a:off x="548640" y="1965960"/>
            <a:ext cx="5303520" cy="0"/>
          </a:xfrm>
          <a:prstGeom prst="rect">
            <a:avLst/>
          </a:prstGeom>
          <a:noFill/>
          <a:ln/>
        </p:spPr>
        <p:txBody>
          <a:bodyPr wrap="square" rtlCol="0" anchor="ctr"/>
          <a:lstStyle/>
          <a:p>
            <a:pPr indent="0" marL="0">
              <a:buNone/>
            </a:pPr>
            <a:r>
              <a:rPr lang="en-US" sz="900" dirty="0">
                <a:solidFill>
                  <a:srgbClr val="888888"/>
                </a:solidFill>
                <a:latin typeface="Microsoft JhengHei" pitchFamily="34" charset="0"/>
                <a:ea typeface="Microsoft JhengHei" pitchFamily="34" charset="-122"/>
                <a:cs typeface="Microsoft JhengHei" pitchFamily="34" charset="-120"/>
              </a:rPr>
              <a:t>臨床啟示</a:t>
            </a:r>
            <a:endParaRPr lang="en-US" sz="900" dirty="0"/>
          </a:p>
        </p:txBody>
      </p:sp>
      <p:sp>
        <p:nvSpPr>
          <p:cNvPr id="8" name="Text 6"/>
          <p:cNvSpPr/>
          <p:nvPr/>
        </p:nvSpPr>
        <p:spPr>
          <a:xfrm>
            <a:off x="548640" y="2286000"/>
            <a:ext cx="5303520" cy="0"/>
          </a:xfrm>
          <a:prstGeom prst="rect">
            <a:avLst/>
          </a:prstGeom>
          <a:noFill/>
          <a:ln/>
        </p:spPr>
        <p:txBody>
          <a:bodyPr wrap="square" rtlCol="0" anchor="ctr"/>
          <a:lstStyle/>
          <a:p>
            <a:pPr indent="0" marL="0">
              <a:lnSpc>
                <a:spcPct val="150000"/>
              </a:lnSpc>
              <a:buNone/>
            </a:pPr>
            <a:r>
              <a:rPr lang="en-US" sz="1800" dirty="0">
                <a:solidFill>
                  <a:srgbClr val="FFFFFF"/>
                </a:solidFill>
              </a:rPr>
              <a:t>EN: Targeting P. excrementihominis may help. </a:t>
            </a:r>
            <a:endParaRPr lang="en-US" sz="1800" dirty="0"/>
          </a:p>
          <a:p>
            <a:pPr indent="0" marL="0">
              <a:lnSpc>
                <a:spcPct val="150000"/>
              </a:lnSpc>
              <a:buNone/>
            </a:pPr>
            <a:r>
              <a:rPr lang="en-US" sz="1800" dirty="0">
                <a:solidFill>
                  <a:srgbClr val="FFFFFF"/>
                </a:solidFill>
              </a:rPr>
              <a:t>ZH: 針對 P. excrementihominis 可能有幫助。</a:t>
            </a:r>
            <a:endParaRPr lang="en-US" sz="1800" dirty="0"/>
          </a:p>
        </p:txBody>
      </p:sp>
      <p:sp>
        <p:nvSpPr>
          <p:cNvPr id="9" name="Shape 7"/>
          <p:cNvSpPr/>
          <p:nvPr/>
        </p:nvSpPr>
        <p:spPr>
          <a:xfrm>
            <a:off x="6309360" y="1554480"/>
            <a:ext cx="5303520" cy="36576"/>
          </a:xfrm>
          <a:prstGeom prst="rect">
            <a:avLst/>
          </a:prstGeom>
          <a:solidFill>
            <a:srgbClr val="2563EB"/>
          </a:solidFill>
          <a:ln/>
        </p:spPr>
      </p:sp>
      <p:sp>
        <p:nvSpPr>
          <p:cNvPr id="10" name="Text 8"/>
          <p:cNvSpPr/>
          <p:nvPr/>
        </p:nvSpPr>
        <p:spPr>
          <a:xfrm>
            <a:off x="6309360" y="1737360"/>
            <a:ext cx="530352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 FUTURE DIRECTION</a:t>
            </a:r>
            <a:endParaRPr lang="en-US" sz="900" dirty="0"/>
          </a:p>
        </p:txBody>
      </p:sp>
      <p:sp>
        <p:nvSpPr>
          <p:cNvPr id="11" name="Text 9"/>
          <p:cNvSpPr/>
          <p:nvPr/>
        </p:nvSpPr>
        <p:spPr>
          <a:xfrm>
            <a:off x="6309360" y="1965960"/>
            <a:ext cx="5303520" cy="0"/>
          </a:xfrm>
          <a:prstGeom prst="rect">
            <a:avLst/>
          </a:prstGeom>
          <a:noFill/>
          <a:ln/>
        </p:spPr>
        <p:txBody>
          <a:bodyPr wrap="square" rtlCol="0" anchor="ctr"/>
          <a:lstStyle/>
          <a:p>
            <a:pPr indent="0" marL="0">
              <a:buNone/>
            </a:pPr>
            <a:r>
              <a:rPr lang="en-US" sz="900" dirty="0">
                <a:solidFill>
                  <a:srgbClr val="888888"/>
                </a:solidFill>
                <a:latin typeface="Microsoft JhengHei" pitchFamily="34" charset="0"/>
                <a:ea typeface="Microsoft JhengHei" pitchFamily="34" charset="-122"/>
                <a:cs typeface="Microsoft JhengHei" pitchFamily="34" charset="-120"/>
              </a:rPr>
              <a:t>未來方向</a:t>
            </a:r>
            <a:endParaRPr lang="en-US" sz="900" dirty="0"/>
          </a:p>
        </p:txBody>
      </p:sp>
      <p:sp>
        <p:nvSpPr>
          <p:cNvPr id="12" name="Text 10"/>
          <p:cNvSpPr/>
          <p:nvPr/>
        </p:nvSpPr>
        <p:spPr>
          <a:xfrm>
            <a:off x="6309360" y="2286000"/>
            <a:ext cx="5303520" cy="0"/>
          </a:xfrm>
          <a:prstGeom prst="rect">
            <a:avLst/>
          </a:prstGeom>
          <a:noFill/>
          <a:ln/>
        </p:spPr>
        <p:txBody>
          <a:bodyPr wrap="square" rtlCol="0" anchor="ctr"/>
          <a:lstStyle/>
          <a:p>
            <a:pPr indent="0" marL="0">
              <a:lnSpc>
                <a:spcPct val="150000"/>
              </a:lnSpc>
              <a:buNone/>
            </a:pPr>
            <a:r>
              <a:rPr lang="en-US" sz="1800" dirty="0">
                <a:solidFill>
                  <a:srgbClr val="FFFFFF"/>
                </a:solidFill>
              </a:rPr>
              <a:t>EN: Explore therapeutic interventions. </a:t>
            </a:r>
            <a:endParaRPr lang="en-US" sz="1800" dirty="0"/>
          </a:p>
          <a:p>
            <a:pPr indent="0" marL="0">
              <a:lnSpc>
                <a:spcPct val="150000"/>
              </a:lnSpc>
              <a:buNone/>
            </a:pPr>
            <a:r>
              <a:rPr lang="en-US" sz="1800" dirty="0">
                <a:solidFill>
                  <a:srgbClr val="FFFFFF"/>
                </a:solidFill>
              </a:rPr>
              <a:t>ZH: 探索治療介入策略。</a:t>
            </a:r>
            <a:endParaRPr lang="en-US" sz="1800" dirty="0"/>
          </a:p>
        </p:txBody>
      </p:sp>
      <p:sp>
        <p:nvSpPr>
          <p:cNvPr id="13" name="Shape 11"/>
          <p:cNvSpPr/>
          <p:nvPr/>
        </p:nvSpPr>
        <p:spPr>
          <a:xfrm>
            <a:off x="0" y="6803136"/>
            <a:ext cx="12188952" cy="54864"/>
          </a:xfrm>
          <a:prstGeom prst="rect">
            <a:avLst/>
          </a:prstGeom>
          <a:solidFill>
            <a:srgbClr val="2563EB"/>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5486400" cy="0"/>
          </a:xfrm>
          <a:prstGeom prst="rect">
            <a:avLst/>
          </a:prstGeom>
          <a:noFill/>
          <a:ln/>
        </p:spPr>
        <p:txBody>
          <a:bodyPr wrap="square" rtlCol="0" anchor="ctr"/>
          <a:lstStyle/>
          <a:p>
            <a:pPr indent="0" marL="0">
              <a:buNone/>
            </a:pPr>
            <a:r>
              <a:rPr lang="en-US" sz="900" spc="400" kern="0" dirty="0">
                <a:solidFill>
                  <a:srgbClr val="888888"/>
                </a:solidFill>
                <a:latin typeface="Arial" pitchFamily="34" charset="0"/>
                <a:ea typeface="Arial" pitchFamily="34" charset="-122"/>
                <a:cs typeface="Arial" pitchFamily="34" charset="-120"/>
              </a:rPr>
              <a:t>02 — KEY FINDINGS</a:t>
            </a:r>
            <a:endParaRPr lang="en-US" sz="900" dirty="0"/>
          </a:p>
        </p:txBody>
      </p:sp>
      <p:sp>
        <p:nvSpPr>
          <p:cNvPr id="3" name="Text 1"/>
          <p:cNvSpPr/>
          <p:nvPr/>
        </p:nvSpPr>
        <p:spPr>
          <a:xfrm>
            <a:off x="9601200" y="182880"/>
            <a:ext cx="2103120" cy="0"/>
          </a:xfrm>
          <a:prstGeom prst="rect">
            <a:avLst/>
          </a:prstGeom>
          <a:noFill/>
          <a:ln/>
        </p:spPr>
        <p:txBody>
          <a:bodyPr wrap="square" rtlCol="0" anchor="ctr"/>
          <a:lstStyle/>
          <a:p>
            <a:pPr algn="r" indent="0" marL="0">
              <a:buNone/>
            </a:pPr>
            <a:r>
              <a:rPr lang="en-US" sz="4800" b="1" dirty="0">
                <a:solidFill>
                  <a:srgbClr val="DBEAFE"/>
                </a:solidFill>
                <a:latin typeface="Arial" pitchFamily="34" charset="0"/>
                <a:ea typeface="Arial" pitchFamily="34" charset="-122"/>
                <a:cs typeface="Arial" pitchFamily="34" charset="-120"/>
              </a:rPr>
              <a:t>02</a:t>
            </a:r>
            <a:endParaRPr lang="en-US" sz="4800" dirty="0"/>
          </a:p>
        </p:txBody>
      </p:sp>
      <p:sp>
        <p:nvSpPr>
          <p:cNvPr id="4" name="Text 2"/>
          <p:cNvSpPr/>
          <p:nvPr/>
        </p:nvSpPr>
        <p:spPr>
          <a:xfrm>
            <a:off x="731520" y="822960"/>
            <a:ext cx="9144000" cy="0"/>
          </a:xfrm>
          <a:prstGeom prst="rect">
            <a:avLst/>
          </a:prstGeom>
          <a:noFill/>
          <a:ln/>
        </p:spPr>
        <p:txBody>
          <a:bodyPr wrap="square" rtlCol="0" anchor="ctr"/>
          <a:lstStyle/>
          <a:p>
            <a:pPr indent="0" marL="0">
              <a:lnSpc>
                <a:spcPct val="115000"/>
              </a:lnSpc>
              <a:buNone/>
            </a:pPr>
            <a:r>
              <a:rPr lang="en-US" sz="2400" b="1" dirty="0">
                <a:solidFill>
                  <a:srgbClr val="111111"/>
                </a:solidFill>
                <a:latin typeface="Arial" pitchFamily="34" charset="0"/>
                <a:ea typeface="Arial" pitchFamily="34" charset="-122"/>
                <a:cs typeface="Arial" pitchFamily="34" charset="-120"/>
              </a:rPr>
              <a:t>Effect of hyperthermic intraperitoneal chemotherapy on patients with advanced colorectal cancer: a systematic review and meta-analysis</a:t>
            </a:r>
            <a:endParaRPr lang="en-US" sz="2400" dirty="0"/>
          </a:p>
        </p:txBody>
      </p:sp>
      <p:sp>
        <p:nvSpPr>
          <p:cNvPr id="5" name="Text 3"/>
          <p:cNvSpPr/>
          <p:nvPr/>
        </p:nvSpPr>
        <p:spPr>
          <a:xfrm>
            <a:off x="731520" y="1691640"/>
            <a:ext cx="9144000" cy="0"/>
          </a:xfrm>
          <a:prstGeom prst="rect">
            <a:avLst/>
          </a:prstGeom>
          <a:noFill/>
          <a:ln/>
        </p:spPr>
        <p:txBody>
          <a:bodyPr wrap="square" rtlCol="0" anchor="ctr"/>
          <a:lstStyle/>
          <a:p>
            <a:pPr indent="0" marL="0">
              <a:buNone/>
            </a:pPr>
            <a:r>
              <a:rPr lang="en-US" sz="900" dirty="0">
                <a:solidFill>
                  <a:srgbClr val="888888"/>
                </a:solidFill>
              </a:rPr>
              <a:t>World Journal of …  ·  Meta-Analysis  ·  2026</a:t>
            </a:r>
            <a:endParaRPr lang="en-US" sz="900" dirty="0"/>
          </a:p>
        </p:txBody>
      </p:sp>
      <p:sp>
        <p:nvSpPr>
          <p:cNvPr id="6" name="Text 4"/>
          <p:cNvSpPr/>
          <p:nvPr/>
        </p:nvSpPr>
        <p:spPr>
          <a:xfrm>
            <a:off x="731520" y="1920240"/>
            <a:ext cx="9144000" cy="0"/>
          </a:xfrm>
          <a:prstGeom prst="rect">
            <a:avLst/>
          </a:prstGeom>
          <a:noFill/>
          <a:ln/>
        </p:spPr>
        <p:txBody>
          <a:bodyPr wrap="square" rtlCol="0" anchor="ctr"/>
          <a:lstStyle/>
          <a:p>
            <a:pPr indent="0" marL="0">
              <a:buNone/>
            </a:pPr>
            <a:r>
              <a:rPr lang="en-US" sz="900" dirty="0">
                <a:solidFill>
                  <a:srgbClr val="888888"/>
                </a:solidFill>
              </a:rPr>
              <a:t>Z Su, Y Guo, X Ru</a:t>
            </a:r>
            <a:endParaRPr lang="en-US" sz="900" dirty="0"/>
          </a:p>
        </p:txBody>
      </p:sp>
      <p:sp>
        <p:nvSpPr>
          <p:cNvPr id="7" name="Shape 5"/>
          <p:cNvSpPr/>
          <p:nvPr/>
        </p:nvSpPr>
        <p:spPr>
          <a:xfrm>
            <a:off x="731520" y="2194560"/>
            <a:ext cx="10515600" cy="9144"/>
          </a:xfrm>
          <a:prstGeom prst="rect">
            <a:avLst/>
          </a:prstGeom>
          <a:solidFill>
            <a:srgbClr val="E0E0E0"/>
          </a:solidFill>
          <a:ln/>
        </p:spPr>
      </p:sp>
      <p:sp>
        <p:nvSpPr>
          <p:cNvPr id="8" name="Text 6"/>
          <p:cNvSpPr/>
          <p:nvPr/>
        </p:nvSpPr>
        <p:spPr>
          <a:xfrm>
            <a:off x="731520" y="2377440"/>
            <a:ext cx="457200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KEY FINDINGS</a:t>
            </a:r>
            <a:endParaRPr lang="en-US" sz="900" dirty="0"/>
          </a:p>
        </p:txBody>
      </p:sp>
      <p:sp>
        <p:nvSpPr>
          <p:cNvPr id="9" name="Text 7"/>
          <p:cNvSpPr/>
          <p:nvPr/>
        </p:nvSpPr>
        <p:spPr>
          <a:xfrm>
            <a:off x="731520" y="2743200"/>
            <a:ext cx="5029200" cy="0"/>
          </a:xfrm>
          <a:prstGeom prst="rect">
            <a:avLst/>
          </a:prstGeom>
          <a:noFill/>
          <a:ln/>
        </p:spPr>
        <p:txBody>
          <a:bodyPr wrap="square" rtlCol="0" anchor="t"/>
          <a:lstStyle/>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Hyperthermic chemotherapy effectiveness</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Advanced colorectal cancer focus</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Systematic review and meta-analysis</a:t>
            </a:r>
            <a:endParaRPr lang="en-US" sz="1800" dirty="0"/>
          </a:p>
        </p:txBody>
      </p:sp>
      <p:sp>
        <p:nvSpPr>
          <p:cNvPr id="10" name="Text 8"/>
          <p:cNvSpPr/>
          <p:nvPr/>
        </p:nvSpPr>
        <p:spPr>
          <a:xfrm>
            <a:off x="6400800" y="2377440"/>
            <a:ext cx="4572000" cy="0"/>
          </a:xfrm>
          <a:prstGeom prst="rect">
            <a:avLst/>
          </a:prstGeom>
          <a:noFill/>
          <a:ln/>
        </p:spPr>
        <p:txBody>
          <a:bodyPr wrap="square" rtlCol="0" anchor="ctr"/>
          <a:lstStyle/>
          <a:p>
            <a:pPr indent="0" marL="0">
              <a:buNone/>
            </a:pPr>
            <a:r>
              <a:rPr lang="en-US" sz="900" b="1" spc="300" kern="0" dirty="0">
                <a:solidFill>
                  <a:srgbClr val="2563EB"/>
                </a:solidFill>
                <a:latin typeface="Microsoft JhengHei" pitchFamily="34" charset="0"/>
                <a:ea typeface="Microsoft JhengHei" pitchFamily="34" charset="-122"/>
                <a:cs typeface="Microsoft JhengHei" pitchFamily="34" charset="-120"/>
              </a:rPr>
              <a:t>重點發現</a:t>
            </a:r>
            <a:endParaRPr lang="en-US" sz="900" dirty="0"/>
          </a:p>
        </p:txBody>
      </p:sp>
      <p:sp>
        <p:nvSpPr>
          <p:cNvPr id="11" name="Text 9"/>
          <p:cNvSpPr/>
          <p:nvPr/>
        </p:nvSpPr>
        <p:spPr>
          <a:xfrm>
            <a:off x="6400800" y="2743200"/>
            <a:ext cx="5029200" cy="0"/>
          </a:xfrm>
          <a:prstGeom prst="rect">
            <a:avLst/>
          </a:prstGeom>
          <a:noFill/>
          <a:ln/>
        </p:spPr>
        <p:txBody>
          <a:bodyPr wrap="square" rtlCol="0" anchor="t"/>
          <a:lstStyle/>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高溫化療的效果</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針對晚期結腸癌</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系統性回顧與統合分析</a:t>
            </a:r>
            <a:endParaRPr lang="en-US" sz="1800" dirty="0"/>
          </a:p>
        </p:txBody>
      </p:sp>
      <p:sp>
        <p:nvSpPr>
          <p:cNvPr id="12" name="Shape 10"/>
          <p:cNvSpPr/>
          <p:nvPr/>
        </p:nvSpPr>
        <p:spPr>
          <a:xfrm>
            <a:off x="0" y="6803136"/>
            <a:ext cx="12188952" cy="54864"/>
          </a:xfrm>
          <a:prstGeom prst="rect">
            <a:avLst/>
          </a:prstGeom>
          <a:solidFill>
            <a:srgbClr val="2563EB"/>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365760"/>
            <a:ext cx="5486400" cy="0"/>
          </a:xfrm>
          <a:prstGeom prst="rect">
            <a:avLst/>
          </a:prstGeom>
          <a:noFill/>
          <a:ln/>
        </p:spPr>
        <p:txBody>
          <a:bodyPr wrap="square" rtlCol="0" anchor="ctr"/>
          <a:lstStyle/>
          <a:p>
            <a:pPr indent="0" marL="0">
              <a:buNone/>
            </a:pPr>
            <a:r>
              <a:rPr lang="en-US" sz="900" spc="400" kern="0" dirty="0">
                <a:solidFill>
                  <a:srgbClr val="888888"/>
                </a:solidFill>
                <a:latin typeface="Arial" pitchFamily="34" charset="0"/>
                <a:ea typeface="Arial" pitchFamily="34" charset="-122"/>
                <a:cs typeface="Arial" pitchFamily="34" charset="-120"/>
              </a:rPr>
              <a:t>02 — INSIGHTS</a:t>
            </a:r>
            <a:endParaRPr lang="en-US" sz="900" dirty="0"/>
          </a:p>
        </p:txBody>
      </p:sp>
      <p:sp>
        <p:nvSpPr>
          <p:cNvPr id="3" name="Text 1"/>
          <p:cNvSpPr/>
          <p:nvPr/>
        </p:nvSpPr>
        <p:spPr>
          <a:xfrm>
            <a:off x="731520" y="731520"/>
            <a:ext cx="10515600" cy="0"/>
          </a:xfrm>
          <a:prstGeom prst="rect">
            <a:avLst/>
          </a:prstGeom>
          <a:noFill/>
          <a:ln/>
        </p:spPr>
        <p:txBody>
          <a:bodyPr wrap="square" rtlCol="0" anchor="ctr"/>
          <a:lstStyle/>
          <a:p>
            <a:pPr indent="0" marL="0">
              <a:lnSpc>
                <a:spcPct val="110000"/>
              </a:lnSpc>
              <a:buNone/>
            </a:pPr>
            <a:r>
              <a:rPr lang="en-US" sz="1400" b="1" dirty="0">
                <a:solidFill>
                  <a:srgbClr val="FFFFFF"/>
                </a:solidFill>
                <a:latin typeface="Arial" pitchFamily="34" charset="0"/>
                <a:ea typeface="Arial" pitchFamily="34" charset="-122"/>
                <a:cs typeface="Arial" pitchFamily="34" charset="-120"/>
              </a:rPr>
              <a:t>Effect of hyperthermic intraperitoneal chemotherapy on patients with advanced colorectal cancer: a s…</a:t>
            </a:r>
            <a:endParaRPr lang="en-US" sz="1400" dirty="0"/>
          </a:p>
        </p:txBody>
      </p:sp>
      <p:sp>
        <p:nvSpPr>
          <p:cNvPr id="4" name="Shape 2"/>
          <p:cNvSpPr/>
          <p:nvPr/>
        </p:nvSpPr>
        <p:spPr>
          <a:xfrm>
            <a:off x="731520" y="1280160"/>
            <a:ext cx="2743200" cy="36576"/>
          </a:xfrm>
          <a:prstGeom prst="rect">
            <a:avLst/>
          </a:prstGeom>
          <a:solidFill>
            <a:srgbClr val="2563EB"/>
          </a:solidFill>
          <a:ln/>
        </p:spPr>
      </p:sp>
      <p:sp>
        <p:nvSpPr>
          <p:cNvPr id="5" name="Shape 3"/>
          <p:cNvSpPr/>
          <p:nvPr/>
        </p:nvSpPr>
        <p:spPr>
          <a:xfrm>
            <a:off x="548640" y="1554480"/>
            <a:ext cx="5303520" cy="36576"/>
          </a:xfrm>
          <a:prstGeom prst="rect">
            <a:avLst/>
          </a:prstGeom>
          <a:solidFill>
            <a:srgbClr val="2563EB"/>
          </a:solidFill>
          <a:ln/>
        </p:spPr>
      </p:sp>
      <p:sp>
        <p:nvSpPr>
          <p:cNvPr id="6" name="Text 4"/>
          <p:cNvSpPr/>
          <p:nvPr/>
        </p:nvSpPr>
        <p:spPr>
          <a:xfrm>
            <a:off x="548640" y="1737360"/>
            <a:ext cx="530352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 CLINICAL INSIGHT</a:t>
            </a:r>
            <a:endParaRPr lang="en-US" sz="900" dirty="0"/>
          </a:p>
        </p:txBody>
      </p:sp>
      <p:sp>
        <p:nvSpPr>
          <p:cNvPr id="7" name="Text 5"/>
          <p:cNvSpPr/>
          <p:nvPr/>
        </p:nvSpPr>
        <p:spPr>
          <a:xfrm>
            <a:off x="548640" y="1965960"/>
            <a:ext cx="5303520" cy="0"/>
          </a:xfrm>
          <a:prstGeom prst="rect">
            <a:avLst/>
          </a:prstGeom>
          <a:noFill/>
          <a:ln/>
        </p:spPr>
        <p:txBody>
          <a:bodyPr wrap="square" rtlCol="0" anchor="ctr"/>
          <a:lstStyle/>
          <a:p>
            <a:pPr indent="0" marL="0">
              <a:buNone/>
            </a:pPr>
            <a:r>
              <a:rPr lang="en-US" sz="900" dirty="0">
                <a:solidFill>
                  <a:srgbClr val="888888"/>
                </a:solidFill>
                <a:latin typeface="Microsoft JhengHei" pitchFamily="34" charset="0"/>
                <a:ea typeface="Microsoft JhengHei" pitchFamily="34" charset="-122"/>
                <a:cs typeface="Microsoft JhengHei" pitchFamily="34" charset="-120"/>
              </a:rPr>
              <a:t>臨床啟示</a:t>
            </a:r>
            <a:endParaRPr lang="en-US" sz="900" dirty="0"/>
          </a:p>
        </p:txBody>
      </p:sp>
      <p:sp>
        <p:nvSpPr>
          <p:cNvPr id="8" name="Text 6"/>
          <p:cNvSpPr/>
          <p:nvPr/>
        </p:nvSpPr>
        <p:spPr>
          <a:xfrm>
            <a:off x="548640" y="2286000"/>
            <a:ext cx="5303520" cy="0"/>
          </a:xfrm>
          <a:prstGeom prst="rect">
            <a:avLst/>
          </a:prstGeom>
          <a:noFill/>
          <a:ln/>
        </p:spPr>
        <p:txBody>
          <a:bodyPr wrap="square" rtlCol="0" anchor="ctr"/>
          <a:lstStyle/>
          <a:p>
            <a:pPr indent="0" marL="0">
              <a:lnSpc>
                <a:spcPct val="150000"/>
              </a:lnSpc>
              <a:buNone/>
            </a:pPr>
            <a:r>
              <a:rPr lang="en-US" sz="1800" dirty="0">
                <a:solidFill>
                  <a:srgbClr val="FFFFFF"/>
                </a:solidFill>
              </a:rPr>
              <a:t>EN: Effective for peritoneal metastases. </a:t>
            </a:r>
            <a:endParaRPr lang="en-US" sz="1800" dirty="0"/>
          </a:p>
          <a:p>
            <a:pPr indent="0" marL="0">
              <a:lnSpc>
                <a:spcPct val="150000"/>
              </a:lnSpc>
              <a:buNone/>
            </a:pPr>
            <a:r>
              <a:rPr lang="en-US" sz="1800" dirty="0">
                <a:solidFill>
                  <a:srgbClr val="FFFFFF"/>
                </a:solidFill>
              </a:rPr>
              <a:t>ZH: 對腹膜轉移有效。</a:t>
            </a:r>
            <a:endParaRPr lang="en-US" sz="1800" dirty="0"/>
          </a:p>
        </p:txBody>
      </p:sp>
      <p:sp>
        <p:nvSpPr>
          <p:cNvPr id="9" name="Shape 7"/>
          <p:cNvSpPr/>
          <p:nvPr/>
        </p:nvSpPr>
        <p:spPr>
          <a:xfrm>
            <a:off x="6309360" y="1554480"/>
            <a:ext cx="5303520" cy="36576"/>
          </a:xfrm>
          <a:prstGeom prst="rect">
            <a:avLst/>
          </a:prstGeom>
          <a:solidFill>
            <a:srgbClr val="2563EB"/>
          </a:solidFill>
          <a:ln/>
        </p:spPr>
      </p:sp>
      <p:sp>
        <p:nvSpPr>
          <p:cNvPr id="10" name="Text 8"/>
          <p:cNvSpPr/>
          <p:nvPr/>
        </p:nvSpPr>
        <p:spPr>
          <a:xfrm>
            <a:off x="6309360" y="1737360"/>
            <a:ext cx="530352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 FUTURE DIRECTION</a:t>
            </a:r>
            <a:endParaRPr lang="en-US" sz="900" dirty="0"/>
          </a:p>
        </p:txBody>
      </p:sp>
      <p:sp>
        <p:nvSpPr>
          <p:cNvPr id="11" name="Text 9"/>
          <p:cNvSpPr/>
          <p:nvPr/>
        </p:nvSpPr>
        <p:spPr>
          <a:xfrm>
            <a:off x="6309360" y="1965960"/>
            <a:ext cx="5303520" cy="0"/>
          </a:xfrm>
          <a:prstGeom prst="rect">
            <a:avLst/>
          </a:prstGeom>
          <a:noFill/>
          <a:ln/>
        </p:spPr>
        <p:txBody>
          <a:bodyPr wrap="square" rtlCol="0" anchor="ctr"/>
          <a:lstStyle/>
          <a:p>
            <a:pPr indent="0" marL="0">
              <a:buNone/>
            </a:pPr>
            <a:r>
              <a:rPr lang="en-US" sz="900" dirty="0">
                <a:solidFill>
                  <a:srgbClr val="888888"/>
                </a:solidFill>
                <a:latin typeface="Microsoft JhengHei" pitchFamily="34" charset="0"/>
                <a:ea typeface="Microsoft JhengHei" pitchFamily="34" charset="-122"/>
                <a:cs typeface="Microsoft JhengHei" pitchFamily="34" charset="-120"/>
              </a:rPr>
              <a:t>未來方向</a:t>
            </a:r>
            <a:endParaRPr lang="en-US" sz="900" dirty="0"/>
          </a:p>
        </p:txBody>
      </p:sp>
      <p:sp>
        <p:nvSpPr>
          <p:cNvPr id="12" name="Text 10"/>
          <p:cNvSpPr/>
          <p:nvPr/>
        </p:nvSpPr>
        <p:spPr>
          <a:xfrm>
            <a:off x="6309360" y="2286000"/>
            <a:ext cx="5303520" cy="0"/>
          </a:xfrm>
          <a:prstGeom prst="rect">
            <a:avLst/>
          </a:prstGeom>
          <a:noFill/>
          <a:ln/>
        </p:spPr>
        <p:txBody>
          <a:bodyPr wrap="square" rtlCol="0" anchor="ctr"/>
          <a:lstStyle/>
          <a:p>
            <a:pPr indent="0" marL="0">
              <a:lnSpc>
                <a:spcPct val="150000"/>
              </a:lnSpc>
              <a:buNone/>
            </a:pPr>
            <a:r>
              <a:rPr lang="en-US" sz="1800" dirty="0">
                <a:solidFill>
                  <a:srgbClr val="FFFFFF"/>
                </a:solidFill>
              </a:rPr>
              <a:t>EN: Further studies needed. </a:t>
            </a:r>
            <a:endParaRPr lang="en-US" sz="1800" dirty="0"/>
          </a:p>
          <a:p>
            <a:pPr indent="0" marL="0">
              <a:lnSpc>
                <a:spcPct val="150000"/>
              </a:lnSpc>
              <a:buNone/>
            </a:pPr>
            <a:r>
              <a:rPr lang="en-US" sz="1800" dirty="0">
                <a:solidFill>
                  <a:srgbClr val="FFFFFF"/>
                </a:solidFill>
              </a:rPr>
              <a:t>ZH: 需要更多研究。</a:t>
            </a:r>
            <a:endParaRPr lang="en-US" sz="1800" dirty="0"/>
          </a:p>
        </p:txBody>
      </p:sp>
      <p:sp>
        <p:nvSpPr>
          <p:cNvPr id="13" name="Shape 11"/>
          <p:cNvSpPr/>
          <p:nvPr/>
        </p:nvSpPr>
        <p:spPr>
          <a:xfrm>
            <a:off x="0" y="6803136"/>
            <a:ext cx="12188952" cy="54864"/>
          </a:xfrm>
          <a:prstGeom prst="rect">
            <a:avLst/>
          </a:prstGeom>
          <a:solidFill>
            <a:srgbClr val="2563EB"/>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5486400" cy="0"/>
          </a:xfrm>
          <a:prstGeom prst="rect">
            <a:avLst/>
          </a:prstGeom>
          <a:noFill/>
          <a:ln/>
        </p:spPr>
        <p:txBody>
          <a:bodyPr wrap="square" rtlCol="0" anchor="ctr"/>
          <a:lstStyle/>
          <a:p>
            <a:pPr indent="0" marL="0">
              <a:buNone/>
            </a:pPr>
            <a:r>
              <a:rPr lang="en-US" sz="900" spc="400" kern="0" dirty="0">
                <a:solidFill>
                  <a:srgbClr val="888888"/>
                </a:solidFill>
                <a:latin typeface="Arial" pitchFamily="34" charset="0"/>
                <a:ea typeface="Arial" pitchFamily="34" charset="-122"/>
                <a:cs typeface="Arial" pitchFamily="34" charset="-120"/>
              </a:rPr>
              <a:t>03 — KEY FINDINGS</a:t>
            </a:r>
            <a:endParaRPr lang="en-US" sz="900" dirty="0"/>
          </a:p>
        </p:txBody>
      </p:sp>
      <p:sp>
        <p:nvSpPr>
          <p:cNvPr id="3" name="Text 1"/>
          <p:cNvSpPr/>
          <p:nvPr/>
        </p:nvSpPr>
        <p:spPr>
          <a:xfrm>
            <a:off x="9601200" y="182880"/>
            <a:ext cx="2103120" cy="0"/>
          </a:xfrm>
          <a:prstGeom prst="rect">
            <a:avLst/>
          </a:prstGeom>
          <a:noFill/>
          <a:ln/>
        </p:spPr>
        <p:txBody>
          <a:bodyPr wrap="square" rtlCol="0" anchor="ctr"/>
          <a:lstStyle/>
          <a:p>
            <a:pPr algn="r" indent="0" marL="0">
              <a:buNone/>
            </a:pPr>
            <a:r>
              <a:rPr lang="en-US" sz="4800" b="1" dirty="0">
                <a:solidFill>
                  <a:srgbClr val="DBEAFE"/>
                </a:solidFill>
                <a:latin typeface="Arial" pitchFamily="34" charset="0"/>
                <a:ea typeface="Arial" pitchFamily="34" charset="-122"/>
                <a:cs typeface="Arial" pitchFamily="34" charset="-120"/>
              </a:rPr>
              <a:t>03</a:t>
            </a:r>
            <a:endParaRPr lang="en-US" sz="4800" dirty="0"/>
          </a:p>
        </p:txBody>
      </p:sp>
      <p:sp>
        <p:nvSpPr>
          <p:cNvPr id="4" name="Text 2"/>
          <p:cNvSpPr/>
          <p:nvPr/>
        </p:nvSpPr>
        <p:spPr>
          <a:xfrm>
            <a:off x="731520" y="822960"/>
            <a:ext cx="9144000" cy="0"/>
          </a:xfrm>
          <a:prstGeom prst="rect">
            <a:avLst/>
          </a:prstGeom>
          <a:noFill/>
          <a:ln/>
        </p:spPr>
        <p:txBody>
          <a:bodyPr wrap="square" rtlCol="0" anchor="ctr"/>
          <a:lstStyle/>
          <a:p>
            <a:pPr indent="0" marL="0">
              <a:lnSpc>
                <a:spcPct val="115000"/>
              </a:lnSpc>
              <a:buNone/>
            </a:pPr>
            <a:r>
              <a:rPr lang="en-US" sz="2400" b="1" dirty="0">
                <a:solidFill>
                  <a:srgbClr val="111111"/>
                </a:solidFill>
                <a:latin typeface="Arial" pitchFamily="34" charset="0"/>
                <a:ea typeface="Arial" pitchFamily="34" charset="-122"/>
                <a:cs typeface="Arial" pitchFamily="34" charset="-120"/>
              </a:rPr>
              <a:t>Prognostic value of systemic immune-inflammation index for colorectal cancer: a systematic review and meta-analysis</a:t>
            </a:r>
            <a:endParaRPr lang="en-US" sz="2400" dirty="0"/>
          </a:p>
        </p:txBody>
      </p:sp>
      <p:sp>
        <p:nvSpPr>
          <p:cNvPr id="5" name="Text 3"/>
          <p:cNvSpPr/>
          <p:nvPr/>
        </p:nvSpPr>
        <p:spPr>
          <a:xfrm>
            <a:off x="731520" y="1691640"/>
            <a:ext cx="9144000" cy="0"/>
          </a:xfrm>
          <a:prstGeom prst="rect">
            <a:avLst/>
          </a:prstGeom>
          <a:noFill/>
          <a:ln/>
        </p:spPr>
        <p:txBody>
          <a:bodyPr wrap="square" rtlCol="0" anchor="ctr"/>
          <a:lstStyle/>
          <a:p>
            <a:pPr indent="0" marL="0">
              <a:buNone/>
            </a:pPr>
            <a:r>
              <a:rPr lang="en-US" sz="900" dirty="0">
                <a:solidFill>
                  <a:srgbClr val="888888"/>
                </a:solidFill>
              </a:rPr>
              <a:t>Frontiers in Oncology  ·  Meta-Analysis  ·  2026</a:t>
            </a:r>
            <a:endParaRPr lang="en-US" sz="900" dirty="0"/>
          </a:p>
        </p:txBody>
      </p:sp>
      <p:sp>
        <p:nvSpPr>
          <p:cNvPr id="6" name="Text 4"/>
          <p:cNvSpPr/>
          <p:nvPr/>
        </p:nvSpPr>
        <p:spPr>
          <a:xfrm>
            <a:off x="731520" y="1920240"/>
            <a:ext cx="9144000" cy="0"/>
          </a:xfrm>
          <a:prstGeom prst="rect">
            <a:avLst/>
          </a:prstGeom>
          <a:noFill/>
          <a:ln/>
        </p:spPr>
        <p:txBody>
          <a:bodyPr wrap="square" rtlCol="0" anchor="ctr"/>
          <a:lstStyle/>
          <a:p>
            <a:pPr indent="0" marL="0">
              <a:buNone/>
            </a:pPr>
            <a:r>
              <a:rPr lang="en-US" sz="900" dirty="0">
                <a:solidFill>
                  <a:srgbClr val="888888"/>
                </a:solidFill>
              </a:rPr>
              <a:t>P Wang, H Jiang</a:t>
            </a:r>
            <a:endParaRPr lang="en-US" sz="900" dirty="0"/>
          </a:p>
        </p:txBody>
      </p:sp>
      <p:sp>
        <p:nvSpPr>
          <p:cNvPr id="7" name="Shape 5"/>
          <p:cNvSpPr/>
          <p:nvPr/>
        </p:nvSpPr>
        <p:spPr>
          <a:xfrm>
            <a:off x="731520" y="2194560"/>
            <a:ext cx="10515600" cy="9144"/>
          </a:xfrm>
          <a:prstGeom prst="rect">
            <a:avLst/>
          </a:prstGeom>
          <a:solidFill>
            <a:srgbClr val="E0E0E0"/>
          </a:solidFill>
          <a:ln/>
        </p:spPr>
      </p:sp>
      <p:sp>
        <p:nvSpPr>
          <p:cNvPr id="8" name="Text 6"/>
          <p:cNvSpPr/>
          <p:nvPr/>
        </p:nvSpPr>
        <p:spPr>
          <a:xfrm>
            <a:off x="731520" y="2377440"/>
            <a:ext cx="457200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KEY FINDINGS</a:t>
            </a:r>
            <a:endParaRPr lang="en-US" sz="900" dirty="0"/>
          </a:p>
        </p:txBody>
      </p:sp>
      <p:sp>
        <p:nvSpPr>
          <p:cNvPr id="9" name="Text 7"/>
          <p:cNvSpPr/>
          <p:nvPr/>
        </p:nvSpPr>
        <p:spPr>
          <a:xfrm>
            <a:off x="731520" y="2743200"/>
            <a:ext cx="5029200" cy="0"/>
          </a:xfrm>
          <a:prstGeom prst="rect">
            <a:avLst/>
          </a:prstGeom>
          <a:noFill/>
          <a:ln/>
        </p:spPr>
        <p:txBody>
          <a:bodyPr wrap="square" rtlCol="0" anchor="t"/>
          <a:lstStyle/>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SII as prognostic biomarker</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Systematic review conducted</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Meta-analysis results presented</a:t>
            </a:r>
            <a:endParaRPr lang="en-US" sz="1800" dirty="0"/>
          </a:p>
        </p:txBody>
      </p:sp>
      <p:sp>
        <p:nvSpPr>
          <p:cNvPr id="10" name="Text 8"/>
          <p:cNvSpPr/>
          <p:nvPr/>
        </p:nvSpPr>
        <p:spPr>
          <a:xfrm>
            <a:off x="6400800" y="2377440"/>
            <a:ext cx="4572000" cy="0"/>
          </a:xfrm>
          <a:prstGeom prst="rect">
            <a:avLst/>
          </a:prstGeom>
          <a:noFill/>
          <a:ln/>
        </p:spPr>
        <p:txBody>
          <a:bodyPr wrap="square" rtlCol="0" anchor="ctr"/>
          <a:lstStyle/>
          <a:p>
            <a:pPr indent="0" marL="0">
              <a:buNone/>
            </a:pPr>
            <a:r>
              <a:rPr lang="en-US" sz="900" b="1" spc="300" kern="0" dirty="0">
                <a:solidFill>
                  <a:srgbClr val="2563EB"/>
                </a:solidFill>
                <a:latin typeface="Microsoft JhengHei" pitchFamily="34" charset="0"/>
                <a:ea typeface="Microsoft JhengHei" pitchFamily="34" charset="-122"/>
                <a:cs typeface="Microsoft JhengHei" pitchFamily="34" charset="-120"/>
              </a:rPr>
              <a:t>重點發現</a:t>
            </a:r>
            <a:endParaRPr lang="en-US" sz="900" dirty="0"/>
          </a:p>
        </p:txBody>
      </p:sp>
      <p:sp>
        <p:nvSpPr>
          <p:cNvPr id="11" name="Text 9"/>
          <p:cNvSpPr/>
          <p:nvPr/>
        </p:nvSpPr>
        <p:spPr>
          <a:xfrm>
            <a:off x="6400800" y="2743200"/>
            <a:ext cx="5029200" cy="0"/>
          </a:xfrm>
          <a:prstGeom prst="rect">
            <a:avLst/>
          </a:prstGeom>
          <a:noFill/>
          <a:ln/>
        </p:spPr>
        <p:txBody>
          <a:bodyPr wrap="square" rtlCol="0" anchor="t"/>
          <a:lstStyle/>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SII作為預後生物標記</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進行系統性回顧</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呈現Meta分析結果</a:t>
            </a:r>
            <a:endParaRPr lang="en-US" sz="1800" dirty="0"/>
          </a:p>
        </p:txBody>
      </p:sp>
      <p:sp>
        <p:nvSpPr>
          <p:cNvPr id="12" name="Shape 10"/>
          <p:cNvSpPr/>
          <p:nvPr/>
        </p:nvSpPr>
        <p:spPr>
          <a:xfrm>
            <a:off x="0" y="6803136"/>
            <a:ext cx="12188952" cy="54864"/>
          </a:xfrm>
          <a:prstGeom prst="rect">
            <a:avLst/>
          </a:prstGeom>
          <a:solidFill>
            <a:srgbClr val="2563EB"/>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365760"/>
            <a:ext cx="5486400" cy="0"/>
          </a:xfrm>
          <a:prstGeom prst="rect">
            <a:avLst/>
          </a:prstGeom>
          <a:noFill/>
          <a:ln/>
        </p:spPr>
        <p:txBody>
          <a:bodyPr wrap="square" rtlCol="0" anchor="ctr"/>
          <a:lstStyle/>
          <a:p>
            <a:pPr indent="0" marL="0">
              <a:buNone/>
            </a:pPr>
            <a:r>
              <a:rPr lang="en-US" sz="900" spc="400" kern="0" dirty="0">
                <a:solidFill>
                  <a:srgbClr val="888888"/>
                </a:solidFill>
                <a:latin typeface="Arial" pitchFamily="34" charset="0"/>
                <a:ea typeface="Arial" pitchFamily="34" charset="-122"/>
                <a:cs typeface="Arial" pitchFamily="34" charset="-120"/>
              </a:rPr>
              <a:t>03 — INSIGHTS</a:t>
            </a:r>
            <a:endParaRPr lang="en-US" sz="900" dirty="0"/>
          </a:p>
        </p:txBody>
      </p:sp>
      <p:sp>
        <p:nvSpPr>
          <p:cNvPr id="3" name="Text 1"/>
          <p:cNvSpPr/>
          <p:nvPr/>
        </p:nvSpPr>
        <p:spPr>
          <a:xfrm>
            <a:off x="731520" y="731520"/>
            <a:ext cx="10515600" cy="0"/>
          </a:xfrm>
          <a:prstGeom prst="rect">
            <a:avLst/>
          </a:prstGeom>
          <a:noFill/>
          <a:ln/>
        </p:spPr>
        <p:txBody>
          <a:bodyPr wrap="square" rtlCol="0" anchor="ctr"/>
          <a:lstStyle/>
          <a:p>
            <a:pPr indent="0" marL="0">
              <a:lnSpc>
                <a:spcPct val="110000"/>
              </a:lnSpc>
              <a:buNone/>
            </a:pPr>
            <a:r>
              <a:rPr lang="en-US" sz="1400" b="1" dirty="0">
                <a:solidFill>
                  <a:srgbClr val="FFFFFF"/>
                </a:solidFill>
                <a:latin typeface="Arial" pitchFamily="34" charset="0"/>
                <a:ea typeface="Arial" pitchFamily="34" charset="-122"/>
                <a:cs typeface="Arial" pitchFamily="34" charset="-120"/>
              </a:rPr>
              <a:t>Prognostic value of systemic immune-inflammation index for colorectal cancer: a systematic review an…</a:t>
            </a:r>
            <a:endParaRPr lang="en-US" sz="1400" dirty="0"/>
          </a:p>
        </p:txBody>
      </p:sp>
      <p:sp>
        <p:nvSpPr>
          <p:cNvPr id="4" name="Shape 2"/>
          <p:cNvSpPr/>
          <p:nvPr/>
        </p:nvSpPr>
        <p:spPr>
          <a:xfrm>
            <a:off x="731520" y="1280160"/>
            <a:ext cx="2743200" cy="36576"/>
          </a:xfrm>
          <a:prstGeom prst="rect">
            <a:avLst/>
          </a:prstGeom>
          <a:solidFill>
            <a:srgbClr val="2563EB"/>
          </a:solidFill>
          <a:ln/>
        </p:spPr>
      </p:sp>
      <p:sp>
        <p:nvSpPr>
          <p:cNvPr id="5" name="Shape 3"/>
          <p:cNvSpPr/>
          <p:nvPr/>
        </p:nvSpPr>
        <p:spPr>
          <a:xfrm>
            <a:off x="548640" y="1554480"/>
            <a:ext cx="5303520" cy="36576"/>
          </a:xfrm>
          <a:prstGeom prst="rect">
            <a:avLst/>
          </a:prstGeom>
          <a:solidFill>
            <a:srgbClr val="2563EB"/>
          </a:solidFill>
          <a:ln/>
        </p:spPr>
      </p:sp>
      <p:sp>
        <p:nvSpPr>
          <p:cNvPr id="6" name="Text 4"/>
          <p:cNvSpPr/>
          <p:nvPr/>
        </p:nvSpPr>
        <p:spPr>
          <a:xfrm>
            <a:off x="548640" y="1737360"/>
            <a:ext cx="530352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 CLINICAL INSIGHT</a:t>
            </a:r>
            <a:endParaRPr lang="en-US" sz="900" dirty="0"/>
          </a:p>
        </p:txBody>
      </p:sp>
      <p:sp>
        <p:nvSpPr>
          <p:cNvPr id="7" name="Text 5"/>
          <p:cNvSpPr/>
          <p:nvPr/>
        </p:nvSpPr>
        <p:spPr>
          <a:xfrm>
            <a:off x="548640" y="1965960"/>
            <a:ext cx="5303520" cy="0"/>
          </a:xfrm>
          <a:prstGeom prst="rect">
            <a:avLst/>
          </a:prstGeom>
          <a:noFill/>
          <a:ln/>
        </p:spPr>
        <p:txBody>
          <a:bodyPr wrap="square" rtlCol="0" anchor="ctr"/>
          <a:lstStyle/>
          <a:p>
            <a:pPr indent="0" marL="0">
              <a:buNone/>
            </a:pPr>
            <a:r>
              <a:rPr lang="en-US" sz="900" dirty="0">
                <a:solidFill>
                  <a:srgbClr val="888888"/>
                </a:solidFill>
                <a:latin typeface="Microsoft JhengHei" pitchFamily="34" charset="0"/>
                <a:ea typeface="Microsoft JhengHei" pitchFamily="34" charset="-122"/>
                <a:cs typeface="Microsoft JhengHei" pitchFamily="34" charset="-120"/>
              </a:rPr>
              <a:t>臨床啟示</a:t>
            </a:r>
            <a:endParaRPr lang="en-US" sz="900" dirty="0"/>
          </a:p>
        </p:txBody>
      </p:sp>
      <p:sp>
        <p:nvSpPr>
          <p:cNvPr id="8" name="Text 6"/>
          <p:cNvSpPr/>
          <p:nvPr/>
        </p:nvSpPr>
        <p:spPr>
          <a:xfrm>
            <a:off x="548640" y="2286000"/>
            <a:ext cx="5303520" cy="0"/>
          </a:xfrm>
          <a:prstGeom prst="rect">
            <a:avLst/>
          </a:prstGeom>
          <a:noFill/>
          <a:ln/>
        </p:spPr>
        <p:txBody>
          <a:bodyPr wrap="square" rtlCol="0" anchor="ctr"/>
          <a:lstStyle/>
          <a:p>
            <a:pPr indent="0" marL="0">
              <a:lnSpc>
                <a:spcPct val="150000"/>
              </a:lnSpc>
              <a:buNone/>
            </a:pPr>
            <a:r>
              <a:rPr lang="en-US" sz="1800" dirty="0">
                <a:solidFill>
                  <a:srgbClr val="FFFFFF"/>
                </a:solidFill>
              </a:rPr>
              <a:t>EN: SII predicts CRC outcomes. </a:t>
            </a:r>
            <a:endParaRPr lang="en-US" sz="1800" dirty="0"/>
          </a:p>
          <a:p>
            <a:pPr indent="0" marL="0">
              <a:lnSpc>
                <a:spcPct val="150000"/>
              </a:lnSpc>
              <a:buNone/>
            </a:pPr>
            <a:r>
              <a:rPr lang="en-US" sz="1800" dirty="0">
                <a:solidFill>
                  <a:srgbClr val="FFFFFF"/>
                </a:solidFill>
              </a:rPr>
              <a:t>ZH: SII可預測大腸癌結果。</a:t>
            </a:r>
            <a:endParaRPr lang="en-US" sz="1800" dirty="0"/>
          </a:p>
        </p:txBody>
      </p:sp>
      <p:sp>
        <p:nvSpPr>
          <p:cNvPr id="9" name="Shape 7"/>
          <p:cNvSpPr/>
          <p:nvPr/>
        </p:nvSpPr>
        <p:spPr>
          <a:xfrm>
            <a:off x="6309360" y="1554480"/>
            <a:ext cx="5303520" cy="36576"/>
          </a:xfrm>
          <a:prstGeom prst="rect">
            <a:avLst/>
          </a:prstGeom>
          <a:solidFill>
            <a:srgbClr val="2563EB"/>
          </a:solidFill>
          <a:ln/>
        </p:spPr>
      </p:sp>
      <p:sp>
        <p:nvSpPr>
          <p:cNvPr id="10" name="Text 8"/>
          <p:cNvSpPr/>
          <p:nvPr/>
        </p:nvSpPr>
        <p:spPr>
          <a:xfrm>
            <a:off x="6309360" y="1737360"/>
            <a:ext cx="530352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 FUTURE DIRECTION</a:t>
            </a:r>
            <a:endParaRPr lang="en-US" sz="900" dirty="0"/>
          </a:p>
        </p:txBody>
      </p:sp>
      <p:sp>
        <p:nvSpPr>
          <p:cNvPr id="11" name="Text 9"/>
          <p:cNvSpPr/>
          <p:nvPr/>
        </p:nvSpPr>
        <p:spPr>
          <a:xfrm>
            <a:off x="6309360" y="1965960"/>
            <a:ext cx="5303520" cy="0"/>
          </a:xfrm>
          <a:prstGeom prst="rect">
            <a:avLst/>
          </a:prstGeom>
          <a:noFill/>
          <a:ln/>
        </p:spPr>
        <p:txBody>
          <a:bodyPr wrap="square" rtlCol="0" anchor="ctr"/>
          <a:lstStyle/>
          <a:p>
            <a:pPr indent="0" marL="0">
              <a:buNone/>
            </a:pPr>
            <a:r>
              <a:rPr lang="en-US" sz="900" dirty="0">
                <a:solidFill>
                  <a:srgbClr val="888888"/>
                </a:solidFill>
                <a:latin typeface="Microsoft JhengHei" pitchFamily="34" charset="0"/>
                <a:ea typeface="Microsoft JhengHei" pitchFamily="34" charset="-122"/>
                <a:cs typeface="Microsoft JhengHei" pitchFamily="34" charset="-120"/>
              </a:rPr>
              <a:t>未來方向</a:t>
            </a:r>
            <a:endParaRPr lang="en-US" sz="900" dirty="0"/>
          </a:p>
        </p:txBody>
      </p:sp>
      <p:sp>
        <p:nvSpPr>
          <p:cNvPr id="12" name="Text 10"/>
          <p:cNvSpPr/>
          <p:nvPr/>
        </p:nvSpPr>
        <p:spPr>
          <a:xfrm>
            <a:off x="6309360" y="2286000"/>
            <a:ext cx="5303520" cy="0"/>
          </a:xfrm>
          <a:prstGeom prst="rect">
            <a:avLst/>
          </a:prstGeom>
          <a:noFill/>
          <a:ln/>
        </p:spPr>
        <p:txBody>
          <a:bodyPr wrap="square" rtlCol="0" anchor="ctr"/>
          <a:lstStyle/>
          <a:p>
            <a:pPr indent="0" marL="0">
              <a:lnSpc>
                <a:spcPct val="150000"/>
              </a:lnSpc>
              <a:buNone/>
            </a:pPr>
            <a:r>
              <a:rPr lang="en-US" sz="1800" dirty="0">
                <a:solidFill>
                  <a:srgbClr val="FFFFFF"/>
                </a:solidFill>
              </a:rPr>
              <a:t>EN: Further studies needed. </a:t>
            </a:r>
            <a:endParaRPr lang="en-US" sz="1800" dirty="0"/>
          </a:p>
          <a:p>
            <a:pPr indent="0" marL="0">
              <a:lnSpc>
                <a:spcPct val="150000"/>
              </a:lnSpc>
              <a:buNone/>
            </a:pPr>
            <a:r>
              <a:rPr lang="en-US" sz="1800" dirty="0">
                <a:solidFill>
                  <a:srgbClr val="FFFFFF"/>
                </a:solidFill>
              </a:rPr>
              <a:t>ZH: 需進一步研究。</a:t>
            </a:r>
            <a:endParaRPr lang="en-US" sz="1800" dirty="0"/>
          </a:p>
        </p:txBody>
      </p:sp>
      <p:sp>
        <p:nvSpPr>
          <p:cNvPr id="13" name="Shape 11"/>
          <p:cNvSpPr/>
          <p:nvPr/>
        </p:nvSpPr>
        <p:spPr>
          <a:xfrm>
            <a:off x="0" y="6803136"/>
            <a:ext cx="12188952" cy="54864"/>
          </a:xfrm>
          <a:prstGeom prst="rect">
            <a:avLst/>
          </a:prstGeom>
          <a:solidFill>
            <a:srgbClr val="2563EB"/>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5486400" cy="0"/>
          </a:xfrm>
          <a:prstGeom prst="rect">
            <a:avLst/>
          </a:prstGeom>
          <a:noFill/>
          <a:ln/>
        </p:spPr>
        <p:txBody>
          <a:bodyPr wrap="square" rtlCol="0" anchor="ctr"/>
          <a:lstStyle/>
          <a:p>
            <a:pPr indent="0" marL="0">
              <a:buNone/>
            </a:pPr>
            <a:r>
              <a:rPr lang="en-US" sz="900" spc="400" kern="0" dirty="0">
                <a:solidFill>
                  <a:srgbClr val="888888"/>
                </a:solidFill>
                <a:latin typeface="Arial" pitchFamily="34" charset="0"/>
                <a:ea typeface="Arial" pitchFamily="34" charset="-122"/>
                <a:cs typeface="Arial" pitchFamily="34" charset="-120"/>
              </a:rPr>
              <a:t>04 — KEY FINDINGS</a:t>
            </a:r>
            <a:endParaRPr lang="en-US" sz="900" dirty="0"/>
          </a:p>
        </p:txBody>
      </p:sp>
      <p:sp>
        <p:nvSpPr>
          <p:cNvPr id="3" name="Text 1"/>
          <p:cNvSpPr/>
          <p:nvPr/>
        </p:nvSpPr>
        <p:spPr>
          <a:xfrm>
            <a:off x="9601200" y="182880"/>
            <a:ext cx="2103120" cy="0"/>
          </a:xfrm>
          <a:prstGeom prst="rect">
            <a:avLst/>
          </a:prstGeom>
          <a:noFill/>
          <a:ln/>
        </p:spPr>
        <p:txBody>
          <a:bodyPr wrap="square" rtlCol="0" anchor="ctr"/>
          <a:lstStyle/>
          <a:p>
            <a:pPr algn="r" indent="0" marL="0">
              <a:buNone/>
            </a:pPr>
            <a:r>
              <a:rPr lang="en-US" sz="4800" b="1" dirty="0">
                <a:solidFill>
                  <a:srgbClr val="DBEAFE"/>
                </a:solidFill>
                <a:latin typeface="Arial" pitchFamily="34" charset="0"/>
                <a:ea typeface="Arial" pitchFamily="34" charset="-122"/>
                <a:cs typeface="Arial" pitchFamily="34" charset="-120"/>
              </a:rPr>
              <a:t>04</a:t>
            </a:r>
            <a:endParaRPr lang="en-US" sz="4800" dirty="0"/>
          </a:p>
        </p:txBody>
      </p:sp>
      <p:sp>
        <p:nvSpPr>
          <p:cNvPr id="4" name="Text 2">
            <a:hlinkClick r:id="rId1" tooltip=""/>
          </p:cNvPr>
          <p:cNvSpPr/>
          <p:nvPr/>
        </p:nvSpPr>
        <p:spPr>
          <a:xfrm>
            <a:off x="731520" y="822960"/>
            <a:ext cx="9144000" cy="0"/>
          </a:xfrm>
          <a:prstGeom prst="rect">
            <a:avLst/>
          </a:prstGeom>
          <a:noFill/>
          <a:ln/>
        </p:spPr>
        <p:txBody>
          <a:bodyPr wrap="square" rtlCol="0" anchor="ctr"/>
          <a:lstStyle/>
          <a:p>
            <a:pPr indent="0" marL="0">
              <a:lnSpc>
                <a:spcPct val="115000"/>
              </a:lnSpc>
              <a:buNone/>
            </a:pPr>
            <a:r>
              <a:rPr lang="en-US" sz="2400" b="1" u="sng" dirty="0">
                <a:solidFill>
                  <a:srgbClr val="111111"/>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Thlaspi arvense attenuates colitis-associated colorectal tumorigenesis through suppression of neutrophil recruitment via the NOD/NF-&amp;#x3ba;B pathway.</a:t>
            </a:r>
            <a:endParaRPr lang="en-US" sz="2400" dirty="0"/>
          </a:p>
        </p:txBody>
      </p:sp>
      <p:sp>
        <p:nvSpPr>
          <p:cNvPr id="5" name="Text 3"/>
          <p:cNvSpPr/>
          <p:nvPr/>
        </p:nvSpPr>
        <p:spPr>
          <a:xfrm>
            <a:off x="731520" y="1691640"/>
            <a:ext cx="9144000" cy="0"/>
          </a:xfrm>
          <a:prstGeom prst="rect">
            <a:avLst/>
          </a:prstGeom>
          <a:noFill/>
          <a:ln/>
        </p:spPr>
        <p:txBody>
          <a:bodyPr wrap="square" rtlCol="0" anchor="ctr"/>
          <a:lstStyle/>
          <a:p>
            <a:pPr indent="0" marL="0">
              <a:buNone/>
            </a:pPr>
            <a:r>
              <a:rPr lang="en-US" sz="900" dirty="0">
                <a:solidFill>
                  <a:srgbClr val="888888"/>
                </a:solidFill>
              </a:rPr>
              <a:t>Chinese medicine  ·  Basic Research  ·  2026-04-18</a:t>
            </a:r>
            <a:endParaRPr lang="en-US" sz="900" dirty="0"/>
          </a:p>
        </p:txBody>
      </p:sp>
      <p:sp>
        <p:nvSpPr>
          <p:cNvPr id="6" name="Text 4"/>
          <p:cNvSpPr/>
          <p:nvPr/>
        </p:nvSpPr>
        <p:spPr>
          <a:xfrm>
            <a:off x="731520" y="1920240"/>
            <a:ext cx="9144000" cy="0"/>
          </a:xfrm>
          <a:prstGeom prst="rect">
            <a:avLst/>
          </a:prstGeom>
          <a:noFill/>
          <a:ln/>
        </p:spPr>
        <p:txBody>
          <a:bodyPr wrap="square" rtlCol="0" anchor="ctr"/>
          <a:lstStyle/>
          <a:p>
            <a:pPr indent="0" marL="0">
              <a:buNone/>
            </a:pPr>
            <a:r>
              <a:rPr lang="en-US" sz="900" dirty="0">
                <a:solidFill>
                  <a:srgbClr val="888888"/>
                </a:solidFill>
              </a:rPr>
              <a:t>Wang Ziwei, Wang Wenkai, Wang Chaowei et al.</a:t>
            </a:r>
            <a:endParaRPr lang="en-US" sz="900" dirty="0"/>
          </a:p>
        </p:txBody>
      </p:sp>
      <p:sp>
        <p:nvSpPr>
          <p:cNvPr id="7" name="Shape 5"/>
          <p:cNvSpPr/>
          <p:nvPr/>
        </p:nvSpPr>
        <p:spPr>
          <a:xfrm>
            <a:off x="731520" y="2194560"/>
            <a:ext cx="10515600" cy="9144"/>
          </a:xfrm>
          <a:prstGeom prst="rect">
            <a:avLst/>
          </a:prstGeom>
          <a:solidFill>
            <a:srgbClr val="E0E0E0"/>
          </a:solidFill>
          <a:ln/>
        </p:spPr>
      </p:sp>
      <p:sp>
        <p:nvSpPr>
          <p:cNvPr id="8" name="Text 6"/>
          <p:cNvSpPr/>
          <p:nvPr/>
        </p:nvSpPr>
        <p:spPr>
          <a:xfrm>
            <a:off x="731520" y="2377440"/>
            <a:ext cx="457200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KEY FINDINGS</a:t>
            </a:r>
            <a:endParaRPr lang="en-US" sz="900" dirty="0"/>
          </a:p>
        </p:txBody>
      </p:sp>
      <p:sp>
        <p:nvSpPr>
          <p:cNvPr id="9" name="Text 7"/>
          <p:cNvSpPr/>
          <p:nvPr/>
        </p:nvSpPr>
        <p:spPr>
          <a:xfrm>
            <a:off x="731520" y="2743200"/>
            <a:ext cx="5029200" cy="0"/>
          </a:xfrm>
          <a:prstGeom prst="rect">
            <a:avLst/>
          </a:prstGeom>
          <a:noFill/>
          <a:ln/>
        </p:spPr>
        <p:txBody>
          <a:bodyPr wrap="square" rtlCol="0" anchor="t"/>
          <a:lstStyle/>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Thlaspi arvense reduces tumorigenesis</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Targets neutrophil recruitment</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Inhibits NOD/NF-κB pathway</a:t>
            </a:r>
            <a:endParaRPr lang="en-US" sz="1800" dirty="0"/>
          </a:p>
        </p:txBody>
      </p:sp>
      <p:sp>
        <p:nvSpPr>
          <p:cNvPr id="10" name="Text 8"/>
          <p:cNvSpPr/>
          <p:nvPr/>
        </p:nvSpPr>
        <p:spPr>
          <a:xfrm>
            <a:off x="6400800" y="2377440"/>
            <a:ext cx="4572000" cy="0"/>
          </a:xfrm>
          <a:prstGeom prst="rect">
            <a:avLst/>
          </a:prstGeom>
          <a:noFill/>
          <a:ln/>
        </p:spPr>
        <p:txBody>
          <a:bodyPr wrap="square" rtlCol="0" anchor="ctr"/>
          <a:lstStyle/>
          <a:p>
            <a:pPr indent="0" marL="0">
              <a:buNone/>
            </a:pPr>
            <a:r>
              <a:rPr lang="en-US" sz="900" b="1" spc="300" kern="0" dirty="0">
                <a:solidFill>
                  <a:srgbClr val="2563EB"/>
                </a:solidFill>
                <a:latin typeface="Microsoft JhengHei" pitchFamily="34" charset="0"/>
                <a:ea typeface="Microsoft JhengHei" pitchFamily="34" charset="-122"/>
                <a:cs typeface="Microsoft JhengHei" pitchFamily="34" charset="-120"/>
              </a:rPr>
              <a:t>重點發現</a:t>
            </a:r>
            <a:endParaRPr lang="en-US" sz="900" dirty="0"/>
          </a:p>
        </p:txBody>
      </p:sp>
      <p:sp>
        <p:nvSpPr>
          <p:cNvPr id="11" name="Text 9"/>
          <p:cNvSpPr/>
          <p:nvPr/>
        </p:nvSpPr>
        <p:spPr>
          <a:xfrm>
            <a:off x="6400800" y="2743200"/>
            <a:ext cx="5029200" cy="0"/>
          </a:xfrm>
          <a:prstGeom prst="rect">
            <a:avLst/>
          </a:prstGeom>
          <a:noFill/>
          <a:ln/>
        </p:spPr>
        <p:txBody>
          <a:bodyPr wrap="square" rtlCol="0" anchor="t"/>
          <a:lstStyle/>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田野芥菜減少腫瘤生成</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針對中性粒細胞招募</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抑制NOD/NF-κB途徑</a:t>
            </a:r>
            <a:endParaRPr lang="en-US" sz="1800" dirty="0"/>
          </a:p>
        </p:txBody>
      </p:sp>
      <p:sp>
        <p:nvSpPr>
          <p:cNvPr id="12" name="Text 10">
            <a:hlinkClick r:id="rId2" tooltip=""/>
          </p:cNvPr>
          <p:cNvSpPr/>
          <p:nvPr/>
        </p:nvSpPr>
        <p:spPr>
          <a:xfrm>
            <a:off x="731520" y="6217920"/>
            <a:ext cx="3657600" cy="0"/>
          </a:xfrm>
          <a:prstGeom prst="rect">
            <a:avLst/>
          </a:prstGeom>
          <a:noFill/>
          <a:ln/>
        </p:spPr>
        <p:txBody>
          <a:bodyPr wrap="square" rtlCol="0" anchor="ctr"/>
          <a:lstStyle/>
          <a:p>
            <a:pPr indent="0" marL="0">
              <a:buNone/>
            </a:pPr>
            <a:r>
              <a:rPr lang="en-US" sz="1000" b="1" u="sng" dirty="0">
                <a:solidFill>
                  <a:srgbClr val="2563EB"/>
                </a:solidFill>
                <a:hlinkClick r:id="rId2" invalidUrl="" action="" tgtFrame="" tooltip="" history="1" highlightClick="0" endSnd="0">
                  <a:extLst>
                    <a:ext uri="{A12FA001-AC4F-418D-AE19-62706E023703}">
                      <ahyp:hlinkClr xmlns:ahyp="http://schemas.microsoft.com/office/drawing/2018/hyperlinkcolor" val="tx"/>
                    </a:ext>
                  </a:extLst>
                </a:hlinkClick>
              </a:rPr>
              <a:t>📎 View Paper →</a:t>
            </a:r>
            <a:endParaRPr lang="en-US" sz="1000" dirty="0"/>
          </a:p>
        </p:txBody>
      </p:sp>
      <p:sp>
        <p:nvSpPr>
          <p:cNvPr id="13" name="Shape 11"/>
          <p:cNvSpPr/>
          <p:nvPr/>
        </p:nvSpPr>
        <p:spPr>
          <a:xfrm>
            <a:off x="0" y="6803136"/>
            <a:ext cx="12188952" cy="54864"/>
          </a:xfrm>
          <a:prstGeom prst="rect">
            <a:avLst/>
          </a:prstGeom>
          <a:solidFill>
            <a:srgbClr val="2563EB"/>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365760"/>
            <a:ext cx="5486400" cy="0"/>
          </a:xfrm>
          <a:prstGeom prst="rect">
            <a:avLst/>
          </a:prstGeom>
          <a:noFill/>
          <a:ln/>
        </p:spPr>
        <p:txBody>
          <a:bodyPr wrap="square" rtlCol="0" anchor="ctr"/>
          <a:lstStyle/>
          <a:p>
            <a:pPr indent="0" marL="0">
              <a:buNone/>
            </a:pPr>
            <a:r>
              <a:rPr lang="en-US" sz="900" spc="400" kern="0" dirty="0">
                <a:solidFill>
                  <a:srgbClr val="888888"/>
                </a:solidFill>
                <a:latin typeface="Arial" pitchFamily="34" charset="0"/>
                <a:ea typeface="Arial" pitchFamily="34" charset="-122"/>
                <a:cs typeface="Arial" pitchFamily="34" charset="-120"/>
              </a:rPr>
              <a:t>04 — INSIGHTS</a:t>
            </a:r>
            <a:endParaRPr lang="en-US" sz="900" dirty="0"/>
          </a:p>
        </p:txBody>
      </p:sp>
      <p:sp>
        <p:nvSpPr>
          <p:cNvPr id="3" name="Text 1"/>
          <p:cNvSpPr/>
          <p:nvPr/>
        </p:nvSpPr>
        <p:spPr>
          <a:xfrm>
            <a:off x="731520" y="731520"/>
            <a:ext cx="10515600" cy="0"/>
          </a:xfrm>
          <a:prstGeom prst="rect">
            <a:avLst/>
          </a:prstGeom>
          <a:noFill/>
          <a:ln/>
        </p:spPr>
        <p:txBody>
          <a:bodyPr wrap="square" rtlCol="0" anchor="ctr"/>
          <a:lstStyle/>
          <a:p>
            <a:pPr indent="0" marL="0">
              <a:lnSpc>
                <a:spcPct val="110000"/>
              </a:lnSpc>
              <a:buNone/>
            </a:pPr>
            <a:r>
              <a:rPr lang="en-US" sz="1400" b="1" dirty="0">
                <a:solidFill>
                  <a:srgbClr val="FFFFFF"/>
                </a:solidFill>
                <a:latin typeface="Arial" pitchFamily="34" charset="0"/>
                <a:ea typeface="Arial" pitchFamily="34" charset="-122"/>
                <a:cs typeface="Arial" pitchFamily="34" charset="-120"/>
              </a:rPr>
              <a:t>Thlaspi arvense attenuates colitis-associated colorectal tumorigenesis through suppression of neutro…</a:t>
            </a:r>
            <a:endParaRPr lang="en-US" sz="1400" dirty="0"/>
          </a:p>
        </p:txBody>
      </p:sp>
      <p:sp>
        <p:nvSpPr>
          <p:cNvPr id="4" name="Shape 2"/>
          <p:cNvSpPr/>
          <p:nvPr/>
        </p:nvSpPr>
        <p:spPr>
          <a:xfrm>
            <a:off x="731520" y="1280160"/>
            <a:ext cx="2743200" cy="36576"/>
          </a:xfrm>
          <a:prstGeom prst="rect">
            <a:avLst/>
          </a:prstGeom>
          <a:solidFill>
            <a:srgbClr val="2563EB"/>
          </a:solidFill>
          <a:ln/>
        </p:spPr>
      </p:sp>
      <p:sp>
        <p:nvSpPr>
          <p:cNvPr id="5" name="Shape 3"/>
          <p:cNvSpPr/>
          <p:nvPr/>
        </p:nvSpPr>
        <p:spPr>
          <a:xfrm>
            <a:off x="548640" y="1554480"/>
            <a:ext cx="5303520" cy="36576"/>
          </a:xfrm>
          <a:prstGeom prst="rect">
            <a:avLst/>
          </a:prstGeom>
          <a:solidFill>
            <a:srgbClr val="2563EB"/>
          </a:solidFill>
          <a:ln/>
        </p:spPr>
      </p:sp>
      <p:sp>
        <p:nvSpPr>
          <p:cNvPr id="6" name="Text 4"/>
          <p:cNvSpPr/>
          <p:nvPr/>
        </p:nvSpPr>
        <p:spPr>
          <a:xfrm>
            <a:off x="548640" y="1737360"/>
            <a:ext cx="530352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 CLINICAL INSIGHT</a:t>
            </a:r>
            <a:endParaRPr lang="en-US" sz="900" dirty="0"/>
          </a:p>
        </p:txBody>
      </p:sp>
      <p:sp>
        <p:nvSpPr>
          <p:cNvPr id="7" name="Text 5"/>
          <p:cNvSpPr/>
          <p:nvPr/>
        </p:nvSpPr>
        <p:spPr>
          <a:xfrm>
            <a:off x="548640" y="1965960"/>
            <a:ext cx="5303520" cy="0"/>
          </a:xfrm>
          <a:prstGeom prst="rect">
            <a:avLst/>
          </a:prstGeom>
          <a:noFill/>
          <a:ln/>
        </p:spPr>
        <p:txBody>
          <a:bodyPr wrap="square" rtlCol="0" anchor="ctr"/>
          <a:lstStyle/>
          <a:p>
            <a:pPr indent="0" marL="0">
              <a:buNone/>
            </a:pPr>
            <a:r>
              <a:rPr lang="en-US" sz="900" dirty="0">
                <a:solidFill>
                  <a:srgbClr val="888888"/>
                </a:solidFill>
                <a:latin typeface="Microsoft JhengHei" pitchFamily="34" charset="0"/>
                <a:ea typeface="Microsoft JhengHei" pitchFamily="34" charset="-122"/>
                <a:cs typeface="Microsoft JhengHei" pitchFamily="34" charset="-120"/>
              </a:rPr>
              <a:t>臨床啟示</a:t>
            </a:r>
            <a:endParaRPr lang="en-US" sz="900" dirty="0"/>
          </a:p>
        </p:txBody>
      </p:sp>
      <p:sp>
        <p:nvSpPr>
          <p:cNvPr id="8" name="Text 6"/>
          <p:cNvSpPr/>
          <p:nvPr/>
        </p:nvSpPr>
        <p:spPr>
          <a:xfrm>
            <a:off x="548640" y="2286000"/>
            <a:ext cx="5303520" cy="0"/>
          </a:xfrm>
          <a:prstGeom prst="rect">
            <a:avLst/>
          </a:prstGeom>
          <a:noFill/>
          <a:ln/>
        </p:spPr>
        <p:txBody>
          <a:bodyPr wrap="square" rtlCol="0" anchor="ctr"/>
          <a:lstStyle/>
          <a:p>
            <a:pPr indent="0" marL="0">
              <a:lnSpc>
                <a:spcPct val="150000"/>
              </a:lnSpc>
              <a:buNone/>
            </a:pPr>
            <a:r>
              <a:rPr lang="en-US" sz="1800" dirty="0">
                <a:solidFill>
                  <a:srgbClr val="FFFFFF"/>
                </a:solidFill>
              </a:rPr>
              <a:t>EN: Targeting neutrophils may prevent CAC. </a:t>
            </a:r>
            <a:endParaRPr lang="en-US" sz="1800" dirty="0"/>
          </a:p>
          <a:p>
            <a:pPr indent="0" marL="0">
              <a:lnSpc>
                <a:spcPct val="150000"/>
              </a:lnSpc>
              <a:buNone/>
            </a:pPr>
            <a:r>
              <a:rPr lang="en-US" sz="1800" dirty="0">
                <a:solidFill>
                  <a:srgbClr val="FFFFFF"/>
                </a:solidFill>
              </a:rPr>
              <a:t>ZH: 針對中性粒可預防CAC。</a:t>
            </a:r>
            <a:endParaRPr lang="en-US" sz="1800" dirty="0"/>
          </a:p>
        </p:txBody>
      </p:sp>
      <p:sp>
        <p:nvSpPr>
          <p:cNvPr id="9" name="Shape 7"/>
          <p:cNvSpPr/>
          <p:nvPr/>
        </p:nvSpPr>
        <p:spPr>
          <a:xfrm>
            <a:off x="6309360" y="1554480"/>
            <a:ext cx="5303520" cy="36576"/>
          </a:xfrm>
          <a:prstGeom prst="rect">
            <a:avLst/>
          </a:prstGeom>
          <a:solidFill>
            <a:srgbClr val="2563EB"/>
          </a:solidFill>
          <a:ln/>
        </p:spPr>
      </p:sp>
      <p:sp>
        <p:nvSpPr>
          <p:cNvPr id="10" name="Text 8"/>
          <p:cNvSpPr/>
          <p:nvPr/>
        </p:nvSpPr>
        <p:spPr>
          <a:xfrm>
            <a:off x="6309360" y="1737360"/>
            <a:ext cx="530352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 FUTURE DIRECTION</a:t>
            </a:r>
            <a:endParaRPr lang="en-US" sz="900" dirty="0"/>
          </a:p>
        </p:txBody>
      </p:sp>
      <p:sp>
        <p:nvSpPr>
          <p:cNvPr id="11" name="Text 9"/>
          <p:cNvSpPr/>
          <p:nvPr/>
        </p:nvSpPr>
        <p:spPr>
          <a:xfrm>
            <a:off x="6309360" y="1965960"/>
            <a:ext cx="5303520" cy="0"/>
          </a:xfrm>
          <a:prstGeom prst="rect">
            <a:avLst/>
          </a:prstGeom>
          <a:noFill/>
          <a:ln/>
        </p:spPr>
        <p:txBody>
          <a:bodyPr wrap="square" rtlCol="0" anchor="ctr"/>
          <a:lstStyle/>
          <a:p>
            <a:pPr indent="0" marL="0">
              <a:buNone/>
            </a:pPr>
            <a:r>
              <a:rPr lang="en-US" sz="900" dirty="0">
                <a:solidFill>
                  <a:srgbClr val="888888"/>
                </a:solidFill>
                <a:latin typeface="Microsoft JhengHei" pitchFamily="34" charset="0"/>
                <a:ea typeface="Microsoft JhengHei" pitchFamily="34" charset="-122"/>
                <a:cs typeface="Microsoft JhengHei" pitchFamily="34" charset="-120"/>
              </a:rPr>
              <a:t>未來方向</a:t>
            </a:r>
            <a:endParaRPr lang="en-US" sz="900" dirty="0"/>
          </a:p>
        </p:txBody>
      </p:sp>
      <p:sp>
        <p:nvSpPr>
          <p:cNvPr id="12" name="Text 10"/>
          <p:cNvSpPr/>
          <p:nvPr/>
        </p:nvSpPr>
        <p:spPr>
          <a:xfrm>
            <a:off x="6309360" y="2286000"/>
            <a:ext cx="5303520" cy="0"/>
          </a:xfrm>
          <a:prstGeom prst="rect">
            <a:avLst/>
          </a:prstGeom>
          <a:noFill/>
          <a:ln/>
        </p:spPr>
        <p:txBody>
          <a:bodyPr wrap="square" rtlCol="0" anchor="ctr"/>
          <a:lstStyle/>
          <a:p>
            <a:pPr indent="0" marL="0">
              <a:lnSpc>
                <a:spcPct val="150000"/>
              </a:lnSpc>
              <a:buNone/>
            </a:pPr>
            <a:r>
              <a:rPr lang="en-US" sz="1800" dirty="0">
                <a:solidFill>
                  <a:srgbClr val="FFFFFF"/>
                </a:solidFill>
              </a:rPr>
              <a:t>EN: Explore TA in clinical trials. </a:t>
            </a:r>
            <a:endParaRPr lang="en-US" sz="1800" dirty="0"/>
          </a:p>
          <a:p>
            <a:pPr indent="0" marL="0">
              <a:lnSpc>
                <a:spcPct val="150000"/>
              </a:lnSpc>
              <a:buNone/>
            </a:pPr>
            <a:r>
              <a:rPr lang="en-US" sz="1800" dirty="0">
                <a:solidFill>
                  <a:srgbClr val="FFFFFF"/>
                </a:solidFill>
              </a:rPr>
              <a:t>ZH: 探索田野芥菜的臨床應用。</a:t>
            </a:r>
            <a:endParaRPr lang="en-US" sz="1800" dirty="0"/>
          </a:p>
        </p:txBody>
      </p:sp>
      <p:sp>
        <p:nvSpPr>
          <p:cNvPr id="13" name="Text 11">
            <a:hlinkClick r:id="rId1" tooltip=""/>
          </p:cNvPr>
          <p:cNvSpPr/>
          <p:nvPr/>
        </p:nvSpPr>
        <p:spPr>
          <a:xfrm>
            <a:off x="731520" y="6217920"/>
            <a:ext cx="3657600" cy="0"/>
          </a:xfrm>
          <a:prstGeom prst="rect">
            <a:avLst/>
          </a:prstGeom>
          <a:noFill/>
          <a:ln/>
        </p:spPr>
        <p:txBody>
          <a:bodyPr wrap="square" rtlCol="0" anchor="ctr"/>
          <a:lstStyle/>
          <a:p>
            <a:pPr indent="0" marL="0">
              <a:buNone/>
            </a:pPr>
            <a:r>
              <a:rPr lang="en-US" sz="1000" b="1" u="sng" dirty="0">
                <a:solidFill>
                  <a:srgbClr val="DBEAFE"/>
                </a:solidFill>
                <a:hlinkClick r:id="rId1" invalidUrl="" action="" tgtFrame="" tooltip="" history="1" highlightClick="0" endSnd="0">
                  <a:extLst>
                    <a:ext uri="{A12FA001-AC4F-418D-AE19-62706E023703}">
                      <ahyp:hlinkClr xmlns:ahyp="http://schemas.microsoft.com/office/drawing/2018/hyperlinkcolor" val="tx"/>
                    </a:ext>
                  </a:extLst>
                </a:hlinkClick>
              </a:rPr>
              <a:t>📎 View Paper →</a:t>
            </a:r>
            <a:endParaRPr lang="en-US" sz="1000" dirty="0"/>
          </a:p>
        </p:txBody>
      </p:sp>
      <p:sp>
        <p:nvSpPr>
          <p:cNvPr id="14" name="Shape 12"/>
          <p:cNvSpPr/>
          <p:nvPr/>
        </p:nvSpPr>
        <p:spPr>
          <a:xfrm>
            <a:off x="0" y="6803136"/>
            <a:ext cx="12188952" cy="54864"/>
          </a:xfrm>
          <a:prstGeom prst="rect">
            <a:avLst/>
          </a:prstGeom>
          <a:solidFill>
            <a:srgbClr val="2563EB"/>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5486400" cy="0"/>
          </a:xfrm>
          <a:prstGeom prst="rect">
            <a:avLst/>
          </a:prstGeom>
          <a:noFill/>
          <a:ln/>
        </p:spPr>
        <p:txBody>
          <a:bodyPr wrap="square" rtlCol="0" anchor="ctr"/>
          <a:lstStyle/>
          <a:p>
            <a:pPr indent="0" marL="0">
              <a:buNone/>
            </a:pPr>
            <a:r>
              <a:rPr lang="en-US" sz="900" spc="400" kern="0" dirty="0">
                <a:solidFill>
                  <a:srgbClr val="888888"/>
                </a:solidFill>
                <a:latin typeface="Arial" pitchFamily="34" charset="0"/>
                <a:ea typeface="Arial" pitchFamily="34" charset="-122"/>
                <a:cs typeface="Arial" pitchFamily="34" charset="-120"/>
              </a:rPr>
              <a:t>05 — KEY FINDINGS</a:t>
            </a:r>
            <a:endParaRPr lang="en-US" sz="900" dirty="0"/>
          </a:p>
        </p:txBody>
      </p:sp>
      <p:sp>
        <p:nvSpPr>
          <p:cNvPr id="3" name="Text 1"/>
          <p:cNvSpPr/>
          <p:nvPr/>
        </p:nvSpPr>
        <p:spPr>
          <a:xfrm>
            <a:off x="9601200" y="182880"/>
            <a:ext cx="2103120" cy="0"/>
          </a:xfrm>
          <a:prstGeom prst="rect">
            <a:avLst/>
          </a:prstGeom>
          <a:noFill/>
          <a:ln/>
        </p:spPr>
        <p:txBody>
          <a:bodyPr wrap="square" rtlCol="0" anchor="ctr"/>
          <a:lstStyle/>
          <a:p>
            <a:pPr algn="r" indent="0" marL="0">
              <a:buNone/>
            </a:pPr>
            <a:r>
              <a:rPr lang="en-US" sz="4800" b="1" dirty="0">
                <a:solidFill>
                  <a:srgbClr val="DBEAFE"/>
                </a:solidFill>
                <a:latin typeface="Arial" pitchFamily="34" charset="0"/>
                <a:ea typeface="Arial" pitchFamily="34" charset="-122"/>
                <a:cs typeface="Arial" pitchFamily="34" charset="-120"/>
              </a:rPr>
              <a:t>05</a:t>
            </a:r>
            <a:endParaRPr lang="en-US" sz="4800" dirty="0"/>
          </a:p>
        </p:txBody>
      </p:sp>
      <p:sp>
        <p:nvSpPr>
          <p:cNvPr id="4" name="Text 2">
            <a:hlinkClick r:id="rId1" tooltip=""/>
          </p:cNvPr>
          <p:cNvSpPr/>
          <p:nvPr/>
        </p:nvSpPr>
        <p:spPr>
          <a:xfrm>
            <a:off x="731520" y="822960"/>
            <a:ext cx="9144000" cy="0"/>
          </a:xfrm>
          <a:prstGeom prst="rect">
            <a:avLst/>
          </a:prstGeom>
          <a:noFill/>
          <a:ln/>
        </p:spPr>
        <p:txBody>
          <a:bodyPr wrap="square" rtlCol="0" anchor="ctr"/>
          <a:lstStyle/>
          <a:p>
            <a:pPr indent="0" marL="0">
              <a:lnSpc>
                <a:spcPct val="115000"/>
              </a:lnSpc>
              <a:buNone/>
            </a:pPr>
            <a:r>
              <a:rPr lang="en-US" sz="2400" b="1" u="sng" dirty="0">
                <a:solidFill>
                  <a:srgbClr val="111111"/>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Tumor-Derived Alpha-1 Antitrypsin Promotes Liver Metastasis of Colorectal Cancer Through the Neutrophil Extracellular Traps-CCDC25 Pathway.</a:t>
            </a:r>
            <a:endParaRPr lang="en-US" sz="2400" dirty="0"/>
          </a:p>
        </p:txBody>
      </p:sp>
      <p:sp>
        <p:nvSpPr>
          <p:cNvPr id="5" name="Text 3"/>
          <p:cNvSpPr/>
          <p:nvPr/>
        </p:nvSpPr>
        <p:spPr>
          <a:xfrm>
            <a:off x="731520" y="1691640"/>
            <a:ext cx="9144000" cy="0"/>
          </a:xfrm>
          <a:prstGeom prst="rect">
            <a:avLst/>
          </a:prstGeom>
          <a:noFill/>
          <a:ln/>
        </p:spPr>
        <p:txBody>
          <a:bodyPr wrap="square" rtlCol="0" anchor="ctr"/>
          <a:lstStyle/>
          <a:p>
            <a:pPr indent="0" marL="0">
              <a:buNone/>
            </a:pPr>
            <a:r>
              <a:rPr lang="en-US" sz="900" dirty="0">
                <a:solidFill>
                  <a:srgbClr val="888888"/>
                </a:solidFill>
              </a:rPr>
              <a:t>Advanced science (Weinheim, Baden-Wurttemberg, Germany)  ·  Basic Research  ·  2026-04-16</a:t>
            </a:r>
            <a:endParaRPr lang="en-US" sz="900" dirty="0"/>
          </a:p>
        </p:txBody>
      </p:sp>
      <p:sp>
        <p:nvSpPr>
          <p:cNvPr id="6" name="Text 4"/>
          <p:cNvSpPr/>
          <p:nvPr/>
        </p:nvSpPr>
        <p:spPr>
          <a:xfrm>
            <a:off x="731520" y="1920240"/>
            <a:ext cx="9144000" cy="0"/>
          </a:xfrm>
          <a:prstGeom prst="rect">
            <a:avLst/>
          </a:prstGeom>
          <a:noFill/>
          <a:ln/>
        </p:spPr>
        <p:txBody>
          <a:bodyPr wrap="square" rtlCol="0" anchor="ctr"/>
          <a:lstStyle/>
          <a:p>
            <a:pPr indent="0" marL="0">
              <a:buNone/>
            </a:pPr>
            <a:r>
              <a:rPr lang="en-US" sz="900" dirty="0">
                <a:solidFill>
                  <a:srgbClr val="888888"/>
                </a:solidFill>
              </a:rPr>
              <a:t>Fei Qian, Li Chunning, Zhan Lei et al.</a:t>
            </a:r>
            <a:endParaRPr lang="en-US" sz="900" dirty="0"/>
          </a:p>
        </p:txBody>
      </p:sp>
      <p:sp>
        <p:nvSpPr>
          <p:cNvPr id="7" name="Shape 5"/>
          <p:cNvSpPr/>
          <p:nvPr/>
        </p:nvSpPr>
        <p:spPr>
          <a:xfrm>
            <a:off x="731520" y="2194560"/>
            <a:ext cx="10515600" cy="9144"/>
          </a:xfrm>
          <a:prstGeom prst="rect">
            <a:avLst/>
          </a:prstGeom>
          <a:solidFill>
            <a:srgbClr val="E0E0E0"/>
          </a:solidFill>
          <a:ln/>
        </p:spPr>
      </p:sp>
      <p:sp>
        <p:nvSpPr>
          <p:cNvPr id="8" name="Text 6"/>
          <p:cNvSpPr/>
          <p:nvPr/>
        </p:nvSpPr>
        <p:spPr>
          <a:xfrm>
            <a:off x="731520" y="2377440"/>
            <a:ext cx="457200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KEY FINDINGS</a:t>
            </a:r>
            <a:endParaRPr lang="en-US" sz="900" dirty="0"/>
          </a:p>
        </p:txBody>
      </p:sp>
      <p:sp>
        <p:nvSpPr>
          <p:cNvPr id="9" name="Text 7"/>
          <p:cNvSpPr/>
          <p:nvPr/>
        </p:nvSpPr>
        <p:spPr>
          <a:xfrm>
            <a:off x="731520" y="2743200"/>
            <a:ext cx="5029200" cy="0"/>
          </a:xfrm>
          <a:prstGeom prst="rect">
            <a:avLst/>
          </a:prstGeom>
          <a:noFill/>
          <a:ln/>
        </p:spPr>
        <p:txBody>
          <a:bodyPr wrap="square" rtlCol="0" anchor="t"/>
          <a:lstStyle/>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A1AT promotes liver metastasis</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Involves NETs and CCDC25</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A1AT increases CCDC25 expression</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Activates ILK-RAC1-CDC42 pathway</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Potential therapeutic targets identified</a:t>
            </a:r>
            <a:endParaRPr lang="en-US" sz="1800" dirty="0"/>
          </a:p>
        </p:txBody>
      </p:sp>
      <p:sp>
        <p:nvSpPr>
          <p:cNvPr id="10" name="Text 8"/>
          <p:cNvSpPr/>
          <p:nvPr/>
        </p:nvSpPr>
        <p:spPr>
          <a:xfrm>
            <a:off x="6400800" y="2377440"/>
            <a:ext cx="4572000" cy="0"/>
          </a:xfrm>
          <a:prstGeom prst="rect">
            <a:avLst/>
          </a:prstGeom>
          <a:noFill/>
          <a:ln/>
        </p:spPr>
        <p:txBody>
          <a:bodyPr wrap="square" rtlCol="0" anchor="ctr"/>
          <a:lstStyle/>
          <a:p>
            <a:pPr indent="0" marL="0">
              <a:buNone/>
            </a:pPr>
            <a:r>
              <a:rPr lang="en-US" sz="900" b="1" spc="300" kern="0" dirty="0">
                <a:solidFill>
                  <a:srgbClr val="2563EB"/>
                </a:solidFill>
                <a:latin typeface="Microsoft JhengHei" pitchFamily="34" charset="0"/>
                <a:ea typeface="Microsoft JhengHei" pitchFamily="34" charset="-122"/>
                <a:cs typeface="Microsoft JhengHei" pitchFamily="34" charset="-120"/>
              </a:rPr>
              <a:t>重點發現</a:t>
            </a:r>
            <a:endParaRPr lang="en-US" sz="900" dirty="0"/>
          </a:p>
        </p:txBody>
      </p:sp>
      <p:sp>
        <p:nvSpPr>
          <p:cNvPr id="11" name="Text 9"/>
          <p:cNvSpPr/>
          <p:nvPr/>
        </p:nvSpPr>
        <p:spPr>
          <a:xfrm>
            <a:off x="6400800" y="2743200"/>
            <a:ext cx="5029200" cy="0"/>
          </a:xfrm>
          <a:prstGeom prst="rect">
            <a:avLst/>
          </a:prstGeom>
          <a:noFill/>
          <a:ln/>
        </p:spPr>
        <p:txBody>
          <a:bodyPr wrap="square" rtlCol="0" anchor="t"/>
          <a:lstStyle/>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A1AT促進肝轉移</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涉及NETs和CCDC25</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A1AT增加CCDC25表達</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激活ILK-RAC1-CDC42通路</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識別潛在治療靶點</a:t>
            </a:r>
            <a:endParaRPr lang="en-US" sz="1800" dirty="0"/>
          </a:p>
        </p:txBody>
      </p:sp>
      <p:sp>
        <p:nvSpPr>
          <p:cNvPr id="12" name="Text 10">
            <a:hlinkClick r:id="rId2" tooltip=""/>
          </p:cNvPr>
          <p:cNvSpPr/>
          <p:nvPr/>
        </p:nvSpPr>
        <p:spPr>
          <a:xfrm>
            <a:off x="731520" y="6217920"/>
            <a:ext cx="3657600" cy="0"/>
          </a:xfrm>
          <a:prstGeom prst="rect">
            <a:avLst/>
          </a:prstGeom>
          <a:noFill/>
          <a:ln/>
        </p:spPr>
        <p:txBody>
          <a:bodyPr wrap="square" rtlCol="0" anchor="ctr"/>
          <a:lstStyle/>
          <a:p>
            <a:pPr indent="0" marL="0">
              <a:buNone/>
            </a:pPr>
            <a:r>
              <a:rPr lang="en-US" sz="1000" b="1" u="sng" dirty="0">
                <a:solidFill>
                  <a:srgbClr val="2563EB"/>
                </a:solidFill>
                <a:hlinkClick r:id="rId2" invalidUrl="" action="" tgtFrame="" tooltip="" history="1" highlightClick="0" endSnd="0">
                  <a:extLst>
                    <a:ext uri="{A12FA001-AC4F-418D-AE19-62706E023703}">
                      <ahyp:hlinkClr xmlns:ahyp="http://schemas.microsoft.com/office/drawing/2018/hyperlinkcolor" val="tx"/>
                    </a:ext>
                  </a:extLst>
                </a:hlinkClick>
              </a:rPr>
              <a:t>📎 View Paper →</a:t>
            </a:r>
            <a:endParaRPr lang="en-US" sz="1000" dirty="0"/>
          </a:p>
        </p:txBody>
      </p:sp>
      <p:sp>
        <p:nvSpPr>
          <p:cNvPr id="13" name="Shape 11"/>
          <p:cNvSpPr/>
          <p:nvPr/>
        </p:nvSpPr>
        <p:spPr>
          <a:xfrm>
            <a:off x="0" y="6803136"/>
            <a:ext cx="12188952" cy="54864"/>
          </a:xfrm>
          <a:prstGeom prst="rect">
            <a:avLst/>
          </a:prstGeom>
          <a:solidFill>
            <a:srgbClr val="2563EB"/>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365760"/>
            <a:ext cx="5486400" cy="0"/>
          </a:xfrm>
          <a:prstGeom prst="rect">
            <a:avLst/>
          </a:prstGeom>
          <a:noFill/>
          <a:ln/>
        </p:spPr>
        <p:txBody>
          <a:bodyPr wrap="square" rtlCol="0" anchor="ctr"/>
          <a:lstStyle/>
          <a:p>
            <a:pPr indent="0" marL="0">
              <a:buNone/>
            </a:pPr>
            <a:r>
              <a:rPr lang="en-US" sz="900" spc="400" kern="0" dirty="0">
                <a:solidFill>
                  <a:srgbClr val="888888"/>
                </a:solidFill>
                <a:latin typeface="Arial" pitchFamily="34" charset="0"/>
                <a:ea typeface="Arial" pitchFamily="34" charset="-122"/>
                <a:cs typeface="Arial" pitchFamily="34" charset="-120"/>
              </a:rPr>
              <a:t>05 — INSIGHTS</a:t>
            </a:r>
            <a:endParaRPr lang="en-US" sz="900" dirty="0"/>
          </a:p>
        </p:txBody>
      </p:sp>
      <p:sp>
        <p:nvSpPr>
          <p:cNvPr id="3" name="Text 1"/>
          <p:cNvSpPr/>
          <p:nvPr/>
        </p:nvSpPr>
        <p:spPr>
          <a:xfrm>
            <a:off x="731520" y="731520"/>
            <a:ext cx="10515600" cy="0"/>
          </a:xfrm>
          <a:prstGeom prst="rect">
            <a:avLst/>
          </a:prstGeom>
          <a:noFill/>
          <a:ln/>
        </p:spPr>
        <p:txBody>
          <a:bodyPr wrap="square" rtlCol="0" anchor="ctr"/>
          <a:lstStyle/>
          <a:p>
            <a:pPr indent="0" marL="0">
              <a:lnSpc>
                <a:spcPct val="110000"/>
              </a:lnSpc>
              <a:buNone/>
            </a:pPr>
            <a:r>
              <a:rPr lang="en-US" sz="1400" b="1" dirty="0">
                <a:solidFill>
                  <a:srgbClr val="FFFFFF"/>
                </a:solidFill>
                <a:latin typeface="Arial" pitchFamily="34" charset="0"/>
                <a:ea typeface="Arial" pitchFamily="34" charset="-122"/>
                <a:cs typeface="Arial" pitchFamily="34" charset="-120"/>
              </a:rPr>
              <a:t>Tumor-Derived Alpha-1 Antitrypsin Promotes Liver Metastasis of Colorectal Cancer Through the Neutrop…</a:t>
            </a:r>
            <a:endParaRPr lang="en-US" sz="1400" dirty="0"/>
          </a:p>
        </p:txBody>
      </p:sp>
      <p:sp>
        <p:nvSpPr>
          <p:cNvPr id="4" name="Shape 2"/>
          <p:cNvSpPr/>
          <p:nvPr/>
        </p:nvSpPr>
        <p:spPr>
          <a:xfrm>
            <a:off x="731520" y="1280160"/>
            <a:ext cx="2743200" cy="36576"/>
          </a:xfrm>
          <a:prstGeom prst="rect">
            <a:avLst/>
          </a:prstGeom>
          <a:solidFill>
            <a:srgbClr val="2563EB"/>
          </a:solidFill>
          <a:ln/>
        </p:spPr>
      </p:sp>
      <p:sp>
        <p:nvSpPr>
          <p:cNvPr id="5" name="Shape 3"/>
          <p:cNvSpPr/>
          <p:nvPr/>
        </p:nvSpPr>
        <p:spPr>
          <a:xfrm>
            <a:off x="548640" y="1554480"/>
            <a:ext cx="5303520" cy="36576"/>
          </a:xfrm>
          <a:prstGeom prst="rect">
            <a:avLst/>
          </a:prstGeom>
          <a:solidFill>
            <a:srgbClr val="2563EB"/>
          </a:solidFill>
          <a:ln/>
        </p:spPr>
      </p:sp>
      <p:sp>
        <p:nvSpPr>
          <p:cNvPr id="6" name="Text 4"/>
          <p:cNvSpPr/>
          <p:nvPr/>
        </p:nvSpPr>
        <p:spPr>
          <a:xfrm>
            <a:off x="548640" y="1737360"/>
            <a:ext cx="530352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 CLINICAL INSIGHT</a:t>
            </a:r>
            <a:endParaRPr lang="en-US" sz="900" dirty="0"/>
          </a:p>
        </p:txBody>
      </p:sp>
      <p:sp>
        <p:nvSpPr>
          <p:cNvPr id="7" name="Text 5"/>
          <p:cNvSpPr/>
          <p:nvPr/>
        </p:nvSpPr>
        <p:spPr>
          <a:xfrm>
            <a:off x="548640" y="1965960"/>
            <a:ext cx="5303520" cy="0"/>
          </a:xfrm>
          <a:prstGeom prst="rect">
            <a:avLst/>
          </a:prstGeom>
          <a:noFill/>
          <a:ln/>
        </p:spPr>
        <p:txBody>
          <a:bodyPr wrap="square" rtlCol="0" anchor="ctr"/>
          <a:lstStyle/>
          <a:p>
            <a:pPr indent="0" marL="0">
              <a:buNone/>
            </a:pPr>
            <a:r>
              <a:rPr lang="en-US" sz="900" dirty="0">
                <a:solidFill>
                  <a:srgbClr val="888888"/>
                </a:solidFill>
                <a:latin typeface="Microsoft JhengHei" pitchFamily="34" charset="0"/>
                <a:ea typeface="Microsoft JhengHei" pitchFamily="34" charset="-122"/>
                <a:cs typeface="Microsoft JhengHei" pitchFamily="34" charset="-120"/>
              </a:rPr>
              <a:t>臨床啟示</a:t>
            </a:r>
            <a:endParaRPr lang="en-US" sz="900" dirty="0"/>
          </a:p>
        </p:txBody>
      </p:sp>
      <p:sp>
        <p:nvSpPr>
          <p:cNvPr id="8" name="Text 6"/>
          <p:cNvSpPr/>
          <p:nvPr/>
        </p:nvSpPr>
        <p:spPr>
          <a:xfrm>
            <a:off x="548640" y="2286000"/>
            <a:ext cx="5303520" cy="0"/>
          </a:xfrm>
          <a:prstGeom prst="rect">
            <a:avLst/>
          </a:prstGeom>
          <a:noFill/>
          <a:ln/>
        </p:spPr>
        <p:txBody>
          <a:bodyPr wrap="square" rtlCol="0" anchor="ctr"/>
          <a:lstStyle/>
          <a:p>
            <a:pPr indent="0" marL="0">
              <a:lnSpc>
                <a:spcPct val="150000"/>
              </a:lnSpc>
              <a:buNone/>
            </a:pPr>
            <a:r>
              <a:rPr lang="en-US" sz="1800" dirty="0">
                <a:solidFill>
                  <a:srgbClr val="FFFFFF"/>
                </a:solidFill>
              </a:rPr>
              <a:t>EN: A1AT is a key player. </a:t>
            </a:r>
            <a:endParaRPr lang="en-US" sz="1800" dirty="0"/>
          </a:p>
          <a:p>
            <a:pPr indent="0" marL="0">
              <a:lnSpc>
                <a:spcPct val="150000"/>
              </a:lnSpc>
              <a:buNone/>
            </a:pPr>
            <a:r>
              <a:rPr lang="en-US" sz="1800" dirty="0">
                <a:solidFill>
                  <a:srgbClr val="FFFFFF"/>
                </a:solidFill>
              </a:rPr>
              <a:t>ZH: A1AT是關鍵因子。</a:t>
            </a:r>
            <a:endParaRPr lang="en-US" sz="1800" dirty="0"/>
          </a:p>
        </p:txBody>
      </p:sp>
      <p:sp>
        <p:nvSpPr>
          <p:cNvPr id="9" name="Shape 7"/>
          <p:cNvSpPr/>
          <p:nvPr/>
        </p:nvSpPr>
        <p:spPr>
          <a:xfrm>
            <a:off x="6309360" y="1554480"/>
            <a:ext cx="5303520" cy="36576"/>
          </a:xfrm>
          <a:prstGeom prst="rect">
            <a:avLst/>
          </a:prstGeom>
          <a:solidFill>
            <a:srgbClr val="2563EB"/>
          </a:solidFill>
          <a:ln/>
        </p:spPr>
      </p:sp>
      <p:sp>
        <p:nvSpPr>
          <p:cNvPr id="10" name="Text 8"/>
          <p:cNvSpPr/>
          <p:nvPr/>
        </p:nvSpPr>
        <p:spPr>
          <a:xfrm>
            <a:off x="6309360" y="1737360"/>
            <a:ext cx="530352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 FUTURE DIRECTION</a:t>
            </a:r>
            <a:endParaRPr lang="en-US" sz="900" dirty="0"/>
          </a:p>
        </p:txBody>
      </p:sp>
      <p:sp>
        <p:nvSpPr>
          <p:cNvPr id="11" name="Text 9"/>
          <p:cNvSpPr/>
          <p:nvPr/>
        </p:nvSpPr>
        <p:spPr>
          <a:xfrm>
            <a:off x="6309360" y="1965960"/>
            <a:ext cx="5303520" cy="0"/>
          </a:xfrm>
          <a:prstGeom prst="rect">
            <a:avLst/>
          </a:prstGeom>
          <a:noFill/>
          <a:ln/>
        </p:spPr>
        <p:txBody>
          <a:bodyPr wrap="square" rtlCol="0" anchor="ctr"/>
          <a:lstStyle/>
          <a:p>
            <a:pPr indent="0" marL="0">
              <a:buNone/>
            </a:pPr>
            <a:r>
              <a:rPr lang="en-US" sz="900" dirty="0">
                <a:solidFill>
                  <a:srgbClr val="888888"/>
                </a:solidFill>
                <a:latin typeface="Microsoft JhengHei" pitchFamily="34" charset="0"/>
                <a:ea typeface="Microsoft JhengHei" pitchFamily="34" charset="-122"/>
                <a:cs typeface="Microsoft JhengHei" pitchFamily="34" charset="-120"/>
              </a:rPr>
              <a:t>未來方向</a:t>
            </a:r>
            <a:endParaRPr lang="en-US" sz="900" dirty="0"/>
          </a:p>
        </p:txBody>
      </p:sp>
      <p:sp>
        <p:nvSpPr>
          <p:cNvPr id="12" name="Text 10"/>
          <p:cNvSpPr/>
          <p:nvPr/>
        </p:nvSpPr>
        <p:spPr>
          <a:xfrm>
            <a:off x="6309360" y="2286000"/>
            <a:ext cx="5303520" cy="0"/>
          </a:xfrm>
          <a:prstGeom prst="rect">
            <a:avLst/>
          </a:prstGeom>
          <a:noFill/>
          <a:ln/>
        </p:spPr>
        <p:txBody>
          <a:bodyPr wrap="square" rtlCol="0" anchor="ctr"/>
          <a:lstStyle/>
          <a:p>
            <a:pPr indent="0" marL="0">
              <a:lnSpc>
                <a:spcPct val="150000"/>
              </a:lnSpc>
              <a:buNone/>
            </a:pPr>
            <a:r>
              <a:rPr lang="en-US" sz="1800" dirty="0">
                <a:solidFill>
                  <a:srgbClr val="FFFFFF"/>
                </a:solidFill>
              </a:rPr>
              <a:t>EN: Explore A1AT as a target. </a:t>
            </a:r>
            <a:endParaRPr lang="en-US" sz="1800" dirty="0"/>
          </a:p>
          <a:p>
            <a:pPr indent="0" marL="0">
              <a:lnSpc>
                <a:spcPct val="150000"/>
              </a:lnSpc>
              <a:buNone/>
            </a:pPr>
            <a:r>
              <a:rPr lang="en-US" sz="1800" dirty="0">
                <a:solidFill>
                  <a:srgbClr val="FFFFFF"/>
                </a:solidFill>
              </a:rPr>
              <a:t>ZH: 探索A1AT作為靶點。</a:t>
            </a:r>
            <a:endParaRPr lang="en-US" sz="1800" dirty="0"/>
          </a:p>
        </p:txBody>
      </p:sp>
      <p:sp>
        <p:nvSpPr>
          <p:cNvPr id="13" name="Text 11">
            <a:hlinkClick r:id="rId1" tooltip=""/>
          </p:cNvPr>
          <p:cNvSpPr/>
          <p:nvPr/>
        </p:nvSpPr>
        <p:spPr>
          <a:xfrm>
            <a:off x="731520" y="6217920"/>
            <a:ext cx="3657600" cy="0"/>
          </a:xfrm>
          <a:prstGeom prst="rect">
            <a:avLst/>
          </a:prstGeom>
          <a:noFill/>
          <a:ln/>
        </p:spPr>
        <p:txBody>
          <a:bodyPr wrap="square" rtlCol="0" anchor="ctr"/>
          <a:lstStyle/>
          <a:p>
            <a:pPr indent="0" marL="0">
              <a:buNone/>
            </a:pPr>
            <a:r>
              <a:rPr lang="en-US" sz="1000" b="1" u="sng" dirty="0">
                <a:solidFill>
                  <a:srgbClr val="DBEAFE"/>
                </a:solidFill>
                <a:hlinkClick r:id="rId1" invalidUrl="" action="" tgtFrame="" tooltip="" history="1" highlightClick="0" endSnd="0">
                  <a:extLst>
                    <a:ext uri="{A12FA001-AC4F-418D-AE19-62706E023703}">
                      <ahyp:hlinkClr xmlns:ahyp="http://schemas.microsoft.com/office/drawing/2018/hyperlinkcolor" val="tx"/>
                    </a:ext>
                  </a:extLst>
                </a:hlinkClick>
              </a:rPr>
              <a:t>📎 View Paper →</a:t>
            </a:r>
            <a:endParaRPr lang="en-US" sz="1000" dirty="0"/>
          </a:p>
        </p:txBody>
      </p:sp>
      <p:sp>
        <p:nvSpPr>
          <p:cNvPr id="14" name="Shape 12"/>
          <p:cNvSpPr/>
          <p:nvPr/>
        </p:nvSpPr>
        <p:spPr>
          <a:xfrm>
            <a:off x="0" y="6803136"/>
            <a:ext cx="12188952" cy="54864"/>
          </a:xfrm>
          <a:prstGeom prst="rect">
            <a:avLst/>
          </a:prstGeom>
          <a:solidFill>
            <a:srgbClr val="2563EB"/>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5486400" cy="0"/>
          </a:xfrm>
          <a:prstGeom prst="rect">
            <a:avLst/>
          </a:prstGeom>
          <a:noFill/>
          <a:ln/>
        </p:spPr>
        <p:txBody>
          <a:bodyPr wrap="square" rtlCol="0" anchor="ctr"/>
          <a:lstStyle/>
          <a:p>
            <a:pPr indent="0" marL="0">
              <a:buNone/>
            </a:pPr>
            <a:r>
              <a:rPr lang="en-US" sz="900" spc="400" kern="0" dirty="0">
                <a:solidFill>
                  <a:srgbClr val="888888"/>
                </a:solidFill>
                <a:latin typeface="Arial" pitchFamily="34" charset="0"/>
                <a:ea typeface="Arial" pitchFamily="34" charset="-122"/>
                <a:cs typeface="Arial" pitchFamily="34" charset="-120"/>
              </a:rPr>
              <a:t>06 — KEY FINDINGS</a:t>
            </a:r>
            <a:endParaRPr lang="en-US" sz="900" dirty="0"/>
          </a:p>
        </p:txBody>
      </p:sp>
      <p:sp>
        <p:nvSpPr>
          <p:cNvPr id="3" name="Text 1"/>
          <p:cNvSpPr/>
          <p:nvPr/>
        </p:nvSpPr>
        <p:spPr>
          <a:xfrm>
            <a:off x="9601200" y="182880"/>
            <a:ext cx="2103120" cy="0"/>
          </a:xfrm>
          <a:prstGeom prst="rect">
            <a:avLst/>
          </a:prstGeom>
          <a:noFill/>
          <a:ln/>
        </p:spPr>
        <p:txBody>
          <a:bodyPr wrap="square" rtlCol="0" anchor="ctr"/>
          <a:lstStyle/>
          <a:p>
            <a:pPr algn="r" indent="0" marL="0">
              <a:buNone/>
            </a:pPr>
            <a:r>
              <a:rPr lang="en-US" sz="4800" b="1" dirty="0">
                <a:solidFill>
                  <a:srgbClr val="DBEAFE"/>
                </a:solidFill>
                <a:latin typeface="Arial" pitchFamily="34" charset="0"/>
                <a:ea typeface="Arial" pitchFamily="34" charset="-122"/>
                <a:cs typeface="Arial" pitchFamily="34" charset="-120"/>
              </a:rPr>
              <a:t>06</a:t>
            </a:r>
            <a:endParaRPr lang="en-US" sz="4800" dirty="0"/>
          </a:p>
        </p:txBody>
      </p:sp>
      <p:sp>
        <p:nvSpPr>
          <p:cNvPr id="4" name="Text 2">
            <a:hlinkClick r:id="rId1" tooltip=""/>
          </p:cNvPr>
          <p:cNvSpPr/>
          <p:nvPr/>
        </p:nvSpPr>
        <p:spPr>
          <a:xfrm>
            <a:off x="731520" y="822960"/>
            <a:ext cx="9144000" cy="0"/>
          </a:xfrm>
          <a:prstGeom prst="rect">
            <a:avLst/>
          </a:prstGeom>
          <a:noFill/>
          <a:ln/>
        </p:spPr>
        <p:txBody>
          <a:bodyPr wrap="square" rtlCol="0" anchor="ctr"/>
          <a:lstStyle/>
          <a:p>
            <a:pPr indent="0" marL="0">
              <a:lnSpc>
                <a:spcPct val="115000"/>
              </a:lnSpc>
              <a:buNone/>
            </a:pPr>
            <a:r>
              <a:rPr lang="en-US" sz="2400" b="1" u="sng" dirty="0">
                <a:solidFill>
                  <a:srgbClr val="111111"/>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Radioiodination of Two Carborane-Based Dual Cyclooxygenase-2/5-Lipoxygenase Inhibitors and Their In Vitro and In Vivo Evaluation.</a:t>
            </a:r>
            <a:endParaRPr lang="en-US" sz="2400" dirty="0"/>
          </a:p>
        </p:txBody>
      </p:sp>
      <p:sp>
        <p:nvSpPr>
          <p:cNvPr id="5" name="Text 3"/>
          <p:cNvSpPr/>
          <p:nvPr/>
        </p:nvSpPr>
        <p:spPr>
          <a:xfrm>
            <a:off x="731520" y="1691640"/>
            <a:ext cx="9144000" cy="0"/>
          </a:xfrm>
          <a:prstGeom prst="rect">
            <a:avLst/>
          </a:prstGeom>
          <a:noFill/>
          <a:ln/>
        </p:spPr>
        <p:txBody>
          <a:bodyPr wrap="square" rtlCol="0" anchor="ctr"/>
          <a:lstStyle/>
          <a:p>
            <a:pPr indent="0" marL="0">
              <a:buNone/>
            </a:pPr>
            <a:r>
              <a:rPr lang="en-US" sz="900" dirty="0">
                <a:solidFill>
                  <a:srgbClr val="888888"/>
                </a:solidFill>
              </a:rPr>
              <a:t>Chembiochem : a European journal of chemical biology  ·  Basic Research  ·  2026-04-01</a:t>
            </a:r>
            <a:endParaRPr lang="en-US" sz="900" dirty="0"/>
          </a:p>
        </p:txBody>
      </p:sp>
      <p:sp>
        <p:nvSpPr>
          <p:cNvPr id="6" name="Text 4"/>
          <p:cNvSpPr/>
          <p:nvPr/>
        </p:nvSpPr>
        <p:spPr>
          <a:xfrm>
            <a:off x="731520" y="1920240"/>
            <a:ext cx="9144000" cy="0"/>
          </a:xfrm>
          <a:prstGeom prst="rect">
            <a:avLst/>
          </a:prstGeom>
          <a:noFill/>
          <a:ln/>
        </p:spPr>
        <p:txBody>
          <a:bodyPr wrap="square" rtlCol="0" anchor="ctr"/>
          <a:lstStyle/>
          <a:p>
            <a:pPr indent="0" marL="0">
              <a:buNone/>
            </a:pPr>
            <a:r>
              <a:rPr lang="en-US" sz="900" dirty="0">
                <a:solidFill>
                  <a:srgbClr val="888888"/>
                </a:solidFill>
              </a:rPr>
              <a:t>Sch&amp;#xe4;dlich Jonas, Ullrich Martin, Haase-Kohn Cathleen et al.</a:t>
            </a:r>
            <a:endParaRPr lang="en-US" sz="900" dirty="0"/>
          </a:p>
        </p:txBody>
      </p:sp>
      <p:sp>
        <p:nvSpPr>
          <p:cNvPr id="7" name="Shape 5"/>
          <p:cNvSpPr/>
          <p:nvPr/>
        </p:nvSpPr>
        <p:spPr>
          <a:xfrm>
            <a:off x="731520" y="2194560"/>
            <a:ext cx="10515600" cy="9144"/>
          </a:xfrm>
          <a:prstGeom prst="rect">
            <a:avLst/>
          </a:prstGeom>
          <a:solidFill>
            <a:srgbClr val="E0E0E0"/>
          </a:solidFill>
          <a:ln/>
        </p:spPr>
      </p:sp>
      <p:sp>
        <p:nvSpPr>
          <p:cNvPr id="8" name="Text 6"/>
          <p:cNvSpPr/>
          <p:nvPr/>
        </p:nvSpPr>
        <p:spPr>
          <a:xfrm>
            <a:off x="731520" y="2377440"/>
            <a:ext cx="457200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KEY FINDINGS</a:t>
            </a:r>
            <a:endParaRPr lang="en-US" sz="900" dirty="0"/>
          </a:p>
        </p:txBody>
      </p:sp>
      <p:sp>
        <p:nvSpPr>
          <p:cNvPr id="9" name="Text 7"/>
          <p:cNvSpPr/>
          <p:nvPr/>
        </p:nvSpPr>
        <p:spPr>
          <a:xfrm>
            <a:off x="731520" y="2743200"/>
            <a:ext cx="5029200" cy="0"/>
          </a:xfrm>
          <a:prstGeom prst="rect">
            <a:avLst/>
          </a:prstGeom>
          <a:noFill/>
          <a:ln/>
        </p:spPr>
        <p:txBody>
          <a:bodyPr wrap="square" rtlCol="0" anchor="t"/>
          <a:lstStyle/>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COX-2 and 5-LO targets</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Iodinated inhibitors evaluated</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In vitro uptake studies</a:t>
            </a:r>
            <a:endParaRPr lang="en-US" sz="1800" dirty="0"/>
          </a:p>
        </p:txBody>
      </p:sp>
      <p:sp>
        <p:nvSpPr>
          <p:cNvPr id="10" name="Text 8"/>
          <p:cNvSpPr/>
          <p:nvPr/>
        </p:nvSpPr>
        <p:spPr>
          <a:xfrm>
            <a:off x="6400800" y="2377440"/>
            <a:ext cx="4572000" cy="0"/>
          </a:xfrm>
          <a:prstGeom prst="rect">
            <a:avLst/>
          </a:prstGeom>
          <a:noFill/>
          <a:ln/>
        </p:spPr>
        <p:txBody>
          <a:bodyPr wrap="square" rtlCol="0" anchor="ctr"/>
          <a:lstStyle/>
          <a:p>
            <a:pPr indent="0" marL="0">
              <a:buNone/>
            </a:pPr>
            <a:r>
              <a:rPr lang="en-US" sz="900" b="1" spc="300" kern="0" dirty="0">
                <a:solidFill>
                  <a:srgbClr val="2563EB"/>
                </a:solidFill>
                <a:latin typeface="Microsoft JhengHei" pitchFamily="34" charset="0"/>
                <a:ea typeface="Microsoft JhengHei" pitchFamily="34" charset="-122"/>
                <a:cs typeface="Microsoft JhengHei" pitchFamily="34" charset="-120"/>
              </a:rPr>
              <a:t>重點發現</a:t>
            </a:r>
            <a:endParaRPr lang="en-US" sz="900" dirty="0"/>
          </a:p>
        </p:txBody>
      </p:sp>
      <p:sp>
        <p:nvSpPr>
          <p:cNvPr id="11" name="Text 9"/>
          <p:cNvSpPr/>
          <p:nvPr/>
        </p:nvSpPr>
        <p:spPr>
          <a:xfrm>
            <a:off x="6400800" y="2743200"/>
            <a:ext cx="5029200" cy="0"/>
          </a:xfrm>
          <a:prstGeom prst="rect">
            <a:avLst/>
          </a:prstGeom>
          <a:noFill/>
          <a:ln/>
        </p:spPr>
        <p:txBody>
          <a:bodyPr wrap="square" rtlCol="0" anchor="t"/>
          <a:lstStyle/>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COX-2和5-LO為目標</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碘標記抑制劑評估</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體外攝取研究</a:t>
            </a:r>
            <a:endParaRPr lang="en-US" sz="1800" dirty="0"/>
          </a:p>
        </p:txBody>
      </p:sp>
      <p:sp>
        <p:nvSpPr>
          <p:cNvPr id="12" name="Text 10">
            <a:hlinkClick r:id="rId2" tooltip=""/>
          </p:cNvPr>
          <p:cNvSpPr/>
          <p:nvPr/>
        </p:nvSpPr>
        <p:spPr>
          <a:xfrm>
            <a:off x="731520" y="6217920"/>
            <a:ext cx="3657600" cy="0"/>
          </a:xfrm>
          <a:prstGeom prst="rect">
            <a:avLst/>
          </a:prstGeom>
          <a:noFill/>
          <a:ln/>
        </p:spPr>
        <p:txBody>
          <a:bodyPr wrap="square" rtlCol="0" anchor="ctr"/>
          <a:lstStyle/>
          <a:p>
            <a:pPr indent="0" marL="0">
              <a:buNone/>
            </a:pPr>
            <a:r>
              <a:rPr lang="en-US" sz="1000" b="1" u="sng" dirty="0">
                <a:solidFill>
                  <a:srgbClr val="2563EB"/>
                </a:solidFill>
                <a:hlinkClick r:id="rId2" invalidUrl="" action="" tgtFrame="" tooltip="" history="1" highlightClick="0" endSnd="0">
                  <a:extLst>
                    <a:ext uri="{A12FA001-AC4F-418D-AE19-62706E023703}">
                      <ahyp:hlinkClr xmlns:ahyp="http://schemas.microsoft.com/office/drawing/2018/hyperlinkcolor" val="tx"/>
                    </a:ext>
                  </a:extLst>
                </a:hlinkClick>
              </a:rPr>
              <a:t>📎 View Paper →</a:t>
            </a:r>
            <a:endParaRPr lang="en-US" sz="1000" dirty="0"/>
          </a:p>
        </p:txBody>
      </p:sp>
      <p:sp>
        <p:nvSpPr>
          <p:cNvPr id="13" name="Shape 11"/>
          <p:cNvSpPr/>
          <p:nvPr/>
        </p:nvSpPr>
        <p:spPr>
          <a:xfrm>
            <a:off x="0" y="6803136"/>
            <a:ext cx="12188952" cy="54864"/>
          </a:xfrm>
          <a:prstGeom prst="rect">
            <a:avLst/>
          </a:prstGeom>
          <a:solidFill>
            <a:srgbClr val="2563EB"/>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365760"/>
            <a:ext cx="5486400" cy="0"/>
          </a:xfrm>
          <a:prstGeom prst="rect">
            <a:avLst/>
          </a:prstGeom>
          <a:noFill/>
          <a:ln/>
        </p:spPr>
        <p:txBody>
          <a:bodyPr wrap="square" rtlCol="0" anchor="ctr"/>
          <a:lstStyle/>
          <a:p>
            <a:pPr indent="0" marL="0">
              <a:buNone/>
            </a:pPr>
            <a:r>
              <a:rPr lang="en-US" sz="900" spc="400" kern="0" dirty="0">
                <a:solidFill>
                  <a:srgbClr val="888888"/>
                </a:solidFill>
                <a:latin typeface="Arial" pitchFamily="34" charset="0"/>
                <a:ea typeface="Arial" pitchFamily="34" charset="-122"/>
                <a:cs typeface="Arial" pitchFamily="34" charset="-120"/>
              </a:rPr>
              <a:t>06 — INSIGHTS</a:t>
            </a:r>
            <a:endParaRPr lang="en-US" sz="900" dirty="0"/>
          </a:p>
        </p:txBody>
      </p:sp>
      <p:sp>
        <p:nvSpPr>
          <p:cNvPr id="3" name="Text 1"/>
          <p:cNvSpPr/>
          <p:nvPr/>
        </p:nvSpPr>
        <p:spPr>
          <a:xfrm>
            <a:off x="731520" y="731520"/>
            <a:ext cx="10515600" cy="0"/>
          </a:xfrm>
          <a:prstGeom prst="rect">
            <a:avLst/>
          </a:prstGeom>
          <a:noFill/>
          <a:ln/>
        </p:spPr>
        <p:txBody>
          <a:bodyPr wrap="square" rtlCol="0" anchor="ctr"/>
          <a:lstStyle/>
          <a:p>
            <a:pPr indent="0" marL="0">
              <a:lnSpc>
                <a:spcPct val="110000"/>
              </a:lnSpc>
              <a:buNone/>
            </a:pPr>
            <a:r>
              <a:rPr lang="en-US" sz="1400" b="1" dirty="0">
                <a:solidFill>
                  <a:srgbClr val="FFFFFF"/>
                </a:solidFill>
                <a:latin typeface="Arial" pitchFamily="34" charset="0"/>
                <a:ea typeface="Arial" pitchFamily="34" charset="-122"/>
                <a:cs typeface="Arial" pitchFamily="34" charset="-120"/>
              </a:rPr>
              <a:t>Radioiodination of Two Carborane-Based Dual Cyclooxygenase-2/5-Lipoxygenase Inhibitors and Their In …</a:t>
            </a:r>
            <a:endParaRPr lang="en-US" sz="1400" dirty="0"/>
          </a:p>
        </p:txBody>
      </p:sp>
      <p:sp>
        <p:nvSpPr>
          <p:cNvPr id="4" name="Shape 2"/>
          <p:cNvSpPr/>
          <p:nvPr/>
        </p:nvSpPr>
        <p:spPr>
          <a:xfrm>
            <a:off x="731520" y="1280160"/>
            <a:ext cx="2743200" cy="36576"/>
          </a:xfrm>
          <a:prstGeom prst="rect">
            <a:avLst/>
          </a:prstGeom>
          <a:solidFill>
            <a:srgbClr val="2563EB"/>
          </a:solidFill>
          <a:ln/>
        </p:spPr>
      </p:sp>
      <p:sp>
        <p:nvSpPr>
          <p:cNvPr id="5" name="Shape 3"/>
          <p:cNvSpPr/>
          <p:nvPr/>
        </p:nvSpPr>
        <p:spPr>
          <a:xfrm>
            <a:off x="548640" y="1554480"/>
            <a:ext cx="5303520" cy="36576"/>
          </a:xfrm>
          <a:prstGeom prst="rect">
            <a:avLst/>
          </a:prstGeom>
          <a:solidFill>
            <a:srgbClr val="2563EB"/>
          </a:solidFill>
          <a:ln/>
        </p:spPr>
      </p:sp>
      <p:sp>
        <p:nvSpPr>
          <p:cNvPr id="6" name="Text 4"/>
          <p:cNvSpPr/>
          <p:nvPr/>
        </p:nvSpPr>
        <p:spPr>
          <a:xfrm>
            <a:off x="548640" y="1737360"/>
            <a:ext cx="530352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 CLINICAL INSIGHT</a:t>
            </a:r>
            <a:endParaRPr lang="en-US" sz="900" dirty="0"/>
          </a:p>
        </p:txBody>
      </p:sp>
      <p:sp>
        <p:nvSpPr>
          <p:cNvPr id="7" name="Text 5"/>
          <p:cNvSpPr/>
          <p:nvPr/>
        </p:nvSpPr>
        <p:spPr>
          <a:xfrm>
            <a:off x="548640" y="1965960"/>
            <a:ext cx="5303520" cy="0"/>
          </a:xfrm>
          <a:prstGeom prst="rect">
            <a:avLst/>
          </a:prstGeom>
          <a:noFill/>
          <a:ln/>
        </p:spPr>
        <p:txBody>
          <a:bodyPr wrap="square" rtlCol="0" anchor="ctr"/>
          <a:lstStyle/>
          <a:p>
            <a:pPr indent="0" marL="0">
              <a:buNone/>
            </a:pPr>
            <a:r>
              <a:rPr lang="en-US" sz="900" dirty="0">
                <a:solidFill>
                  <a:srgbClr val="888888"/>
                </a:solidFill>
                <a:latin typeface="Microsoft JhengHei" pitchFamily="34" charset="0"/>
                <a:ea typeface="Microsoft JhengHei" pitchFamily="34" charset="-122"/>
                <a:cs typeface="Microsoft JhengHei" pitchFamily="34" charset="-120"/>
              </a:rPr>
              <a:t>臨床啟示</a:t>
            </a:r>
            <a:endParaRPr lang="en-US" sz="900" dirty="0"/>
          </a:p>
        </p:txBody>
      </p:sp>
      <p:sp>
        <p:nvSpPr>
          <p:cNvPr id="8" name="Text 6"/>
          <p:cNvSpPr/>
          <p:nvPr/>
        </p:nvSpPr>
        <p:spPr>
          <a:xfrm>
            <a:off x="548640" y="2286000"/>
            <a:ext cx="5303520" cy="0"/>
          </a:xfrm>
          <a:prstGeom prst="rect">
            <a:avLst/>
          </a:prstGeom>
          <a:noFill/>
          <a:ln/>
        </p:spPr>
        <p:txBody>
          <a:bodyPr wrap="square" rtlCol="0" anchor="ctr"/>
          <a:lstStyle/>
          <a:p>
            <a:pPr indent="0" marL="0">
              <a:lnSpc>
                <a:spcPct val="150000"/>
              </a:lnSpc>
              <a:buNone/>
            </a:pPr>
            <a:r>
              <a:rPr lang="en-US" sz="1800" dirty="0">
                <a:solidFill>
                  <a:srgbClr val="FFFFFF"/>
                </a:solidFill>
              </a:rPr>
              <a:t>EN: Targeting COX-2 and 5-LO. </a:t>
            </a:r>
            <a:endParaRPr lang="en-US" sz="1800" dirty="0"/>
          </a:p>
          <a:p>
            <a:pPr indent="0" marL="0">
              <a:lnSpc>
                <a:spcPct val="150000"/>
              </a:lnSpc>
              <a:buNone/>
            </a:pPr>
            <a:r>
              <a:rPr lang="en-US" sz="1800" dirty="0">
                <a:solidFill>
                  <a:srgbClr val="FFFFFF"/>
                </a:solidFill>
              </a:rPr>
              <a:t>ZH: 針對COX-2和5-LO的治療。</a:t>
            </a:r>
            <a:endParaRPr lang="en-US" sz="1800" dirty="0"/>
          </a:p>
        </p:txBody>
      </p:sp>
      <p:sp>
        <p:nvSpPr>
          <p:cNvPr id="9" name="Shape 7"/>
          <p:cNvSpPr/>
          <p:nvPr/>
        </p:nvSpPr>
        <p:spPr>
          <a:xfrm>
            <a:off x="6309360" y="1554480"/>
            <a:ext cx="5303520" cy="36576"/>
          </a:xfrm>
          <a:prstGeom prst="rect">
            <a:avLst/>
          </a:prstGeom>
          <a:solidFill>
            <a:srgbClr val="2563EB"/>
          </a:solidFill>
          <a:ln/>
        </p:spPr>
      </p:sp>
      <p:sp>
        <p:nvSpPr>
          <p:cNvPr id="10" name="Text 8"/>
          <p:cNvSpPr/>
          <p:nvPr/>
        </p:nvSpPr>
        <p:spPr>
          <a:xfrm>
            <a:off x="6309360" y="1737360"/>
            <a:ext cx="530352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 FUTURE DIRECTION</a:t>
            </a:r>
            <a:endParaRPr lang="en-US" sz="900" dirty="0"/>
          </a:p>
        </p:txBody>
      </p:sp>
      <p:sp>
        <p:nvSpPr>
          <p:cNvPr id="11" name="Text 9"/>
          <p:cNvSpPr/>
          <p:nvPr/>
        </p:nvSpPr>
        <p:spPr>
          <a:xfrm>
            <a:off x="6309360" y="1965960"/>
            <a:ext cx="5303520" cy="0"/>
          </a:xfrm>
          <a:prstGeom prst="rect">
            <a:avLst/>
          </a:prstGeom>
          <a:noFill/>
          <a:ln/>
        </p:spPr>
        <p:txBody>
          <a:bodyPr wrap="square" rtlCol="0" anchor="ctr"/>
          <a:lstStyle/>
          <a:p>
            <a:pPr indent="0" marL="0">
              <a:buNone/>
            </a:pPr>
            <a:r>
              <a:rPr lang="en-US" sz="900" dirty="0">
                <a:solidFill>
                  <a:srgbClr val="888888"/>
                </a:solidFill>
                <a:latin typeface="Microsoft JhengHei" pitchFamily="34" charset="0"/>
                <a:ea typeface="Microsoft JhengHei" pitchFamily="34" charset="-122"/>
                <a:cs typeface="Microsoft JhengHei" pitchFamily="34" charset="-120"/>
              </a:rPr>
              <a:t>未來方向</a:t>
            </a:r>
            <a:endParaRPr lang="en-US" sz="900" dirty="0"/>
          </a:p>
        </p:txBody>
      </p:sp>
      <p:sp>
        <p:nvSpPr>
          <p:cNvPr id="12" name="Text 10"/>
          <p:cNvSpPr/>
          <p:nvPr/>
        </p:nvSpPr>
        <p:spPr>
          <a:xfrm>
            <a:off x="6309360" y="2286000"/>
            <a:ext cx="5303520" cy="0"/>
          </a:xfrm>
          <a:prstGeom prst="rect">
            <a:avLst/>
          </a:prstGeom>
          <a:noFill/>
          <a:ln/>
        </p:spPr>
        <p:txBody>
          <a:bodyPr wrap="square" rtlCol="0" anchor="ctr"/>
          <a:lstStyle/>
          <a:p>
            <a:pPr indent="0" marL="0">
              <a:lnSpc>
                <a:spcPct val="150000"/>
              </a:lnSpc>
              <a:buNone/>
            </a:pPr>
            <a:r>
              <a:rPr lang="en-US" sz="1800" dirty="0">
                <a:solidFill>
                  <a:srgbClr val="FFFFFF"/>
                </a:solidFill>
              </a:rPr>
              <a:t>EN: Improve stability of radiotracers. </a:t>
            </a:r>
            <a:endParaRPr lang="en-US" sz="1800" dirty="0"/>
          </a:p>
          <a:p>
            <a:pPr indent="0" marL="0">
              <a:lnSpc>
                <a:spcPct val="150000"/>
              </a:lnSpc>
              <a:buNone/>
            </a:pPr>
            <a:r>
              <a:rPr lang="en-US" sz="1800" dirty="0">
                <a:solidFill>
                  <a:srgbClr val="FFFFFF"/>
                </a:solidFill>
              </a:rPr>
              <a:t>ZH: 提升放射性示蹤劑穩定性。</a:t>
            </a:r>
            <a:endParaRPr lang="en-US" sz="1800" dirty="0"/>
          </a:p>
        </p:txBody>
      </p:sp>
      <p:sp>
        <p:nvSpPr>
          <p:cNvPr id="13" name="Text 11">
            <a:hlinkClick r:id="rId1" tooltip=""/>
          </p:cNvPr>
          <p:cNvSpPr/>
          <p:nvPr/>
        </p:nvSpPr>
        <p:spPr>
          <a:xfrm>
            <a:off x="731520" y="6217920"/>
            <a:ext cx="3657600" cy="0"/>
          </a:xfrm>
          <a:prstGeom prst="rect">
            <a:avLst/>
          </a:prstGeom>
          <a:noFill/>
          <a:ln/>
        </p:spPr>
        <p:txBody>
          <a:bodyPr wrap="square" rtlCol="0" anchor="ctr"/>
          <a:lstStyle/>
          <a:p>
            <a:pPr indent="0" marL="0">
              <a:buNone/>
            </a:pPr>
            <a:r>
              <a:rPr lang="en-US" sz="1000" b="1" u="sng" dirty="0">
                <a:solidFill>
                  <a:srgbClr val="DBEAFE"/>
                </a:solidFill>
                <a:hlinkClick r:id="rId1" invalidUrl="" action="" tgtFrame="" tooltip="" history="1" highlightClick="0" endSnd="0">
                  <a:extLst>
                    <a:ext uri="{A12FA001-AC4F-418D-AE19-62706E023703}">
                      <ahyp:hlinkClr xmlns:ahyp="http://schemas.microsoft.com/office/drawing/2018/hyperlinkcolor" val="tx"/>
                    </a:ext>
                  </a:extLst>
                </a:hlinkClick>
              </a:rPr>
              <a:t>📎 View Paper →</a:t>
            </a:r>
            <a:endParaRPr lang="en-US" sz="1000" dirty="0"/>
          </a:p>
        </p:txBody>
      </p:sp>
      <p:sp>
        <p:nvSpPr>
          <p:cNvPr id="14" name="Shape 12"/>
          <p:cNvSpPr/>
          <p:nvPr/>
        </p:nvSpPr>
        <p:spPr>
          <a:xfrm>
            <a:off x="0" y="6803136"/>
            <a:ext cx="12188952" cy="54864"/>
          </a:xfrm>
          <a:prstGeom prst="rect">
            <a:avLst/>
          </a:prstGeom>
          <a:solidFill>
            <a:srgbClr val="2563EB"/>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5486400" cy="0"/>
          </a:xfrm>
          <a:prstGeom prst="rect">
            <a:avLst/>
          </a:prstGeom>
          <a:noFill/>
          <a:ln/>
        </p:spPr>
        <p:txBody>
          <a:bodyPr wrap="square" rtlCol="0" anchor="ctr"/>
          <a:lstStyle/>
          <a:p>
            <a:pPr indent="0" marL="0">
              <a:buNone/>
            </a:pPr>
            <a:r>
              <a:rPr lang="en-US" sz="900" spc="400" kern="0" dirty="0">
                <a:solidFill>
                  <a:srgbClr val="888888"/>
                </a:solidFill>
                <a:latin typeface="Arial" pitchFamily="34" charset="0"/>
                <a:ea typeface="Arial" pitchFamily="34" charset="-122"/>
                <a:cs typeface="Arial" pitchFamily="34" charset="-120"/>
              </a:rPr>
              <a:t>07 — KEY FINDINGS</a:t>
            </a:r>
            <a:endParaRPr lang="en-US" sz="900" dirty="0"/>
          </a:p>
        </p:txBody>
      </p:sp>
      <p:sp>
        <p:nvSpPr>
          <p:cNvPr id="3" name="Text 1"/>
          <p:cNvSpPr/>
          <p:nvPr/>
        </p:nvSpPr>
        <p:spPr>
          <a:xfrm>
            <a:off x="9601200" y="182880"/>
            <a:ext cx="2103120" cy="0"/>
          </a:xfrm>
          <a:prstGeom prst="rect">
            <a:avLst/>
          </a:prstGeom>
          <a:noFill/>
          <a:ln/>
        </p:spPr>
        <p:txBody>
          <a:bodyPr wrap="square" rtlCol="0" anchor="ctr"/>
          <a:lstStyle/>
          <a:p>
            <a:pPr algn="r" indent="0" marL="0">
              <a:buNone/>
            </a:pPr>
            <a:r>
              <a:rPr lang="en-US" sz="4800" b="1" dirty="0">
                <a:solidFill>
                  <a:srgbClr val="DBEAFE"/>
                </a:solidFill>
                <a:latin typeface="Arial" pitchFamily="34" charset="0"/>
                <a:ea typeface="Arial" pitchFamily="34" charset="-122"/>
                <a:cs typeface="Arial" pitchFamily="34" charset="-120"/>
              </a:rPr>
              <a:t>07</a:t>
            </a:r>
            <a:endParaRPr lang="en-US" sz="4800" dirty="0"/>
          </a:p>
        </p:txBody>
      </p:sp>
      <p:sp>
        <p:nvSpPr>
          <p:cNvPr id="4" name="Text 2">
            <a:hlinkClick r:id="rId1" tooltip=""/>
          </p:cNvPr>
          <p:cNvSpPr/>
          <p:nvPr/>
        </p:nvSpPr>
        <p:spPr>
          <a:xfrm>
            <a:off x="731520" y="822960"/>
            <a:ext cx="9144000" cy="0"/>
          </a:xfrm>
          <a:prstGeom prst="rect">
            <a:avLst/>
          </a:prstGeom>
          <a:noFill/>
          <a:ln/>
        </p:spPr>
        <p:txBody>
          <a:bodyPr wrap="square" rtlCol="0" anchor="ctr"/>
          <a:lstStyle/>
          <a:p>
            <a:pPr indent="0" marL="0">
              <a:lnSpc>
                <a:spcPct val="115000"/>
              </a:lnSpc>
              <a:buNone/>
            </a:pPr>
            <a:r>
              <a:rPr lang="en-US" sz="2400" b="1" u="sng" dirty="0">
                <a:solidFill>
                  <a:srgbClr val="111111"/>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Sanghuangporus vaninii extract exerts dual anti-tumor effects in colitis-associated colorectal cancer by direct cytotoxicity and macrophage reprogramming via the PPAR&amp;#x3b3;/NF-&amp;#x3ba;B axis.</a:t>
            </a:r>
            <a:endParaRPr lang="en-US" sz="2400" dirty="0"/>
          </a:p>
        </p:txBody>
      </p:sp>
      <p:sp>
        <p:nvSpPr>
          <p:cNvPr id="5" name="Text 3"/>
          <p:cNvSpPr/>
          <p:nvPr/>
        </p:nvSpPr>
        <p:spPr>
          <a:xfrm>
            <a:off x="731520" y="1691640"/>
            <a:ext cx="9144000" cy="0"/>
          </a:xfrm>
          <a:prstGeom prst="rect">
            <a:avLst/>
          </a:prstGeom>
          <a:noFill/>
          <a:ln/>
        </p:spPr>
        <p:txBody>
          <a:bodyPr wrap="square" rtlCol="0" anchor="ctr"/>
          <a:lstStyle/>
          <a:p>
            <a:pPr indent="0" marL="0">
              <a:buNone/>
            </a:pPr>
            <a:r>
              <a:rPr lang="en-US" sz="900" dirty="0">
                <a:solidFill>
                  <a:srgbClr val="888888"/>
                </a:solidFill>
              </a:rPr>
              <a:t>Journal of ethnopharmacology  ·  Basic Research  ·  2026-04-14</a:t>
            </a:r>
            <a:endParaRPr lang="en-US" sz="900" dirty="0"/>
          </a:p>
        </p:txBody>
      </p:sp>
      <p:sp>
        <p:nvSpPr>
          <p:cNvPr id="6" name="Text 4"/>
          <p:cNvSpPr/>
          <p:nvPr/>
        </p:nvSpPr>
        <p:spPr>
          <a:xfrm>
            <a:off x="731520" y="1920240"/>
            <a:ext cx="9144000" cy="0"/>
          </a:xfrm>
          <a:prstGeom prst="rect">
            <a:avLst/>
          </a:prstGeom>
          <a:noFill/>
          <a:ln/>
        </p:spPr>
        <p:txBody>
          <a:bodyPr wrap="square" rtlCol="0" anchor="ctr"/>
          <a:lstStyle/>
          <a:p>
            <a:pPr indent="0" marL="0">
              <a:buNone/>
            </a:pPr>
            <a:r>
              <a:rPr lang="en-US" sz="900" dirty="0">
                <a:solidFill>
                  <a:srgbClr val="888888"/>
                </a:solidFill>
              </a:rPr>
              <a:t>Wang Yuqing, Mao Shangling, Shi Chao et al.</a:t>
            </a:r>
            <a:endParaRPr lang="en-US" sz="900" dirty="0"/>
          </a:p>
        </p:txBody>
      </p:sp>
      <p:sp>
        <p:nvSpPr>
          <p:cNvPr id="7" name="Shape 5"/>
          <p:cNvSpPr/>
          <p:nvPr/>
        </p:nvSpPr>
        <p:spPr>
          <a:xfrm>
            <a:off x="731520" y="2194560"/>
            <a:ext cx="10515600" cy="9144"/>
          </a:xfrm>
          <a:prstGeom prst="rect">
            <a:avLst/>
          </a:prstGeom>
          <a:solidFill>
            <a:srgbClr val="E0E0E0"/>
          </a:solidFill>
          <a:ln/>
        </p:spPr>
      </p:sp>
      <p:sp>
        <p:nvSpPr>
          <p:cNvPr id="8" name="Text 6"/>
          <p:cNvSpPr/>
          <p:nvPr/>
        </p:nvSpPr>
        <p:spPr>
          <a:xfrm>
            <a:off x="731520" y="2377440"/>
            <a:ext cx="457200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KEY FINDINGS</a:t>
            </a:r>
            <a:endParaRPr lang="en-US" sz="900" dirty="0"/>
          </a:p>
        </p:txBody>
      </p:sp>
      <p:sp>
        <p:nvSpPr>
          <p:cNvPr id="9" name="Text 7"/>
          <p:cNvSpPr/>
          <p:nvPr/>
        </p:nvSpPr>
        <p:spPr>
          <a:xfrm>
            <a:off x="731520" y="2743200"/>
            <a:ext cx="5029200" cy="0"/>
          </a:xfrm>
          <a:prstGeom prst="rect">
            <a:avLst/>
          </a:prstGeom>
          <a:noFill/>
          <a:ln/>
        </p:spPr>
        <p:txBody>
          <a:bodyPr wrap="square" rtlCol="0" anchor="t"/>
          <a:lstStyle/>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Sanghuangporus vaninii shows anti-tumor effects</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Inhibits colitis-associated cancer progression</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Modulates macrophage polarization</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Targets PPARγ/NF-κB signaling</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Improves survival in mouse model</a:t>
            </a:r>
            <a:endParaRPr lang="en-US" sz="1800" dirty="0"/>
          </a:p>
        </p:txBody>
      </p:sp>
      <p:sp>
        <p:nvSpPr>
          <p:cNvPr id="10" name="Text 8"/>
          <p:cNvSpPr/>
          <p:nvPr/>
        </p:nvSpPr>
        <p:spPr>
          <a:xfrm>
            <a:off x="6400800" y="2377440"/>
            <a:ext cx="4572000" cy="0"/>
          </a:xfrm>
          <a:prstGeom prst="rect">
            <a:avLst/>
          </a:prstGeom>
          <a:noFill/>
          <a:ln/>
        </p:spPr>
        <p:txBody>
          <a:bodyPr wrap="square" rtlCol="0" anchor="ctr"/>
          <a:lstStyle/>
          <a:p>
            <a:pPr indent="0" marL="0">
              <a:buNone/>
            </a:pPr>
            <a:r>
              <a:rPr lang="en-US" sz="900" b="1" spc="300" kern="0" dirty="0">
                <a:solidFill>
                  <a:srgbClr val="2563EB"/>
                </a:solidFill>
                <a:latin typeface="Microsoft JhengHei" pitchFamily="34" charset="0"/>
                <a:ea typeface="Microsoft JhengHei" pitchFamily="34" charset="-122"/>
                <a:cs typeface="Microsoft JhengHei" pitchFamily="34" charset="-120"/>
              </a:rPr>
              <a:t>重點發現</a:t>
            </a:r>
            <a:endParaRPr lang="en-US" sz="900" dirty="0"/>
          </a:p>
        </p:txBody>
      </p:sp>
      <p:sp>
        <p:nvSpPr>
          <p:cNvPr id="11" name="Text 9"/>
          <p:cNvSpPr/>
          <p:nvPr/>
        </p:nvSpPr>
        <p:spPr>
          <a:xfrm>
            <a:off x="6400800" y="2743200"/>
            <a:ext cx="5029200" cy="0"/>
          </a:xfrm>
          <a:prstGeom prst="rect">
            <a:avLst/>
          </a:prstGeom>
          <a:noFill/>
          <a:ln/>
        </p:spPr>
        <p:txBody>
          <a:bodyPr wrap="square" rtlCol="0" anchor="t"/>
          <a:lstStyle/>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桑黃對腫瘤有抑制作用</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抑制結腸炎相關癌症進展</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調節巨噬細胞極化</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針對PPARγ/NF-κB通路</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提高小鼠生存率</a:t>
            </a:r>
            <a:endParaRPr lang="en-US" sz="1800" dirty="0"/>
          </a:p>
        </p:txBody>
      </p:sp>
      <p:sp>
        <p:nvSpPr>
          <p:cNvPr id="12" name="Text 10">
            <a:hlinkClick r:id="rId2" tooltip=""/>
          </p:cNvPr>
          <p:cNvSpPr/>
          <p:nvPr/>
        </p:nvSpPr>
        <p:spPr>
          <a:xfrm>
            <a:off x="731520" y="6217920"/>
            <a:ext cx="3657600" cy="0"/>
          </a:xfrm>
          <a:prstGeom prst="rect">
            <a:avLst/>
          </a:prstGeom>
          <a:noFill/>
          <a:ln/>
        </p:spPr>
        <p:txBody>
          <a:bodyPr wrap="square" rtlCol="0" anchor="ctr"/>
          <a:lstStyle/>
          <a:p>
            <a:pPr indent="0" marL="0">
              <a:buNone/>
            </a:pPr>
            <a:r>
              <a:rPr lang="en-US" sz="1000" b="1" u="sng" dirty="0">
                <a:solidFill>
                  <a:srgbClr val="2563EB"/>
                </a:solidFill>
                <a:hlinkClick r:id="rId2" invalidUrl="" action="" tgtFrame="" tooltip="" history="1" highlightClick="0" endSnd="0">
                  <a:extLst>
                    <a:ext uri="{A12FA001-AC4F-418D-AE19-62706E023703}">
                      <ahyp:hlinkClr xmlns:ahyp="http://schemas.microsoft.com/office/drawing/2018/hyperlinkcolor" val="tx"/>
                    </a:ext>
                  </a:extLst>
                </a:hlinkClick>
              </a:rPr>
              <a:t>📎 View Paper →</a:t>
            </a:r>
            <a:endParaRPr lang="en-US" sz="1000" dirty="0"/>
          </a:p>
        </p:txBody>
      </p:sp>
      <p:sp>
        <p:nvSpPr>
          <p:cNvPr id="13" name="Shape 11"/>
          <p:cNvSpPr/>
          <p:nvPr/>
        </p:nvSpPr>
        <p:spPr>
          <a:xfrm>
            <a:off x="0" y="6803136"/>
            <a:ext cx="12188952" cy="54864"/>
          </a:xfrm>
          <a:prstGeom prst="rect">
            <a:avLst/>
          </a:prstGeom>
          <a:solidFill>
            <a:srgbClr val="2563EB"/>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365760"/>
            <a:ext cx="5486400" cy="0"/>
          </a:xfrm>
          <a:prstGeom prst="rect">
            <a:avLst/>
          </a:prstGeom>
          <a:noFill/>
          <a:ln/>
        </p:spPr>
        <p:txBody>
          <a:bodyPr wrap="square" rtlCol="0" anchor="ctr"/>
          <a:lstStyle/>
          <a:p>
            <a:pPr indent="0" marL="0">
              <a:buNone/>
            </a:pPr>
            <a:r>
              <a:rPr lang="en-US" sz="900" spc="400" kern="0" dirty="0">
                <a:solidFill>
                  <a:srgbClr val="888888"/>
                </a:solidFill>
                <a:latin typeface="Arial" pitchFamily="34" charset="0"/>
                <a:ea typeface="Arial" pitchFamily="34" charset="-122"/>
                <a:cs typeface="Arial" pitchFamily="34" charset="-120"/>
              </a:rPr>
              <a:t>07 — INSIGHTS</a:t>
            </a:r>
            <a:endParaRPr lang="en-US" sz="900" dirty="0"/>
          </a:p>
        </p:txBody>
      </p:sp>
      <p:sp>
        <p:nvSpPr>
          <p:cNvPr id="3" name="Text 1"/>
          <p:cNvSpPr/>
          <p:nvPr/>
        </p:nvSpPr>
        <p:spPr>
          <a:xfrm>
            <a:off x="731520" y="731520"/>
            <a:ext cx="10515600" cy="0"/>
          </a:xfrm>
          <a:prstGeom prst="rect">
            <a:avLst/>
          </a:prstGeom>
          <a:noFill/>
          <a:ln/>
        </p:spPr>
        <p:txBody>
          <a:bodyPr wrap="square" rtlCol="0" anchor="ctr"/>
          <a:lstStyle/>
          <a:p>
            <a:pPr indent="0" marL="0">
              <a:lnSpc>
                <a:spcPct val="110000"/>
              </a:lnSpc>
              <a:buNone/>
            </a:pPr>
            <a:r>
              <a:rPr lang="en-US" sz="1400" b="1" dirty="0">
                <a:solidFill>
                  <a:srgbClr val="FFFFFF"/>
                </a:solidFill>
                <a:latin typeface="Arial" pitchFamily="34" charset="0"/>
                <a:ea typeface="Arial" pitchFamily="34" charset="-122"/>
                <a:cs typeface="Arial" pitchFamily="34" charset="-120"/>
              </a:rPr>
              <a:t>Sanghuangporus vaninii extract exerts dual anti-tumor effects in colitis-associated colorectal cance…</a:t>
            </a:r>
            <a:endParaRPr lang="en-US" sz="1400" dirty="0"/>
          </a:p>
        </p:txBody>
      </p:sp>
      <p:sp>
        <p:nvSpPr>
          <p:cNvPr id="4" name="Shape 2"/>
          <p:cNvSpPr/>
          <p:nvPr/>
        </p:nvSpPr>
        <p:spPr>
          <a:xfrm>
            <a:off x="731520" y="1280160"/>
            <a:ext cx="2743200" cy="36576"/>
          </a:xfrm>
          <a:prstGeom prst="rect">
            <a:avLst/>
          </a:prstGeom>
          <a:solidFill>
            <a:srgbClr val="2563EB"/>
          </a:solidFill>
          <a:ln/>
        </p:spPr>
      </p:sp>
      <p:sp>
        <p:nvSpPr>
          <p:cNvPr id="5" name="Shape 3"/>
          <p:cNvSpPr/>
          <p:nvPr/>
        </p:nvSpPr>
        <p:spPr>
          <a:xfrm>
            <a:off x="548640" y="1554480"/>
            <a:ext cx="5303520" cy="36576"/>
          </a:xfrm>
          <a:prstGeom prst="rect">
            <a:avLst/>
          </a:prstGeom>
          <a:solidFill>
            <a:srgbClr val="2563EB"/>
          </a:solidFill>
          <a:ln/>
        </p:spPr>
      </p:sp>
      <p:sp>
        <p:nvSpPr>
          <p:cNvPr id="6" name="Text 4"/>
          <p:cNvSpPr/>
          <p:nvPr/>
        </p:nvSpPr>
        <p:spPr>
          <a:xfrm>
            <a:off x="548640" y="1737360"/>
            <a:ext cx="530352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 CLINICAL INSIGHT</a:t>
            </a:r>
            <a:endParaRPr lang="en-US" sz="900" dirty="0"/>
          </a:p>
        </p:txBody>
      </p:sp>
      <p:sp>
        <p:nvSpPr>
          <p:cNvPr id="7" name="Text 5"/>
          <p:cNvSpPr/>
          <p:nvPr/>
        </p:nvSpPr>
        <p:spPr>
          <a:xfrm>
            <a:off x="548640" y="1965960"/>
            <a:ext cx="5303520" cy="0"/>
          </a:xfrm>
          <a:prstGeom prst="rect">
            <a:avLst/>
          </a:prstGeom>
          <a:noFill/>
          <a:ln/>
        </p:spPr>
        <p:txBody>
          <a:bodyPr wrap="square" rtlCol="0" anchor="ctr"/>
          <a:lstStyle/>
          <a:p>
            <a:pPr indent="0" marL="0">
              <a:buNone/>
            </a:pPr>
            <a:r>
              <a:rPr lang="en-US" sz="900" dirty="0">
                <a:solidFill>
                  <a:srgbClr val="888888"/>
                </a:solidFill>
                <a:latin typeface="Microsoft JhengHei" pitchFamily="34" charset="0"/>
                <a:ea typeface="Microsoft JhengHei" pitchFamily="34" charset="-122"/>
                <a:cs typeface="Microsoft JhengHei" pitchFamily="34" charset="-120"/>
              </a:rPr>
              <a:t>臨床啟示</a:t>
            </a:r>
            <a:endParaRPr lang="en-US" sz="900" dirty="0"/>
          </a:p>
        </p:txBody>
      </p:sp>
      <p:sp>
        <p:nvSpPr>
          <p:cNvPr id="8" name="Text 6"/>
          <p:cNvSpPr/>
          <p:nvPr/>
        </p:nvSpPr>
        <p:spPr>
          <a:xfrm>
            <a:off x="548640" y="2286000"/>
            <a:ext cx="5303520" cy="0"/>
          </a:xfrm>
          <a:prstGeom prst="rect">
            <a:avLst/>
          </a:prstGeom>
          <a:noFill/>
          <a:ln/>
        </p:spPr>
        <p:txBody>
          <a:bodyPr wrap="square" rtlCol="0" anchor="ctr"/>
          <a:lstStyle/>
          <a:p>
            <a:pPr indent="0" marL="0">
              <a:lnSpc>
                <a:spcPct val="150000"/>
              </a:lnSpc>
              <a:buNone/>
            </a:pPr>
            <a:r>
              <a:rPr lang="en-US" sz="1800" dirty="0">
                <a:solidFill>
                  <a:srgbClr val="FFFFFF"/>
                </a:solidFill>
              </a:rPr>
              <a:t>EN: Potential for colorectal cancer therapy. </a:t>
            </a:r>
            <a:endParaRPr lang="en-US" sz="1800" dirty="0"/>
          </a:p>
          <a:p>
            <a:pPr indent="0" marL="0">
              <a:lnSpc>
                <a:spcPct val="150000"/>
              </a:lnSpc>
              <a:buNone/>
            </a:pPr>
            <a:r>
              <a:rPr lang="en-US" sz="1800" dirty="0">
                <a:solidFill>
                  <a:srgbClr val="FFFFFF"/>
                </a:solidFill>
              </a:rPr>
              <a:t>ZH: 可能成為結腸癌治療選擇。</a:t>
            </a:r>
            <a:endParaRPr lang="en-US" sz="1800" dirty="0"/>
          </a:p>
        </p:txBody>
      </p:sp>
      <p:sp>
        <p:nvSpPr>
          <p:cNvPr id="9" name="Shape 7"/>
          <p:cNvSpPr/>
          <p:nvPr/>
        </p:nvSpPr>
        <p:spPr>
          <a:xfrm>
            <a:off x="6309360" y="1554480"/>
            <a:ext cx="5303520" cy="36576"/>
          </a:xfrm>
          <a:prstGeom prst="rect">
            <a:avLst/>
          </a:prstGeom>
          <a:solidFill>
            <a:srgbClr val="2563EB"/>
          </a:solidFill>
          <a:ln/>
        </p:spPr>
      </p:sp>
      <p:sp>
        <p:nvSpPr>
          <p:cNvPr id="10" name="Text 8"/>
          <p:cNvSpPr/>
          <p:nvPr/>
        </p:nvSpPr>
        <p:spPr>
          <a:xfrm>
            <a:off x="6309360" y="1737360"/>
            <a:ext cx="530352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 FUTURE DIRECTION</a:t>
            </a:r>
            <a:endParaRPr lang="en-US" sz="900" dirty="0"/>
          </a:p>
        </p:txBody>
      </p:sp>
      <p:sp>
        <p:nvSpPr>
          <p:cNvPr id="11" name="Text 9"/>
          <p:cNvSpPr/>
          <p:nvPr/>
        </p:nvSpPr>
        <p:spPr>
          <a:xfrm>
            <a:off x="6309360" y="1965960"/>
            <a:ext cx="5303520" cy="0"/>
          </a:xfrm>
          <a:prstGeom prst="rect">
            <a:avLst/>
          </a:prstGeom>
          <a:noFill/>
          <a:ln/>
        </p:spPr>
        <p:txBody>
          <a:bodyPr wrap="square" rtlCol="0" anchor="ctr"/>
          <a:lstStyle/>
          <a:p>
            <a:pPr indent="0" marL="0">
              <a:buNone/>
            </a:pPr>
            <a:r>
              <a:rPr lang="en-US" sz="900" dirty="0">
                <a:solidFill>
                  <a:srgbClr val="888888"/>
                </a:solidFill>
                <a:latin typeface="Microsoft JhengHei" pitchFamily="34" charset="0"/>
                <a:ea typeface="Microsoft JhengHei" pitchFamily="34" charset="-122"/>
                <a:cs typeface="Microsoft JhengHei" pitchFamily="34" charset="-120"/>
              </a:rPr>
              <a:t>未來方向</a:t>
            </a:r>
            <a:endParaRPr lang="en-US" sz="900" dirty="0"/>
          </a:p>
        </p:txBody>
      </p:sp>
      <p:sp>
        <p:nvSpPr>
          <p:cNvPr id="12" name="Text 10"/>
          <p:cNvSpPr/>
          <p:nvPr/>
        </p:nvSpPr>
        <p:spPr>
          <a:xfrm>
            <a:off x="6309360" y="2286000"/>
            <a:ext cx="5303520" cy="0"/>
          </a:xfrm>
          <a:prstGeom prst="rect">
            <a:avLst/>
          </a:prstGeom>
          <a:noFill/>
          <a:ln/>
        </p:spPr>
        <p:txBody>
          <a:bodyPr wrap="square" rtlCol="0" anchor="ctr"/>
          <a:lstStyle/>
          <a:p>
            <a:pPr indent="0" marL="0">
              <a:lnSpc>
                <a:spcPct val="150000"/>
              </a:lnSpc>
              <a:buNone/>
            </a:pPr>
            <a:r>
              <a:rPr lang="en-US" sz="1800" dirty="0">
                <a:solidFill>
                  <a:srgbClr val="FFFFFF"/>
                </a:solidFill>
              </a:rPr>
              <a:t>EN: Explore clinical applications further. </a:t>
            </a:r>
            <a:endParaRPr lang="en-US" sz="1800" dirty="0"/>
          </a:p>
          <a:p>
            <a:pPr indent="0" marL="0">
              <a:lnSpc>
                <a:spcPct val="150000"/>
              </a:lnSpc>
              <a:buNone/>
            </a:pPr>
            <a:r>
              <a:rPr lang="en-US" sz="1800" dirty="0">
                <a:solidFill>
                  <a:srgbClr val="FFFFFF"/>
                </a:solidFill>
              </a:rPr>
              <a:t>ZH: 進一步探索臨床應用。</a:t>
            </a:r>
            <a:endParaRPr lang="en-US" sz="1800" dirty="0"/>
          </a:p>
        </p:txBody>
      </p:sp>
      <p:sp>
        <p:nvSpPr>
          <p:cNvPr id="13" name="Text 11">
            <a:hlinkClick r:id="rId1" tooltip=""/>
          </p:cNvPr>
          <p:cNvSpPr/>
          <p:nvPr/>
        </p:nvSpPr>
        <p:spPr>
          <a:xfrm>
            <a:off x="731520" y="6217920"/>
            <a:ext cx="3657600" cy="0"/>
          </a:xfrm>
          <a:prstGeom prst="rect">
            <a:avLst/>
          </a:prstGeom>
          <a:noFill/>
          <a:ln/>
        </p:spPr>
        <p:txBody>
          <a:bodyPr wrap="square" rtlCol="0" anchor="ctr"/>
          <a:lstStyle/>
          <a:p>
            <a:pPr indent="0" marL="0">
              <a:buNone/>
            </a:pPr>
            <a:r>
              <a:rPr lang="en-US" sz="1000" b="1" u="sng" dirty="0">
                <a:solidFill>
                  <a:srgbClr val="DBEAFE"/>
                </a:solidFill>
                <a:hlinkClick r:id="rId1" invalidUrl="" action="" tgtFrame="" tooltip="" history="1" highlightClick="0" endSnd="0">
                  <a:extLst>
                    <a:ext uri="{A12FA001-AC4F-418D-AE19-62706E023703}">
                      <ahyp:hlinkClr xmlns:ahyp="http://schemas.microsoft.com/office/drawing/2018/hyperlinkcolor" val="tx"/>
                    </a:ext>
                  </a:extLst>
                </a:hlinkClick>
              </a:rPr>
              <a:t>📎 View Paper →</a:t>
            </a:r>
            <a:endParaRPr lang="en-US" sz="1000" dirty="0"/>
          </a:p>
        </p:txBody>
      </p:sp>
      <p:sp>
        <p:nvSpPr>
          <p:cNvPr id="14" name="Shape 12"/>
          <p:cNvSpPr/>
          <p:nvPr/>
        </p:nvSpPr>
        <p:spPr>
          <a:xfrm>
            <a:off x="0" y="6803136"/>
            <a:ext cx="12188952" cy="54864"/>
          </a:xfrm>
          <a:prstGeom prst="rect">
            <a:avLst/>
          </a:prstGeom>
          <a:solidFill>
            <a:srgbClr val="2563EB"/>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5486400" cy="0"/>
          </a:xfrm>
          <a:prstGeom prst="rect">
            <a:avLst/>
          </a:prstGeom>
          <a:noFill/>
          <a:ln/>
        </p:spPr>
        <p:txBody>
          <a:bodyPr wrap="square" rtlCol="0" anchor="ctr"/>
          <a:lstStyle/>
          <a:p>
            <a:pPr indent="0" marL="0">
              <a:buNone/>
            </a:pPr>
            <a:r>
              <a:rPr lang="en-US" sz="900" spc="400" kern="0" dirty="0">
                <a:solidFill>
                  <a:srgbClr val="888888"/>
                </a:solidFill>
                <a:latin typeface="Arial" pitchFamily="34" charset="0"/>
                <a:ea typeface="Arial" pitchFamily="34" charset="-122"/>
                <a:cs typeface="Arial" pitchFamily="34" charset="-120"/>
              </a:rPr>
              <a:t>08 — KEY FINDINGS</a:t>
            </a:r>
            <a:endParaRPr lang="en-US" sz="900" dirty="0"/>
          </a:p>
        </p:txBody>
      </p:sp>
      <p:sp>
        <p:nvSpPr>
          <p:cNvPr id="3" name="Text 1"/>
          <p:cNvSpPr/>
          <p:nvPr/>
        </p:nvSpPr>
        <p:spPr>
          <a:xfrm>
            <a:off x="9601200" y="182880"/>
            <a:ext cx="2103120" cy="0"/>
          </a:xfrm>
          <a:prstGeom prst="rect">
            <a:avLst/>
          </a:prstGeom>
          <a:noFill/>
          <a:ln/>
        </p:spPr>
        <p:txBody>
          <a:bodyPr wrap="square" rtlCol="0" anchor="ctr"/>
          <a:lstStyle/>
          <a:p>
            <a:pPr algn="r" indent="0" marL="0">
              <a:buNone/>
            </a:pPr>
            <a:r>
              <a:rPr lang="en-US" sz="4800" b="1" dirty="0">
                <a:solidFill>
                  <a:srgbClr val="DBEAFE"/>
                </a:solidFill>
                <a:latin typeface="Arial" pitchFamily="34" charset="0"/>
                <a:ea typeface="Arial" pitchFamily="34" charset="-122"/>
                <a:cs typeface="Arial" pitchFamily="34" charset="-120"/>
              </a:rPr>
              <a:t>08</a:t>
            </a:r>
            <a:endParaRPr lang="en-US" sz="4800" dirty="0"/>
          </a:p>
        </p:txBody>
      </p:sp>
      <p:sp>
        <p:nvSpPr>
          <p:cNvPr id="4" name="Text 2"/>
          <p:cNvSpPr/>
          <p:nvPr/>
        </p:nvSpPr>
        <p:spPr>
          <a:xfrm>
            <a:off x="731520" y="822960"/>
            <a:ext cx="9144000" cy="0"/>
          </a:xfrm>
          <a:prstGeom prst="rect">
            <a:avLst/>
          </a:prstGeom>
          <a:noFill/>
          <a:ln/>
        </p:spPr>
        <p:txBody>
          <a:bodyPr wrap="square" rtlCol="0" anchor="ctr"/>
          <a:lstStyle/>
          <a:p>
            <a:pPr indent="0" marL="0">
              <a:lnSpc>
                <a:spcPct val="115000"/>
              </a:lnSpc>
              <a:buNone/>
            </a:pPr>
            <a:r>
              <a:rPr lang="en-US" sz="2400" b="1" dirty="0">
                <a:solidFill>
                  <a:srgbClr val="111111"/>
                </a:solidFill>
                <a:latin typeface="Arial" pitchFamily="34" charset="0"/>
                <a:ea typeface="Arial" pitchFamily="34" charset="-122"/>
                <a:cs typeface="Arial" pitchFamily="34" charset="-120"/>
              </a:rPr>
              <a:t>Repurposing PARP inhibitors in molecularly defined subgroups of peritoneal metastatic colorectal cancer (pmCRC): Preclinical analysis of patient-derived xenograft …</a:t>
            </a:r>
            <a:endParaRPr lang="en-US" sz="2400" dirty="0"/>
          </a:p>
        </p:txBody>
      </p:sp>
      <p:sp>
        <p:nvSpPr>
          <p:cNvPr id="5" name="Text 3"/>
          <p:cNvSpPr/>
          <p:nvPr/>
        </p:nvSpPr>
        <p:spPr>
          <a:xfrm>
            <a:off x="731520" y="1691640"/>
            <a:ext cx="9144000" cy="0"/>
          </a:xfrm>
          <a:prstGeom prst="rect">
            <a:avLst/>
          </a:prstGeom>
          <a:noFill/>
          <a:ln/>
        </p:spPr>
        <p:txBody>
          <a:bodyPr wrap="square" rtlCol="0" anchor="ctr"/>
          <a:lstStyle/>
          <a:p>
            <a:pPr indent="0" marL="0">
              <a:buNone/>
            </a:pPr>
            <a:r>
              <a:rPr lang="en-US" sz="900" dirty="0">
                <a:solidFill>
                  <a:srgbClr val="888888"/>
                </a:solidFill>
              </a:rPr>
              <a:t>Cancer …  ·  Basic Research  ·  2026</a:t>
            </a:r>
            <a:endParaRPr lang="en-US" sz="900" dirty="0"/>
          </a:p>
        </p:txBody>
      </p:sp>
      <p:sp>
        <p:nvSpPr>
          <p:cNvPr id="6" name="Text 4"/>
          <p:cNvSpPr/>
          <p:nvPr/>
        </p:nvSpPr>
        <p:spPr>
          <a:xfrm>
            <a:off x="731520" y="1920240"/>
            <a:ext cx="9144000" cy="0"/>
          </a:xfrm>
          <a:prstGeom prst="rect">
            <a:avLst/>
          </a:prstGeom>
          <a:noFill/>
          <a:ln/>
        </p:spPr>
        <p:txBody>
          <a:bodyPr wrap="square" rtlCol="0" anchor="ctr"/>
          <a:lstStyle/>
          <a:p>
            <a:pPr indent="0" marL="0">
              <a:buNone/>
            </a:pPr>
            <a:r>
              <a:rPr lang="en-US" sz="900" dirty="0">
                <a:solidFill>
                  <a:srgbClr val="888888"/>
                </a:solidFill>
              </a:rPr>
              <a:t>M Dahlmann, B Rau, S Gül-Klein</a:t>
            </a:r>
            <a:endParaRPr lang="en-US" sz="900" dirty="0"/>
          </a:p>
        </p:txBody>
      </p:sp>
      <p:sp>
        <p:nvSpPr>
          <p:cNvPr id="7" name="Shape 5"/>
          <p:cNvSpPr/>
          <p:nvPr/>
        </p:nvSpPr>
        <p:spPr>
          <a:xfrm>
            <a:off x="731520" y="2194560"/>
            <a:ext cx="10515600" cy="9144"/>
          </a:xfrm>
          <a:prstGeom prst="rect">
            <a:avLst/>
          </a:prstGeom>
          <a:solidFill>
            <a:srgbClr val="E0E0E0"/>
          </a:solidFill>
          <a:ln/>
        </p:spPr>
      </p:sp>
      <p:sp>
        <p:nvSpPr>
          <p:cNvPr id="8" name="Text 6"/>
          <p:cNvSpPr/>
          <p:nvPr/>
        </p:nvSpPr>
        <p:spPr>
          <a:xfrm>
            <a:off x="731520" y="2377440"/>
            <a:ext cx="457200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KEY FINDINGS</a:t>
            </a:r>
            <a:endParaRPr lang="en-US" sz="900" dirty="0"/>
          </a:p>
        </p:txBody>
      </p:sp>
      <p:sp>
        <p:nvSpPr>
          <p:cNvPr id="9" name="Text 7"/>
          <p:cNvSpPr/>
          <p:nvPr/>
        </p:nvSpPr>
        <p:spPr>
          <a:xfrm>
            <a:off x="731520" y="2743200"/>
            <a:ext cx="5029200" cy="0"/>
          </a:xfrm>
          <a:prstGeom prst="rect">
            <a:avLst/>
          </a:prstGeom>
          <a:noFill/>
          <a:ln/>
        </p:spPr>
        <p:txBody>
          <a:bodyPr wrap="square" rtlCol="0" anchor="t"/>
          <a:lstStyle/>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PARP inhibitors show promise</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Targeting specific subgroups</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Preclinical patient-derived models</a:t>
            </a:r>
            <a:endParaRPr lang="en-US" sz="1800" dirty="0"/>
          </a:p>
        </p:txBody>
      </p:sp>
      <p:sp>
        <p:nvSpPr>
          <p:cNvPr id="10" name="Text 8"/>
          <p:cNvSpPr/>
          <p:nvPr/>
        </p:nvSpPr>
        <p:spPr>
          <a:xfrm>
            <a:off x="6400800" y="2377440"/>
            <a:ext cx="4572000" cy="0"/>
          </a:xfrm>
          <a:prstGeom prst="rect">
            <a:avLst/>
          </a:prstGeom>
          <a:noFill/>
          <a:ln/>
        </p:spPr>
        <p:txBody>
          <a:bodyPr wrap="square" rtlCol="0" anchor="ctr"/>
          <a:lstStyle/>
          <a:p>
            <a:pPr indent="0" marL="0">
              <a:buNone/>
            </a:pPr>
            <a:r>
              <a:rPr lang="en-US" sz="900" b="1" spc="300" kern="0" dirty="0">
                <a:solidFill>
                  <a:srgbClr val="2563EB"/>
                </a:solidFill>
                <a:latin typeface="Microsoft JhengHei" pitchFamily="34" charset="0"/>
                <a:ea typeface="Microsoft JhengHei" pitchFamily="34" charset="-122"/>
                <a:cs typeface="Microsoft JhengHei" pitchFamily="34" charset="-120"/>
              </a:rPr>
              <a:t>重點發現</a:t>
            </a:r>
            <a:endParaRPr lang="en-US" sz="900" dirty="0"/>
          </a:p>
        </p:txBody>
      </p:sp>
      <p:sp>
        <p:nvSpPr>
          <p:cNvPr id="11" name="Text 9"/>
          <p:cNvSpPr/>
          <p:nvPr/>
        </p:nvSpPr>
        <p:spPr>
          <a:xfrm>
            <a:off x="6400800" y="2743200"/>
            <a:ext cx="5029200" cy="0"/>
          </a:xfrm>
          <a:prstGeom prst="rect">
            <a:avLst/>
          </a:prstGeom>
          <a:noFill/>
          <a:ln/>
        </p:spPr>
        <p:txBody>
          <a:bodyPr wrap="square" rtlCol="0" anchor="t"/>
          <a:lstStyle/>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PARP 抑制劑顯示潛力</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針對特定亞群</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臨床前患者衍生模型</a:t>
            </a:r>
            <a:endParaRPr lang="en-US" sz="1800" dirty="0"/>
          </a:p>
        </p:txBody>
      </p:sp>
      <p:sp>
        <p:nvSpPr>
          <p:cNvPr id="12" name="Shape 10"/>
          <p:cNvSpPr/>
          <p:nvPr/>
        </p:nvSpPr>
        <p:spPr>
          <a:xfrm>
            <a:off x="0" y="6803136"/>
            <a:ext cx="12188952" cy="54864"/>
          </a:xfrm>
          <a:prstGeom prst="rect">
            <a:avLst/>
          </a:prstGeom>
          <a:solidFill>
            <a:srgbClr val="2563EB"/>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365760"/>
            <a:ext cx="5486400" cy="0"/>
          </a:xfrm>
          <a:prstGeom prst="rect">
            <a:avLst/>
          </a:prstGeom>
          <a:noFill/>
          <a:ln/>
        </p:spPr>
        <p:txBody>
          <a:bodyPr wrap="square" rtlCol="0" anchor="ctr"/>
          <a:lstStyle/>
          <a:p>
            <a:pPr indent="0" marL="0">
              <a:buNone/>
            </a:pPr>
            <a:r>
              <a:rPr lang="en-US" sz="900" spc="400" kern="0" dirty="0">
                <a:solidFill>
                  <a:srgbClr val="888888"/>
                </a:solidFill>
                <a:latin typeface="Arial" pitchFamily="34" charset="0"/>
                <a:ea typeface="Arial" pitchFamily="34" charset="-122"/>
                <a:cs typeface="Arial" pitchFamily="34" charset="-120"/>
              </a:rPr>
              <a:t>08 — INSIGHTS</a:t>
            </a:r>
            <a:endParaRPr lang="en-US" sz="900" dirty="0"/>
          </a:p>
        </p:txBody>
      </p:sp>
      <p:sp>
        <p:nvSpPr>
          <p:cNvPr id="3" name="Text 1"/>
          <p:cNvSpPr/>
          <p:nvPr/>
        </p:nvSpPr>
        <p:spPr>
          <a:xfrm>
            <a:off x="731520" y="731520"/>
            <a:ext cx="10515600" cy="0"/>
          </a:xfrm>
          <a:prstGeom prst="rect">
            <a:avLst/>
          </a:prstGeom>
          <a:noFill/>
          <a:ln/>
        </p:spPr>
        <p:txBody>
          <a:bodyPr wrap="square" rtlCol="0" anchor="ctr"/>
          <a:lstStyle/>
          <a:p>
            <a:pPr indent="0" marL="0">
              <a:lnSpc>
                <a:spcPct val="110000"/>
              </a:lnSpc>
              <a:buNone/>
            </a:pPr>
            <a:r>
              <a:rPr lang="en-US" sz="1400" b="1" dirty="0">
                <a:solidFill>
                  <a:srgbClr val="FFFFFF"/>
                </a:solidFill>
                <a:latin typeface="Arial" pitchFamily="34" charset="0"/>
                <a:ea typeface="Arial" pitchFamily="34" charset="-122"/>
                <a:cs typeface="Arial" pitchFamily="34" charset="-120"/>
              </a:rPr>
              <a:t>Repurposing PARP inhibitors in molecularly defined subgroups of peritoneal metastatic colorectal can…</a:t>
            </a:r>
            <a:endParaRPr lang="en-US" sz="1400" dirty="0"/>
          </a:p>
        </p:txBody>
      </p:sp>
      <p:sp>
        <p:nvSpPr>
          <p:cNvPr id="4" name="Shape 2"/>
          <p:cNvSpPr/>
          <p:nvPr/>
        </p:nvSpPr>
        <p:spPr>
          <a:xfrm>
            <a:off x="731520" y="1280160"/>
            <a:ext cx="2743200" cy="36576"/>
          </a:xfrm>
          <a:prstGeom prst="rect">
            <a:avLst/>
          </a:prstGeom>
          <a:solidFill>
            <a:srgbClr val="2563EB"/>
          </a:solidFill>
          <a:ln/>
        </p:spPr>
      </p:sp>
      <p:sp>
        <p:nvSpPr>
          <p:cNvPr id="5" name="Shape 3"/>
          <p:cNvSpPr/>
          <p:nvPr/>
        </p:nvSpPr>
        <p:spPr>
          <a:xfrm>
            <a:off x="548640" y="1554480"/>
            <a:ext cx="5303520" cy="36576"/>
          </a:xfrm>
          <a:prstGeom prst="rect">
            <a:avLst/>
          </a:prstGeom>
          <a:solidFill>
            <a:srgbClr val="2563EB"/>
          </a:solidFill>
          <a:ln/>
        </p:spPr>
      </p:sp>
      <p:sp>
        <p:nvSpPr>
          <p:cNvPr id="6" name="Text 4"/>
          <p:cNvSpPr/>
          <p:nvPr/>
        </p:nvSpPr>
        <p:spPr>
          <a:xfrm>
            <a:off x="548640" y="1737360"/>
            <a:ext cx="530352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 CLINICAL INSIGHT</a:t>
            </a:r>
            <a:endParaRPr lang="en-US" sz="900" dirty="0"/>
          </a:p>
        </p:txBody>
      </p:sp>
      <p:sp>
        <p:nvSpPr>
          <p:cNvPr id="7" name="Text 5"/>
          <p:cNvSpPr/>
          <p:nvPr/>
        </p:nvSpPr>
        <p:spPr>
          <a:xfrm>
            <a:off x="548640" y="1965960"/>
            <a:ext cx="5303520" cy="0"/>
          </a:xfrm>
          <a:prstGeom prst="rect">
            <a:avLst/>
          </a:prstGeom>
          <a:noFill/>
          <a:ln/>
        </p:spPr>
        <p:txBody>
          <a:bodyPr wrap="square" rtlCol="0" anchor="ctr"/>
          <a:lstStyle/>
          <a:p>
            <a:pPr indent="0" marL="0">
              <a:buNone/>
            </a:pPr>
            <a:r>
              <a:rPr lang="en-US" sz="900" dirty="0">
                <a:solidFill>
                  <a:srgbClr val="888888"/>
                </a:solidFill>
                <a:latin typeface="Microsoft JhengHei" pitchFamily="34" charset="0"/>
                <a:ea typeface="Microsoft JhengHei" pitchFamily="34" charset="-122"/>
                <a:cs typeface="Microsoft JhengHei" pitchFamily="34" charset="-120"/>
              </a:rPr>
              <a:t>臨床啟示</a:t>
            </a:r>
            <a:endParaRPr lang="en-US" sz="900" dirty="0"/>
          </a:p>
        </p:txBody>
      </p:sp>
      <p:sp>
        <p:nvSpPr>
          <p:cNvPr id="8" name="Text 6"/>
          <p:cNvSpPr/>
          <p:nvPr/>
        </p:nvSpPr>
        <p:spPr>
          <a:xfrm>
            <a:off x="548640" y="2286000"/>
            <a:ext cx="5303520" cy="0"/>
          </a:xfrm>
          <a:prstGeom prst="rect">
            <a:avLst/>
          </a:prstGeom>
          <a:noFill/>
          <a:ln/>
        </p:spPr>
        <p:txBody>
          <a:bodyPr wrap="square" rtlCol="0" anchor="ctr"/>
          <a:lstStyle/>
          <a:p>
            <a:pPr indent="0" marL="0">
              <a:lnSpc>
                <a:spcPct val="150000"/>
              </a:lnSpc>
              <a:buNone/>
            </a:pPr>
            <a:r>
              <a:rPr lang="en-US" sz="1800" dirty="0">
                <a:solidFill>
                  <a:srgbClr val="FFFFFF"/>
                </a:solidFill>
              </a:rPr>
              <a:t>EN: Targeted therapies improve outcomes. </a:t>
            </a:r>
            <a:endParaRPr lang="en-US" sz="1800" dirty="0"/>
          </a:p>
          <a:p>
            <a:pPr indent="0" marL="0">
              <a:lnSpc>
                <a:spcPct val="150000"/>
              </a:lnSpc>
              <a:buNone/>
            </a:pPr>
            <a:r>
              <a:rPr lang="en-US" sz="1800" dirty="0">
                <a:solidFill>
                  <a:srgbClr val="FFFFFF"/>
                </a:solidFill>
              </a:rPr>
              <a:t>ZH: 針對性療法可改善預後。</a:t>
            </a:r>
            <a:endParaRPr lang="en-US" sz="1800" dirty="0"/>
          </a:p>
        </p:txBody>
      </p:sp>
      <p:sp>
        <p:nvSpPr>
          <p:cNvPr id="9" name="Shape 7"/>
          <p:cNvSpPr/>
          <p:nvPr/>
        </p:nvSpPr>
        <p:spPr>
          <a:xfrm>
            <a:off x="6309360" y="1554480"/>
            <a:ext cx="5303520" cy="36576"/>
          </a:xfrm>
          <a:prstGeom prst="rect">
            <a:avLst/>
          </a:prstGeom>
          <a:solidFill>
            <a:srgbClr val="2563EB"/>
          </a:solidFill>
          <a:ln/>
        </p:spPr>
      </p:sp>
      <p:sp>
        <p:nvSpPr>
          <p:cNvPr id="10" name="Text 8"/>
          <p:cNvSpPr/>
          <p:nvPr/>
        </p:nvSpPr>
        <p:spPr>
          <a:xfrm>
            <a:off x="6309360" y="1737360"/>
            <a:ext cx="530352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 FUTURE DIRECTION</a:t>
            </a:r>
            <a:endParaRPr lang="en-US" sz="900" dirty="0"/>
          </a:p>
        </p:txBody>
      </p:sp>
      <p:sp>
        <p:nvSpPr>
          <p:cNvPr id="11" name="Text 9"/>
          <p:cNvSpPr/>
          <p:nvPr/>
        </p:nvSpPr>
        <p:spPr>
          <a:xfrm>
            <a:off x="6309360" y="1965960"/>
            <a:ext cx="5303520" cy="0"/>
          </a:xfrm>
          <a:prstGeom prst="rect">
            <a:avLst/>
          </a:prstGeom>
          <a:noFill/>
          <a:ln/>
        </p:spPr>
        <p:txBody>
          <a:bodyPr wrap="square" rtlCol="0" anchor="ctr"/>
          <a:lstStyle/>
          <a:p>
            <a:pPr indent="0" marL="0">
              <a:buNone/>
            </a:pPr>
            <a:r>
              <a:rPr lang="en-US" sz="900" dirty="0">
                <a:solidFill>
                  <a:srgbClr val="888888"/>
                </a:solidFill>
                <a:latin typeface="Microsoft JhengHei" pitchFamily="34" charset="0"/>
                <a:ea typeface="Microsoft JhengHei" pitchFamily="34" charset="-122"/>
                <a:cs typeface="Microsoft JhengHei" pitchFamily="34" charset="-120"/>
              </a:rPr>
              <a:t>未來方向</a:t>
            </a:r>
            <a:endParaRPr lang="en-US" sz="900" dirty="0"/>
          </a:p>
        </p:txBody>
      </p:sp>
      <p:sp>
        <p:nvSpPr>
          <p:cNvPr id="12" name="Text 10"/>
          <p:cNvSpPr/>
          <p:nvPr/>
        </p:nvSpPr>
        <p:spPr>
          <a:xfrm>
            <a:off x="6309360" y="2286000"/>
            <a:ext cx="5303520" cy="0"/>
          </a:xfrm>
          <a:prstGeom prst="rect">
            <a:avLst/>
          </a:prstGeom>
          <a:noFill/>
          <a:ln/>
        </p:spPr>
        <p:txBody>
          <a:bodyPr wrap="square" rtlCol="0" anchor="ctr"/>
          <a:lstStyle/>
          <a:p>
            <a:pPr indent="0" marL="0">
              <a:lnSpc>
                <a:spcPct val="150000"/>
              </a:lnSpc>
              <a:buNone/>
            </a:pPr>
            <a:r>
              <a:rPr lang="en-US" sz="1800" dirty="0">
                <a:solidFill>
                  <a:srgbClr val="FFFFFF"/>
                </a:solidFill>
              </a:rPr>
              <a:t>EN: Explore combination therapies further. </a:t>
            </a:r>
            <a:endParaRPr lang="en-US" sz="1800" dirty="0"/>
          </a:p>
          <a:p>
            <a:pPr indent="0" marL="0">
              <a:lnSpc>
                <a:spcPct val="150000"/>
              </a:lnSpc>
              <a:buNone/>
            </a:pPr>
            <a:r>
              <a:rPr lang="en-US" sz="1800" dirty="0">
                <a:solidFill>
                  <a:srgbClr val="FFFFFF"/>
                </a:solidFill>
              </a:rPr>
              <a:t>ZH: 進一步探索聯合療法。</a:t>
            </a:r>
            <a:endParaRPr lang="en-US" sz="1800" dirty="0"/>
          </a:p>
        </p:txBody>
      </p:sp>
      <p:sp>
        <p:nvSpPr>
          <p:cNvPr id="13" name="Shape 11"/>
          <p:cNvSpPr/>
          <p:nvPr/>
        </p:nvSpPr>
        <p:spPr>
          <a:xfrm>
            <a:off x="0" y="6803136"/>
            <a:ext cx="12188952" cy="54864"/>
          </a:xfrm>
          <a:prstGeom prst="rect">
            <a:avLst/>
          </a:prstGeom>
          <a:solidFill>
            <a:srgbClr val="2563EB"/>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5486400" cy="0"/>
          </a:xfrm>
          <a:prstGeom prst="rect">
            <a:avLst/>
          </a:prstGeom>
          <a:noFill/>
          <a:ln/>
        </p:spPr>
        <p:txBody>
          <a:bodyPr wrap="square" rtlCol="0" anchor="ctr"/>
          <a:lstStyle/>
          <a:p>
            <a:pPr indent="0" marL="0">
              <a:buNone/>
            </a:pPr>
            <a:r>
              <a:rPr lang="en-US" sz="900" spc="400" kern="0" dirty="0">
                <a:solidFill>
                  <a:srgbClr val="888888"/>
                </a:solidFill>
                <a:latin typeface="Arial" pitchFamily="34" charset="0"/>
                <a:ea typeface="Arial" pitchFamily="34" charset="-122"/>
                <a:cs typeface="Arial" pitchFamily="34" charset="-120"/>
              </a:rPr>
              <a:t>09 — KEY FINDINGS</a:t>
            </a:r>
            <a:endParaRPr lang="en-US" sz="900" dirty="0"/>
          </a:p>
        </p:txBody>
      </p:sp>
      <p:sp>
        <p:nvSpPr>
          <p:cNvPr id="3" name="Text 1"/>
          <p:cNvSpPr/>
          <p:nvPr/>
        </p:nvSpPr>
        <p:spPr>
          <a:xfrm>
            <a:off x="9601200" y="182880"/>
            <a:ext cx="2103120" cy="0"/>
          </a:xfrm>
          <a:prstGeom prst="rect">
            <a:avLst/>
          </a:prstGeom>
          <a:noFill/>
          <a:ln/>
        </p:spPr>
        <p:txBody>
          <a:bodyPr wrap="square" rtlCol="0" anchor="ctr"/>
          <a:lstStyle/>
          <a:p>
            <a:pPr algn="r" indent="0" marL="0">
              <a:buNone/>
            </a:pPr>
            <a:r>
              <a:rPr lang="en-US" sz="4800" b="1" dirty="0">
                <a:solidFill>
                  <a:srgbClr val="DBEAFE"/>
                </a:solidFill>
                <a:latin typeface="Arial" pitchFamily="34" charset="0"/>
                <a:ea typeface="Arial" pitchFamily="34" charset="-122"/>
                <a:cs typeface="Arial" pitchFamily="34" charset="-120"/>
              </a:rPr>
              <a:t>09</a:t>
            </a:r>
            <a:endParaRPr lang="en-US" sz="4800" dirty="0"/>
          </a:p>
        </p:txBody>
      </p:sp>
      <p:sp>
        <p:nvSpPr>
          <p:cNvPr id="4" name="Text 2"/>
          <p:cNvSpPr/>
          <p:nvPr/>
        </p:nvSpPr>
        <p:spPr>
          <a:xfrm>
            <a:off x="731520" y="822960"/>
            <a:ext cx="9144000" cy="0"/>
          </a:xfrm>
          <a:prstGeom prst="rect">
            <a:avLst/>
          </a:prstGeom>
          <a:noFill/>
          <a:ln/>
        </p:spPr>
        <p:txBody>
          <a:bodyPr wrap="square" rtlCol="0" anchor="ctr"/>
          <a:lstStyle/>
          <a:p>
            <a:pPr indent="0" marL="0">
              <a:lnSpc>
                <a:spcPct val="115000"/>
              </a:lnSpc>
              <a:buNone/>
            </a:pPr>
            <a:r>
              <a:rPr lang="en-US" sz="2400" b="1" dirty="0">
                <a:solidFill>
                  <a:srgbClr val="111111"/>
                </a:solidFill>
                <a:latin typeface="Arial" pitchFamily="34" charset="0"/>
                <a:ea typeface="Arial" pitchFamily="34" charset="-122"/>
                <a:cs typeface="Arial" pitchFamily="34" charset="-120"/>
              </a:rPr>
              <a:t>The Mechanism of Acetyl-L-Carnitine on Colorectal Cancer and Its Metabolomic Study</a:t>
            </a:r>
            <a:endParaRPr lang="en-US" sz="2400" dirty="0"/>
          </a:p>
        </p:txBody>
      </p:sp>
      <p:sp>
        <p:nvSpPr>
          <p:cNvPr id="5" name="Text 3"/>
          <p:cNvSpPr/>
          <p:nvPr/>
        </p:nvSpPr>
        <p:spPr>
          <a:xfrm>
            <a:off x="731520" y="1691640"/>
            <a:ext cx="9144000" cy="0"/>
          </a:xfrm>
          <a:prstGeom prst="rect">
            <a:avLst/>
          </a:prstGeom>
          <a:noFill/>
          <a:ln/>
        </p:spPr>
        <p:txBody>
          <a:bodyPr wrap="square" rtlCol="0" anchor="ctr"/>
          <a:lstStyle/>
          <a:p>
            <a:pPr indent="0" marL="0">
              <a:buNone/>
            </a:pPr>
            <a:r>
              <a:rPr lang="en-US" sz="900" dirty="0">
                <a:solidFill>
                  <a:srgbClr val="888888"/>
                </a:solidFill>
              </a:rPr>
              <a:t>Journal of Pharmaceutical and …  ·  Basic Research  ·  2026</a:t>
            </a:r>
            <a:endParaRPr lang="en-US" sz="900" dirty="0"/>
          </a:p>
        </p:txBody>
      </p:sp>
      <p:sp>
        <p:nvSpPr>
          <p:cNvPr id="6" name="Text 4"/>
          <p:cNvSpPr/>
          <p:nvPr/>
        </p:nvSpPr>
        <p:spPr>
          <a:xfrm>
            <a:off x="731520" y="1920240"/>
            <a:ext cx="9144000" cy="0"/>
          </a:xfrm>
          <a:prstGeom prst="rect">
            <a:avLst/>
          </a:prstGeom>
          <a:noFill/>
          <a:ln/>
        </p:spPr>
        <p:txBody>
          <a:bodyPr wrap="square" rtlCol="0" anchor="ctr"/>
          <a:lstStyle/>
          <a:p>
            <a:pPr indent="0" marL="0">
              <a:buNone/>
            </a:pPr>
            <a:r>
              <a:rPr lang="en-US" sz="900" dirty="0">
                <a:solidFill>
                  <a:srgbClr val="888888"/>
                </a:solidFill>
              </a:rPr>
              <a:t>J Ning, C Cai, X Fan</a:t>
            </a:r>
            <a:endParaRPr lang="en-US" sz="900" dirty="0"/>
          </a:p>
        </p:txBody>
      </p:sp>
      <p:sp>
        <p:nvSpPr>
          <p:cNvPr id="7" name="Shape 5"/>
          <p:cNvSpPr/>
          <p:nvPr/>
        </p:nvSpPr>
        <p:spPr>
          <a:xfrm>
            <a:off x="731520" y="2194560"/>
            <a:ext cx="10515600" cy="9144"/>
          </a:xfrm>
          <a:prstGeom prst="rect">
            <a:avLst/>
          </a:prstGeom>
          <a:solidFill>
            <a:srgbClr val="E0E0E0"/>
          </a:solidFill>
          <a:ln/>
        </p:spPr>
      </p:sp>
      <p:sp>
        <p:nvSpPr>
          <p:cNvPr id="8" name="Text 6"/>
          <p:cNvSpPr/>
          <p:nvPr/>
        </p:nvSpPr>
        <p:spPr>
          <a:xfrm>
            <a:off x="731520" y="2377440"/>
            <a:ext cx="457200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KEY FINDINGS</a:t>
            </a:r>
            <a:endParaRPr lang="en-US" sz="900" dirty="0"/>
          </a:p>
        </p:txBody>
      </p:sp>
      <p:sp>
        <p:nvSpPr>
          <p:cNvPr id="9" name="Text 7"/>
          <p:cNvSpPr/>
          <p:nvPr/>
        </p:nvSpPr>
        <p:spPr>
          <a:xfrm>
            <a:off x="731520" y="2743200"/>
            <a:ext cx="5029200" cy="0"/>
          </a:xfrm>
          <a:prstGeom prst="rect">
            <a:avLst/>
          </a:prstGeom>
          <a:noFill/>
          <a:ln/>
        </p:spPr>
        <p:txBody>
          <a:bodyPr wrap="square" rtlCol="0" anchor="t"/>
          <a:lstStyle/>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ALC inhibits tumor growth</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In vivo validation conducted</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Metabolomic study performed</a:t>
            </a:r>
            <a:endParaRPr lang="en-US" sz="1800" dirty="0"/>
          </a:p>
        </p:txBody>
      </p:sp>
      <p:sp>
        <p:nvSpPr>
          <p:cNvPr id="10" name="Text 8"/>
          <p:cNvSpPr/>
          <p:nvPr/>
        </p:nvSpPr>
        <p:spPr>
          <a:xfrm>
            <a:off x="6400800" y="2377440"/>
            <a:ext cx="4572000" cy="0"/>
          </a:xfrm>
          <a:prstGeom prst="rect">
            <a:avLst/>
          </a:prstGeom>
          <a:noFill/>
          <a:ln/>
        </p:spPr>
        <p:txBody>
          <a:bodyPr wrap="square" rtlCol="0" anchor="ctr"/>
          <a:lstStyle/>
          <a:p>
            <a:pPr indent="0" marL="0">
              <a:buNone/>
            </a:pPr>
            <a:r>
              <a:rPr lang="en-US" sz="900" b="1" spc="300" kern="0" dirty="0">
                <a:solidFill>
                  <a:srgbClr val="2563EB"/>
                </a:solidFill>
                <a:latin typeface="Microsoft JhengHei" pitchFamily="34" charset="0"/>
                <a:ea typeface="Microsoft JhengHei" pitchFamily="34" charset="-122"/>
                <a:cs typeface="Microsoft JhengHei" pitchFamily="34" charset="-120"/>
              </a:rPr>
              <a:t>重點發現</a:t>
            </a:r>
            <a:endParaRPr lang="en-US" sz="900" dirty="0"/>
          </a:p>
        </p:txBody>
      </p:sp>
      <p:sp>
        <p:nvSpPr>
          <p:cNvPr id="11" name="Text 9"/>
          <p:cNvSpPr/>
          <p:nvPr/>
        </p:nvSpPr>
        <p:spPr>
          <a:xfrm>
            <a:off x="6400800" y="2743200"/>
            <a:ext cx="5029200" cy="0"/>
          </a:xfrm>
          <a:prstGeom prst="rect">
            <a:avLst/>
          </a:prstGeom>
          <a:noFill/>
          <a:ln/>
        </p:spPr>
        <p:txBody>
          <a:bodyPr wrap="square" rtlCol="0" anchor="t"/>
          <a:lstStyle/>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ALC抑制腫瘤生長</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進行體內驗證</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執行代謝組學研究</a:t>
            </a:r>
            <a:endParaRPr lang="en-US" sz="1800" dirty="0"/>
          </a:p>
        </p:txBody>
      </p:sp>
      <p:sp>
        <p:nvSpPr>
          <p:cNvPr id="12" name="Shape 10"/>
          <p:cNvSpPr/>
          <p:nvPr/>
        </p:nvSpPr>
        <p:spPr>
          <a:xfrm>
            <a:off x="0" y="6803136"/>
            <a:ext cx="12188952" cy="54864"/>
          </a:xfrm>
          <a:prstGeom prst="rect">
            <a:avLst/>
          </a:prstGeom>
          <a:solidFill>
            <a:srgbClr val="2563EB"/>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365760"/>
            <a:ext cx="5486400" cy="0"/>
          </a:xfrm>
          <a:prstGeom prst="rect">
            <a:avLst/>
          </a:prstGeom>
          <a:noFill/>
          <a:ln/>
        </p:spPr>
        <p:txBody>
          <a:bodyPr wrap="square" rtlCol="0" anchor="ctr"/>
          <a:lstStyle/>
          <a:p>
            <a:pPr indent="0" marL="0">
              <a:buNone/>
            </a:pPr>
            <a:r>
              <a:rPr lang="en-US" sz="900" spc="400" kern="0" dirty="0">
                <a:solidFill>
                  <a:srgbClr val="888888"/>
                </a:solidFill>
                <a:latin typeface="Arial" pitchFamily="34" charset="0"/>
                <a:ea typeface="Arial" pitchFamily="34" charset="-122"/>
                <a:cs typeface="Arial" pitchFamily="34" charset="-120"/>
              </a:rPr>
              <a:t>09 — INSIGHTS</a:t>
            </a:r>
            <a:endParaRPr lang="en-US" sz="900" dirty="0"/>
          </a:p>
        </p:txBody>
      </p:sp>
      <p:sp>
        <p:nvSpPr>
          <p:cNvPr id="3" name="Text 1"/>
          <p:cNvSpPr/>
          <p:nvPr/>
        </p:nvSpPr>
        <p:spPr>
          <a:xfrm>
            <a:off x="731520" y="731520"/>
            <a:ext cx="10515600" cy="0"/>
          </a:xfrm>
          <a:prstGeom prst="rect">
            <a:avLst/>
          </a:prstGeom>
          <a:noFill/>
          <a:ln/>
        </p:spPr>
        <p:txBody>
          <a:bodyPr wrap="square" rtlCol="0" anchor="ctr"/>
          <a:lstStyle/>
          <a:p>
            <a:pPr indent="0" marL="0">
              <a:lnSpc>
                <a:spcPct val="110000"/>
              </a:lnSpc>
              <a:buNone/>
            </a:pPr>
            <a:r>
              <a:rPr lang="en-US" sz="1400" b="1" dirty="0">
                <a:solidFill>
                  <a:srgbClr val="FFFFFF"/>
                </a:solidFill>
                <a:latin typeface="Arial" pitchFamily="34" charset="0"/>
                <a:ea typeface="Arial" pitchFamily="34" charset="-122"/>
                <a:cs typeface="Arial" pitchFamily="34" charset="-120"/>
              </a:rPr>
              <a:t>The Mechanism of Acetyl-L-Carnitine on Colorectal Cancer and Its Metabolomic Study</a:t>
            </a:r>
            <a:endParaRPr lang="en-US" sz="1400" dirty="0"/>
          </a:p>
        </p:txBody>
      </p:sp>
      <p:sp>
        <p:nvSpPr>
          <p:cNvPr id="4" name="Shape 2"/>
          <p:cNvSpPr/>
          <p:nvPr/>
        </p:nvSpPr>
        <p:spPr>
          <a:xfrm>
            <a:off x="731520" y="1280160"/>
            <a:ext cx="2743200" cy="36576"/>
          </a:xfrm>
          <a:prstGeom prst="rect">
            <a:avLst/>
          </a:prstGeom>
          <a:solidFill>
            <a:srgbClr val="2563EB"/>
          </a:solidFill>
          <a:ln/>
        </p:spPr>
      </p:sp>
      <p:sp>
        <p:nvSpPr>
          <p:cNvPr id="5" name="Shape 3"/>
          <p:cNvSpPr/>
          <p:nvPr/>
        </p:nvSpPr>
        <p:spPr>
          <a:xfrm>
            <a:off x="548640" y="1554480"/>
            <a:ext cx="5303520" cy="36576"/>
          </a:xfrm>
          <a:prstGeom prst="rect">
            <a:avLst/>
          </a:prstGeom>
          <a:solidFill>
            <a:srgbClr val="2563EB"/>
          </a:solidFill>
          <a:ln/>
        </p:spPr>
      </p:sp>
      <p:sp>
        <p:nvSpPr>
          <p:cNvPr id="6" name="Text 4"/>
          <p:cNvSpPr/>
          <p:nvPr/>
        </p:nvSpPr>
        <p:spPr>
          <a:xfrm>
            <a:off x="548640" y="1737360"/>
            <a:ext cx="530352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 CLINICAL INSIGHT</a:t>
            </a:r>
            <a:endParaRPr lang="en-US" sz="900" dirty="0"/>
          </a:p>
        </p:txBody>
      </p:sp>
      <p:sp>
        <p:nvSpPr>
          <p:cNvPr id="7" name="Text 5"/>
          <p:cNvSpPr/>
          <p:nvPr/>
        </p:nvSpPr>
        <p:spPr>
          <a:xfrm>
            <a:off x="548640" y="1965960"/>
            <a:ext cx="5303520" cy="0"/>
          </a:xfrm>
          <a:prstGeom prst="rect">
            <a:avLst/>
          </a:prstGeom>
          <a:noFill/>
          <a:ln/>
        </p:spPr>
        <p:txBody>
          <a:bodyPr wrap="square" rtlCol="0" anchor="ctr"/>
          <a:lstStyle/>
          <a:p>
            <a:pPr indent="0" marL="0">
              <a:buNone/>
            </a:pPr>
            <a:r>
              <a:rPr lang="en-US" sz="900" dirty="0">
                <a:solidFill>
                  <a:srgbClr val="888888"/>
                </a:solidFill>
                <a:latin typeface="Microsoft JhengHei" pitchFamily="34" charset="0"/>
                <a:ea typeface="Microsoft JhengHei" pitchFamily="34" charset="-122"/>
                <a:cs typeface="Microsoft JhengHei" pitchFamily="34" charset="-120"/>
              </a:rPr>
              <a:t>臨床啟示</a:t>
            </a:r>
            <a:endParaRPr lang="en-US" sz="900" dirty="0"/>
          </a:p>
        </p:txBody>
      </p:sp>
      <p:sp>
        <p:nvSpPr>
          <p:cNvPr id="8" name="Text 6"/>
          <p:cNvSpPr/>
          <p:nvPr/>
        </p:nvSpPr>
        <p:spPr>
          <a:xfrm>
            <a:off x="548640" y="2286000"/>
            <a:ext cx="5303520" cy="0"/>
          </a:xfrm>
          <a:prstGeom prst="rect">
            <a:avLst/>
          </a:prstGeom>
          <a:noFill/>
          <a:ln/>
        </p:spPr>
        <p:txBody>
          <a:bodyPr wrap="square" rtlCol="0" anchor="ctr"/>
          <a:lstStyle/>
          <a:p>
            <a:pPr indent="0" marL="0">
              <a:lnSpc>
                <a:spcPct val="150000"/>
              </a:lnSpc>
              <a:buNone/>
            </a:pPr>
            <a:r>
              <a:rPr lang="en-US" sz="1800" dirty="0">
                <a:solidFill>
                  <a:srgbClr val="FFFFFF"/>
                </a:solidFill>
              </a:rPr>
              <a:t>EN: ALC shows promise in treatment. </a:t>
            </a:r>
            <a:endParaRPr lang="en-US" sz="1800" dirty="0"/>
          </a:p>
          <a:p>
            <a:pPr indent="0" marL="0">
              <a:lnSpc>
                <a:spcPct val="150000"/>
              </a:lnSpc>
              <a:buNone/>
            </a:pPr>
            <a:r>
              <a:rPr lang="en-US" sz="1800" dirty="0">
                <a:solidFill>
                  <a:srgbClr val="FFFFFF"/>
                </a:solidFill>
              </a:rPr>
              <a:t>ZH: ALC在治療上顯示潛力。</a:t>
            </a:r>
            <a:endParaRPr lang="en-US" sz="1800" dirty="0"/>
          </a:p>
        </p:txBody>
      </p:sp>
      <p:sp>
        <p:nvSpPr>
          <p:cNvPr id="9" name="Shape 7"/>
          <p:cNvSpPr/>
          <p:nvPr/>
        </p:nvSpPr>
        <p:spPr>
          <a:xfrm>
            <a:off x="6309360" y="1554480"/>
            <a:ext cx="5303520" cy="36576"/>
          </a:xfrm>
          <a:prstGeom prst="rect">
            <a:avLst/>
          </a:prstGeom>
          <a:solidFill>
            <a:srgbClr val="2563EB"/>
          </a:solidFill>
          <a:ln/>
        </p:spPr>
      </p:sp>
      <p:sp>
        <p:nvSpPr>
          <p:cNvPr id="10" name="Text 8"/>
          <p:cNvSpPr/>
          <p:nvPr/>
        </p:nvSpPr>
        <p:spPr>
          <a:xfrm>
            <a:off x="6309360" y="1737360"/>
            <a:ext cx="530352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 FUTURE DIRECTION</a:t>
            </a:r>
            <a:endParaRPr lang="en-US" sz="900" dirty="0"/>
          </a:p>
        </p:txBody>
      </p:sp>
      <p:sp>
        <p:nvSpPr>
          <p:cNvPr id="11" name="Text 9"/>
          <p:cNvSpPr/>
          <p:nvPr/>
        </p:nvSpPr>
        <p:spPr>
          <a:xfrm>
            <a:off x="6309360" y="1965960"/>
            <a:ext cx="5303520" cy="0"/>
          </a:xfrm>
          <a:prstGeom prst="rect">
            <a:avLst/>
          </a:prstGeom>
          <a:noFill/>
          <a:ln/>
        </p:spPr>
        <p:txBody>
          <a:bodyPr wrap="square" rtlCol="0" anchor="ctr"/>
          <a:lstStyle/>
          <a:p>
            <a:pPr indent="0" marL="0">
              <a:buNone/>
            </a:pPr>
            <a:r>
              <a:rPr lang="en-US" sz="900" dirty="0">
                <a:solidFill>
                  <a:srgbClr val="888888"/>
                </a:solidFill>
                <a:latin typeface="Microsoft JhengHei" pitchFamily="34" charset="0"/>
                <a:ea typeface="Microsoft JhengHei" pitchFamily="34" charset="-122"/>
                <a:cs typeface="Microsoft JhengHei" pitchFamily="34" charset="-120"/>
              </a:rPr>
              <a:t>未來方向</a:t>
            </a:r>
            <a:endParaRPr lang="en-US" sz="900" dirty="0"/>
          </a:p>
        </p:txBody>
      </p:sp>
      <p:sp>
        <p:nvSpPr>
          <p:cNvPr id="12" name="Text 10"/>
          <p:cNvSpPr/>
          <p:nvPr/>
        </p:nvSpPr>
        <p:spPr>
          <a:xfrm>
            <a:off x="6309360" y="2286000"/>
            <a:ext cx="5303520" cy="0"/>
          </a:xfrm>
          <a:prstGeom prst="rect">
            <a:avLst/>
          </a:prstGeom>
          <a:noFill/>
          <a:ln/>
        </p:spPr>
        <p:txBody>
          <a:bodyPr wrap="square" rtlCol="0" anchor="ctr"/>
          <a:lstStyle/>
          <a:p>
            <a:pPr indent="0" marL="0">
              <a:lnSpc>
                <a:spcPct val="150000"/>
              </a:lnSpc>
              <a:buNone/>
            </a:pPr>
            <a:r>
              <a:rPr lang="en-US" sz="1800" dirty="0">
                <a:solidFill>
                  <a:srgbClr val="FFFFFF"/>
                </a:solidFill>
              </a:rPr>
              <a:t>EN: Further studies needed on mechanisms. </a:t>
            </a:r>
            <a:endParaRPr lang="en-US" sz="1800" dirty="0"/>
          </a:p>
          <a:p>
            <a:pPr indent="0" marL="0">
              <a:lnSpc>
                <a:spcPct val="150000"/>
              </a:lnSpc>
              <a:buNone/>
            </a:pPr>
            <a:r>
              <a:rPr lang="en-US" sz="1800" dirty="0">
                <a:solidFill>
                  <a:srgbClr val="FFFFFF"/>
                </a:solidFill>
              </a:rPr>
              <a:t>ZH: 需進一步研究其機制。</a:t>
            </a:r>
            <a:endParaRPr lang="en-US" sz="1800" dirty="0"/>
          </a:p>
        </p:txBody>
      </p:sp>
      <p:sp>
        <p:nvSpPr>
          <p:cNvPr id="13" name="Shape 11"/>
          <p:cNvSpPr/>
          <p:nvPr/>
        </p:nvSpPr>
        <p:spPr>
          <a:xfrm>
            <a:off x="0" y="6803136"/>
            <a:ext cx="12188952" cy="54864"/>
          </a:xfrm>
          <a:prstGeom prst="rect">
            <a:avLst/>
          </a:prstGeom>
          <a:solidFill>
            <a:srgbClr val="2563EB"/>
          </a:solidFill>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5486400" cy="0"/>
          </a:xfrm>
          <a:prstGeom prst="rect">
            <a:avLst/>
          </a:prstGeom>
          <a:noFill/>
          <a:ln/>
        </p:spPr>
        <p:txBody>
          <a:bodyPr wrap="square" rtlCol="0" anchor="ctr"/>
          <a:lstStyle/>
          <a:p>
            <a:pPr indent="0" marL="0">
              <a:buNone/>
            </a:pPr>
            <a:r>
              <a:rPr lang="en-US" sz="900" spc="400" kern="0" dirty="0">
                <a:solidFill>
                  <a:srgbClr val="888888"/>
                </a:solidFill>
                <a:latin typeface="Arial" pitchFamily="34" charset="0"/>
                <a:ea typeface="Arial" pitchFamily="34" charset="-122"/>
                <a:cs typeface="Arial" pitchFamily="34" charset="-120"/>
              </a:rPr>
              <a:t>10 — KEY FINDINGS</a:t>
            </a:r>
            <a:endParaRPr lang="en-US" sz="900" dirty="0"/>
          </a:p>
        </p:txBody>
      </p:sp>
      <p:sp>
        <p:nvSpPr>
          <p:cNvPr id="3" name="Text 1"/>
          <p:cNvSpPr/>
          <p:nvPr/>
        </p:nvSpPr>
        <p:spPr>
          <a:xfrm>
            <a:off x="9601200" y="182880"/>
            <a:ext cx="2103120" cy="0"/>
          </a:xfrm>
          <a:prstGeom prst="rect">
            <a:avLst/>
          </a:prstGeom>
          <a:noFill/>
          <a:ln/>
        </p:spPr>
        <p:txBody>
          <a:bodyPr wrap="square" rtlCol="0" anchor="ctr"/>
          <a:lstStyle/>
          <a:p>
            <a:pPr algn="r" indent="0" marL="0">
              <a:buNone/>
            </a:pPr>
            <a:r>
              <a:rPr lang="en-US" sz="4800" b="1" dirty="0">
                <a:solidFill>
                  <a:srgbClr val="DBEAFE"/>
                </a:solidFill>
                <a:latin typeface="Arial" pitchFamily="34" charset="0"/>
                <a:ea typeface="Arial" pitchFamily="34" charset="-122"/>
                <a:cs typeface="Arial" pitchFamily="34" charset="-120"/>
              </a:rPr>
              <a:t>10</a:t>
            </a:r>
            <a:endParaRPr lang="en-US" sz="4800" dirty="0"/>
          </a:p>
        </p:txBody>
      </p:sp>
      <p:sp>
        <p:nvSpPr>
          <p:cNvPr id="4" name="Text 2">
            <a:hlinkClick r:id="rId1" tooltip=""/>
          </p:cNvPr>
          <p:cNvSpPr/>
          <p:nvPr/>
        </p:nvSpPr>
        <p:spPr>
          <a:xfrm>
            <a:off x="731520" y="822960"/>
            <a:ext cx="9144000" cy="0"/>
          </a:xfrm>
          <a:prstGeom prst="rect">
            <a:avLst/>
          </a:prstGeom>
          <a:noFill/>
          <a:ln/>
        </p:spPr>
        <p:txBody>
          <a:bodyPr wrap="square" rtlCol="0" anchor="ctr"/>
          <a:lstStyle/>
          <a:p>
            <a:pPr indent="0" marL="0">
              <a:lnSpc>
                <a:spcPct val="115000"/>
              </a:lnSpc>
              <a:buNone/>
            </a:pPr>
            <a:r>
              <a:rPr lang="en-US" sz="2400" b="1" u="sng" dirty="0">
                <a:solidFill>
                  <a:srgbClr val="111111"/>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Two Triterpenoids with a Cyclobutane Moiety from Mastic: Structural Elucidation and Biological Evaluation.</a:t>
            </a:r>
            <a:endParaRPr lang="en-US" sz="2400" dirty="0"/>
          </a:p>
        </p:txBody>
      </p:sp>
      <p:sp>
        <p:nvSpPr>
          <p:cNvPr id="5" name="Text 3"/>
          <p:cNvSpPr/>
          <p:nvPr/>
        </p:nvSpPr>
        <p:spPr>
          <a:xfrm>
            <a:off x="731520" y="1691640"/>
            <a:ext cx="9144000" cy="0"/>
          </a:xfrm>
          <a:prstGeom prst="rect">
            <a:avLst/>
          </a:prstGeom>
          <a:noFill/>
          <a:ln/>
        </p:spPr>
        <p:txBody>
          <a:bodyPr wrap="square" rtlCol="0" anchor="ctr"/>
          <a:lstStyle/>
          <a:p>
            <a:pPr indent="0" marL="0">
              <a:buNone/>
            </a:pPr>
            <a:r>
              <a:rPr lang="en-US" sz="900" dirty="0">
                <a:solidFill>
                  <a:srgbClr val="888888"/>
                </a:solidFill>
              </a:rPr>
              <a:t>Organic letters  ·  2026-04-17</a:t>
            </a:r>
            <a:endParaRPr lang="en-US" sz="900" dirty="0"/>
          </a:p>
        </p:txBody>
      </p:sp>
      <p:sp>
        <p:nvSpPr>
          <p:cNvPr id="6" name="Text 4"/>
          <p:cNvSpPr/>
          <p:nvPr/>
        </p:nvSpPr>
        <p:spPr>
          <a:xfrm>
            <a:off x="731520" y="1920240"/>
            <a:ext cx="9144000" cy="0"/>
          </a:xfrm>
          <a:prstGeom prst="rect">
            <a:avLst/>
          </a:prstGeom>
          <a:noFill/>
          <a:ln/>
        </p:spPr>
        <p:txBody>
          <a:bodyPr wrap="square" rtlCol="0" anchor="ctr"/>
          <a:lstStyle/>
          <a:p>
            <a:pPr indent="0" marL="0">
              <a:buNone/>
            </a:pPr>
            <a:r>
              <a:rPr lang="en-US" sz="900" dirty="0">
                <a:solidFill>
                  <a:srgbClr val="888888"/>
                </a:solidFill>
              </a:rPr>
              <a:t>An Xue-Rui, Wang Hong-Yi, Li Tian-Zhi et al.</a:t>
            </a:r>
            <a:endParaRPr lang="en-US" sz="900" dirty="0"/>
          </a:p>
        </p:txBody>
      </p:sp>
      <p:sp>
        <p:nvSpPr>
          <p:cNvPr id="7" name="Shape 5"/>
          <p:cNvSpPr/>
          <p:nvPr/>
        </p:nvSpPr>
        <p:spPr>
          <a:xfrm>
            <a:off x="731520" y="2194560"/>
            <a:ext cx="10515600" cy="9144"/>
          </a:xfrm>
          <a:prstGeom prst="rect">
            <a:avLst/>
          </a:prstGeom>
          <a:solidFill>
            <a:srgbClr val="E0E0E0"/>
          </a:solidFill>
          <a:ln/>
        </p:spPr>
      </p:sp>
      <p:sp>
        <p:nvSpPr>
          <p:cNvPr id="8" name="Text 6"/>
          <p:cNvSpPr/>
          <p:nvPr/>
        </p:nvSpPr>
        <p:spPr>
          <a:xfrm>
            <a:off x="731520" y="2377440"/>
            <a:ext cx="457200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KEY FINDINGS</a:t>
            </a:r>
            <a:endParaRPr lang="en-US" sz="900" dirty="0"/>
          </a:p>
        </p:txBody>
      </p:sp>
      <p:sp>
        <p:nvSpPr>
          <p:cNvPr id="9" name="Text 7"/>
          <p:cNvSpPr/>
          <p:nvPr/>
        </p:nvSpPr>
        <p:spPr>
          <a:xfrm>
            <a:off x="731520" y="2743200"/>
            <a:ext cx="5029200" cy="0"/>
          </a:xfrm>
          <a:prstGeom prst="rect">
            <a:avLst/>
          </a:prstGeom>
          <a:noFill/>
          <a:ln/>
        </p:spPr>
        <p:txBody>
          <a:bodyPr wrap="square" rtlCol="0" anchor="t"/>
          <a:lstStyle/>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Isolated two triterpenoids from mastic</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Unique cyclobutane structures identified</a:t>
            </a:r>
            <a:endParaRPr lang="en-US" sz="1800" dirty="0"/>
          </a:p>
          <a:p>
            <a:pPr marL="342900" indent="-342900">
              <a:lnSpc>
                <a:spcPct val="160000"/>
              </a:lnSpc>
              <a:buSzPct val="100000"/>
              <a:buChar char="▪"/>
            </a:pPr>
            <a:r>
              <a:rPr lang="en-US" sz="1800" dirty="0">
                <a:solidFill>
                  <a:srgbClr val="333333"/>
                </a:solidFill>
                <a:latin typeface="Arial" pitchFamily="34" charset="0"/>
                <a:ea typeface="Arial" pitchFamily="34" charset="-122"/>
                <a:cs typeface="Arial" pitchFamily="34" charset="-120"/>
              </a:rPr>
              <a:t>Compound 2 inhibits colorectal cancer cells</a:t>
            </a:r>
            <a:endParaRPr lang="en-US" sz="1800" dirty="0"/>
          </a:p>
        </p:txBody>
      </p:sp>
      <p:sp>
        <p:nvSpPr>
          <p:cNvPr id="10" name="Text 8"/>
          <p:cNvSpPr/>
          <p:nvPr/>
        </p:nvSpPr>
        <p:spPr>
          <a:xfrm>
            <a:off x="6400800" y="2377440"/>
            <a:ext cx="4572000" cy="0"/>
          </a:xfrm>
          <a:prstGeom prst="rect">
            <a:avLst/>
          </a:prstGeom>
          <a:noFill/>
          <a:ln/>
        </p:spPr>
        <p:txBody>
          <a:bodyPr wrap="square" rtlCol="0" anchor="ctr"/>
          <a:lstStyle/>
          <a:p>
            <a:pPr indent="0" marL="0">
              <a:buNone/>
            </a:pPr>
            <a:r>
              <a:rPr lang="en-US" sz="900" b="1" spc="300" kern="0" dirty="0">
                <a:solidFill>
                  <a:srgbClr val="2563EB"/>
                </a:solidFill>
                <a:latin typeface="Microsoft JhengHei" pitchFamily="34" charset="0"/>
                <a:ea typeface="Microsoft JhengHei" pitchFamily="34" charset="-122"/>
                <a:cs typeface="Microsoft JhengHei" pitchFamily="34" charset="-120"/>
              </a:rPr>
              <a:t>重點發現</a:t>
            </a:r>
            <a:endParaRPr lang="en-US" sz="900" dirty="0"/>
          </a:p>
        </p:txBody>
      </p:sp>
      <p:sp>
        <p:nvSpPr>
          <p:cNvPr id="11" name="Text 9"/>
          <p:cNvSpPr/>
          <p:nvPr/>
        </p:nvSpPr>
        <p:spPr>
          <a:xfrm>
            <a:off x="6400800" y="2743200"/>
            <a:ext cx="5029200" cy="0"/>
          </a:xfrm>
          <a:prstGeom prst="rect">
            <a:avLst/>
          </a:prstGeom>
          <a:noFill/>
          <a:ln/>
        </p:spPr>
        <p:txBody>
          <a:bodyPr wrap="square" rtlCol="0" anchor="t"/>
          <a:lstStyle/>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從乳香中分離兩種三萜類化合物</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獨特的環丁烷結構被確認</a:t>
            </a:r>
            <a:endParaRPr lang="en-US" sz="1800" dirty="0"/>
          </a:p>
          <a:p>
            <a:pPr marL="342900" indent="-342900">
              <a:lnSpc>
                <a:spcPct val="160000"/>
              </a:lnSpc>
              <a:buSzPct val="100000"/>
              <a:buChar char="▪"/>
            </a:pPr>
            <a:r>
              <a:rPr lang="en-US" sz="1800" dirty="0">
                <a:solidFill>
                  <a:srgbClr val="333333"/>
                </a:solidFill>
                <a:latin typeface="Microsoft JhengHei" pitchFamily="34" charset="0"/>
                <a:ea typeface="Microsoft JhengHei" pitchFamily="34" charset="-122"/>
                <a:cs typeface="Microsoft JhengHei" pitchFamily="34" charset="-120"/>
              </a:rPr>
              <a:t>化合物2抑制結腸癌細胞</a:t>
            </a:r>
            <a:endParaRPr lang="en-US" sz="1800" dirty="0"/>
          </a:p>
        </p:txBody>
      </p:sp>
      <p:sp>
        <p:nvSpPr>
          <p:cNvPr id="12" name="Text 10">
            <a:hlinkClick r:id="rId2" tooltip=""/>
          </p:cNvPr>
          <p:cNvSpPr/>
          <p:nvPr/>
        </p:nvSpPr>
        <p:spPr>
          <a:xfrm>
            <a:off x="731520" y="6217920"/>
            <a:ext cx="3657600" cy="0"/>
          </a:xfrm>
          <a:prstGeom prst="rect">
            <a:avLst/>
          </a:prstGeom>
          <a:noFill/>
          <a:ln/>
        </p:spPr>
        <p:txBody>
          <a:bodyPr wrap="square" rtlCol="0" anchor="ctr"/>
          <a:lstStyle/>
          <a:p>
            <a:pPr indent="0" marL="0">
              <a:buNone/>
            </a:pPr>
            <a:r>
              <a:rPr lang="en-US" sz="1000" b="1" u="sng" dirty="0">
                <a:solidFill>
                  <a:srgbClr val="2563EB"/>
                </a:solidFill>
                <a:hlinkClick r:id="rId2" invalidUrl="" action="" tgtFrame="" tooltip="" history="1" highlightClick="0" endSnd="0">
                  <a:extLst>
                    <a:ext uri="{A12FA001-AC4F-418D-AE19-62706E023703}">
                      <ahyp:hlinkClr xmlns:ahyp="http://schemas.microsoft.com/office/drawing/2018/hyperlinkcolor" val="tx"/>
                    </a:ext>
                  </a:extLst>
                </a:hlinkClick>
              </a:rPr>
              <a:t>📎 View Paper →</a:t>
            </a:r>
            <a:endParaRPr lang="en-US" sz="1000" dirty="0"/>
          </a:p>
        </p:txBody>
      </p:sp>
      <p:sp>
        <p:nvSpPr>
          <p:cNvPr id="13" name="Shape 11"/>
          <p:cNvSpPr/>
          <p:nvPr/>
        </p:nvSpPr>
        <p:spPr>
          <a:xfrm>
            <a:off x="0" y="6803136"/>
            <a:ext cx="12188952" cy="54864"/>
          </a:xfrm>
          <a:prstGeom prst="rect">
            <a:avLst/>
          </a:prstGeom>
          <a:solidFill>
            <a:srgbClr val="2563EB"/>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365760"/>
            <a:ext cx="5486400" cy="0"/>
          </a:xfrm>
          <a:prstGeom prst="rect">
            <a:avLst/>
          </a:prstGeom>
          <a:noFill/>
          <a:ln/>
        </p:spPr>
        <p:txBody>
          <a:bodyPr wrap="square" rtlCol="0" anchor="ctr"/>
          <a:lstStyle/>
          <a:p>
            <a:pPr indent="0" marL="0">
              <a:buNone/>
            </a:pPr>
            <a:r>
              <a:rPr lang="en-US" sz="900" spc="400" kern="0" dirty="0">
                <a:solidFill>
                  <a:srgbClr val="888888"/>
                </a:solidFill>
                <a:latin typeface="Arial" pitchFamily="34" charset="0"/>
                <a:ea typeface="Arial" pitchFamily="34" charset="-122"/>
                <a:cs typeface="Arial" pitchFamily="34" charset="-120"/>
              </a:rPr>
              <a:t>10 — INSIGHTS</a:t>
            </a:r>
            <a:endParaRPr lang="en-US" sz="900" dirty="0"/>
          </a:p>
        </p:txBody>
      </p:sp>
      <p:sp>
        <p:nvSpPr>
          <p:cNvPr id="3" name="Text 1"/>
          <p:cNvSpPr/>
          <p:nvPr/>
        </p:nvSpPr>
        <p:spPr>
          <a:xfrm>
            <a:off x="731520" y="731520"/>
            <a:ext cx="10515600" cy="0"/>
          </a:xfrm>
          <a:prstGeom prst="rect">
            <a:avLst/>
          </a:prstGeom>
          <a:noFill/>
          <a:ln/>
        </p:spPr>
        <p:txBody>
          <a:bodyPr wrap="square" rtlCol="0" anchor="ctr"/>
          <a:lstStyle/>
          <a:p>
            <a:pPr indent="0" marL="0">
              <a:lnSpc>
                <a:spcPct val="110000"/>
              </a:lnSpc>
              <a:buNone/>
            </a:pPr>
            <a:r>
              <a:rPr lang="en-US" sz="1400" b="1" dirty="0">
                <a:solidFill>
                  <a:srgbClr val="FFFFFF"/>
                </a:solidFill>
                <a:latin typeface="Arial" pitchFamily="34" charset="0"/>
                <a:ea typeface="Arial" pitchFamily="34" charset="-122"/>
                <a:cs typeface="Arial" pitchFamily="34" charset="-120"/>
              </a:rPr>
              <a:t>Two Triterpenoids with a Cyclobutane Moiety from Mastic: Structural Elucidation and Biological Evalu…</a:t>
            </a:r>
            <a:endParaRPr lang="en-US" sz="1400" dirty="0"/>
          </a:p>
        </p:txBody>
      </p:sp>
      <p:sp>
        <p:nvSpPr>
          <p:cNvPr id="4" name="Shape 2"/>
          <p:cNvSpPr/>
          <p:nvPr/>
        </p:nvSpPr>
        <p:spPr>
          <a:xfrm>
            <a:off x="731520" y="1280160"/>
            <a:ext cx="2743200" cy="36576"/>
          </a:xfrm>
          <a:prstGeom prst="rect">
            <a:avLst/>
          </a:prstGeom>
          <a:solidFill>
            <a:srgbClr val="2563EB"/>
          </a:solidFill>
          <a:ln/>
        </p:spPr>
      </p:sp>
      <p:sp>
        <p:nvSpPr>
          <p:cNvPr id="5" name="Shape 3"/>
          <p:cNvSpPr/>
          <p:nvPr/>
        </p:nvSpPr>
        <p:spPr>
          <a:xfrm>
            <a:off x="548640" y="1554480"/>
            <a:ext cx="5303520" cy="36576"/>
          </a:xfrm>
          <a:prstGeom prst="rect">
            <a:avLst/>
          </a:prstGeom>
          <a:solidFill>
            <a:srgbClr val="2563EB"/>
          </a:solidFill>
          <a:ln/>
        </p:spPr>
      </p:sp>
      <p:sp>
        <p:nvSpPr>
          <p:cNvPr id="6" name="Text 4"/>
          <p:cNvSpPr/>
          <p:nvPr/>
        </p:nvSpPr>
        <p:spPr>
          <a:xfrm>
            <a:off x="548640" y="1737360"/>
            <a:ext cx="530352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 CLINICAL INSIGHT</a:t>
            </a:r>
            <a:endParaRPr lang="en-US" sz="900" dirty="0"/>
          </a:p>
        </p:txBody>
      </p:sp>
      <p:sp>
        <p:nvSpPr>
          <p:cNvPr id="7" name="Text 5"/>
          <p:cNvSpPr/>
          <p:nvPr/>
        </p:nvSpPr>
        <p:spPr>
          <a:xfrm>
            <a:off x="548640" y="1965960"/>
            <a:ext cx="5303520" cy="0"/>
          </a:xfrm>
          <a:prstGeom prst="rect">
            <a:avLst/>
          </a:prstGeom>
          <a:noFill/>
          <a:ln/>
        </p:spPr>
        <p:txBody>
          <a:bodyPr wrap="square" rtlCol="0" anchor="ctr"/>
          <a:lstStyle/>
          <a:p>
            <a:pPr indent="0" marL="0">
              <a:buNone/>
            </a:pPr>
            <a:r>
              <a:rPr lang="en-US" sz="900" dirty="0">
                <a:solidFill>
                  <a:srgbClr val="888888"/>
                </a:solidFill>
                <a:latin typeface="Microsoft JhengHei" pitchFamily="34" charset="0"/>
                <a:ea typeface="Microsoft JhengHei" pitchFamily="34" charset="-122"/>
                <a:cs typeface="Microsoft JhengHei" pitchFamily="34" charset="-120"/>
              </a:rPr>
              <a:t>臨床啟示</a:t>
            </a:r>
            <a:endParaRPr lang="en-US" sz="900" dirty="0"/>
          </a:p>
        </p:txBody>
      </p:sp>
      <p:sp>
        <p:nvSpPr>
          <p:cNvPr id="8" name="Text 6"/>
          <p:cNvSpPr/>
          <p:nvPr/>
        </p:nvSpPr>
        <p:spPr>
          <a:xfrm>
            <a:off x="548640" y="2286000"/>
            <a:ext cx="5303520" cy="0"/>
          </a:xfrm>
          <a:prstGeom prst="rect">
            <a:avLst/>
          </a:prstGeom>
          <a:noFill/>
          <a:ln/>
        </p:spPr>
        <p:txBody>
          <a:bodyPr wrap="square" rtlCol="0" anchor="ctr"/>
          <a:lstStyle/>
          <a:p>
            <a:pPr indent="0" marL="0">
              <a:lnSpc>
                <a:spcPct val="150000"/>
              </a:lnSpc>
              <a:buNone/>
            </a:pPr>
            <a:r>
              <a:rPr lang="en-US" sz="1800" dirty="0">
                <a:solidFill>
                  <a:srgbClr val="FFFFFF"/>
                </a:solidFill>
              </a:rPr>
              <a:t>EN: Potential anti-cancer agents. </a:t>
            </a:r>
            <a:endParaRPr lang="en-US" sz="1800" dirty="0"/>
          </a:p>
          <a:p>
            <a:pPr indent="0" marL="0">
              <a:lnSpc>
                <a:spcPct val="150000"/>
              </a:lnSpc>
              <a:buNone/>
            </a:pPr>
            <a:r>
              <a:rPr lang="en-US" sz="1800" dirty="0">
                <a:solidFill>
                  <a:srgbClr val="FFFFFF"/>
                </a:solidFill>
              </a:rPr>
              <a:t>ZH: 具潛在抗癌效果。</a:t>
            </a:r>
            <a:endParaRPr lang="en-US" sz="1800" dirty="0"/>
          </a:p>
        </p:txBody>
      </p:sp>
      <p:sp>
        <p:nvSpPr>
          <p:cNvPr id="9" name="Shape 7"/>
          <p:cNvSpPr/>
          <p:nvPr/>
        </p:nvSpPr>
        <p:spPr>
          <a:xfrm>
            <a:off x="6309360" y="1554480"/>
            <a:ext cx="5303520" cy="36576"/>
          </a:xfrm>
          <a:prstGeom prst="rect">
            <a:avLst/>
          </a:prstGeom>
          <a:solidFill>
            <a:srgbClr val="2563EB"/>
          </a:solidFill>
          <a:ln/>
        </p:spPr>
      </p:sp>
      <p:sp>
        <p:nvSpPr>
          <p:cNvPr id="10" name="Text 8"/>
          <p:cNvSpPr/>
          <p:nvPr/>
        </p:nvSpPr>
        <p:spPr>
          <a:xfrm>
            <a:off x="6309360" y="1737360"/>
            <a:ext cx="5303520" cy="0"/>
          </a:xfrm>
          <a:prstGeom prst="rect">
            <a:avLst/>
          </a:prstGeom>
          <a:noFill/>
          <a:ln/>
        </p:spPr>
        <p:txBody>
          <a:bodyPr wrap="square" rtlCol="0" anchor="ctr"/>
          <a:lstStyle/>
          <a:p>
            <a:pPr indent="0" marL="0">
              <a:buNone/>
            </a:pPr>
            <a:r>
              <a:rPr lang="en-US" sz="900" b="1" spc="300" kern="0" dirty="0">
                <a:solidFill>
                  <a:srgbClr val="2563EB"/>
                </a:solidFill>
                <a:latin typeface="Arial" pitchFamily="34" charset="0"/>
                <a:ea typeface="Arial" pitchFamily="34" charset="-122"/>
                <a:cs typeface="Arial" pitchFamily="34" charset="-120"/>
              </a:rPr>
              <a:t>🔮 FUTURE DIRECTION</a:t>
            </a:r>
            <a:endParaRPr lang="en-US" sz="900" dirty="0"/>
          </a:p>
        </p:txBody>
      </p:sp>
      <p:sp>
        <p:nvSpPr>
          <p:cNvPr id="11" name="Text 9"/>
          <p:cNvSpPr/>
          <p:nvPr/>
        </p:nvSpPr>
        <p:spPr>
          <a:xfrm>
            <a:off x="6309360" y="1965960"/>
            <a:ext cx="5303520" cy="0"/>
          </a:xfrm>
          <a:prstGeom prst="rect">
            <a:avLst/>
          </a:prstGeom>
          <a:noFill/>
          <a:ln/>
        </p:spPr>
        <p:txBody>
          <a:bodyPr wrap="square" rtlCol="0" anchor="ctr"/>
          <a:lstStyle/>
          <a:p>
            <a:pPr indent="0" marL="0">
              <a:buNone/>
            </a:pPr>
            <a:r>
              <a:rPr lang="en-US" sz="900" dirty="0">
                <a:solidFill>
                  <a:srgbClr val="888888"/>
                </a:solidFill>
                <a:latin typeface="Microsoft JhengHei" pitchFamily="34" charset="0"/>
                <a:ea typeface="Microsoft JhengHei" pitchFamily="34" charset="-122"/>
                <a:cs typeface="Microsoft JhengHei" pitchFamily="34" charset="-120"/>
              </a:rPr>
              <a:t>未來方向</a:t>
            </a:r>
            <a:endParaRPr lang="en-US" sz="900" dirty="0"/>
          </a:p>
        </p:txBody>
      </p:sp>
      <p:sp>
        <p:nvSpPr>
          <p:cNvPr id="12" name="Text 10"/>
          <p:cNvSpPr/>
          <p:nvPr/>
        </p:nvSpPr>
        <p:spPr>
          <a:xfrm>
            <a:off x="6309360" y="2286000"/>
            <a:ext cx="5303520" cy="0"/>
          </a:xfrm>
          <a:prstGeom prst="rect">
            <a:avLst/>
          </a:prstGeom>
          <a:noFill/>
          <a:ln/>
        </p:spPr>
        <p:txBody>
          <a:bodyPr wrap="square" rtlCol="0" anchor="ctr"/>
          <a:lstStyle/>
          <a:p>
            <a:pPr indent="0" marL="0">
              <a:lnSpc>
                <a:spcPct val="150000"/>
              </a:lnSpc>
              <a:buNone/>
            </a:pPr>
            <a:r>
              <a:rPr lang="en-US" sz="1800" dirty="0">
                <a:solidFill>
                  <a:srgbClr val="FFFFFF"/>
                </a:solidFill>
              </a:rPr>
              <a:t>EN: Explore further biological activities. </a:t>
            </a:r>
            <a:endParaRPr lang="en-US" sz="1800" dirty="0"/>
          </a:p>
          <a:p>
            <a:pPr indent="0" marL="0">
              <a:lnSpc>
                <a:spcPct val="150000"/>
              </a:lnSpc>
              <a:buNone/>
            </a:pPr>
            <a:r>
              <a:rPr lang="en-US" sz="1800" dirty="0">
                <a:solidFill>
                  <a:srgbClr val="FFFFFF"/>
                </a:solidFill>
              </a:rPr>
              <a:t>ZH: 探索更多生物活性。</a:t>
            </a:r>
            <a:endParaRPr lang="en-US" sz="1800" dirty="0"/>
          </a:p>
        </p:txBody>
      </p:sp>
      <p:sp>
        <p:nvSpPr>
          <p:cNvPr id="13" name="Text 11">
            <a:hlinkClick r:id="rId1" tooltip=""/>
          </p:cNvPr>
          <p:cNvSpPr/>
          <p:nvPr/>
        </p:nvSpPr>
        <p:spPr>
          <a:xfrm>
            <a:off x="731520" y="6217920"/>
            <a:ext cx="3657600" cy="0"/>
          </a:xfrm>
          <a:prstGeom prst="rect">
            <a:avLst/>
          </a:prstGeom>
          <a:noFill/>
          <a:ln/>
        </p:spPr>
        <p:txBody>
          <a:bodyPr wrap="square" rtlCol="0" anchor="ctr"/>
          <a:lstStyle/>
          <a:p>
            <a:pPr indent="0" marL="0">
              <a:buNone/>
            </a:pPr>
            <a:r>
              <a:rPr lang="en-US" sz="1000" b="1" u="sng" dirty="0">
                <a:solidFill>
                  <a:srgbClr val="DBEAFE"/>
                </a:solidFill>
                <a:hlinkClick r:id="rId1" invalidUrl="" action="" tgtFrame="" tooltip="" history="1" highlightClick="0" endSnd="0">
                  <a:extLst>
                    <a:ext uri="{A12FA001-AC4F-418D-AE19-62706E023703}">
                      <ahyp:hlinkClr xmlns:ahyp="http://schemas.microsoft.com/office/drawing/2018/hyperlinkcolor" val="tx"/>
                    </a:ext>
                  </a:extLst>
                </a:hlinkClick>
              </a:rPr>
              <a:t>📎 View Paper →</a:t>
            </a:r>
            <a:endParaRPr lang="en-US" sz="1000" dirty="0"/>
          </a:p>
        </p:txBody>
      </p:sp>
      <p:sp>
        <p:nvSpPr>
          <p:cNvPr id="14" name="Shape 12"/>
          <p:cNvSpPr/>
          <p:nvPr/>
        </p:nvSpPr>
        <p:spPr>
          <a:xfrm>
            <a:off x="0" y="6803136"/>
            <a:ext cx="12188952" cy="54864"/>
          </a:xfrm>
          <a:prstGeom prst="rect">
            <a:avLst/>
          </a:prstGeom>
          <a:solidFill>
            <a:srgbClr val="2563EB"/>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563EB"/>
          </a:solidFill>
          <a:ln/>
        </p:spPr>
      </p:sp>
      <p:sp>
        <p:nvSpPr>
          <p:cNvPr id="3" name="Text 1"/>
          <p:cNvSpPr/>
          <p:nvPr/>
        </p:nvSpPr>
        <p:spPr>
          <a:xfrm>
            <a:off x="731520" y="365760"/>
            <a:ext cx="5486400" cy="0"/>
          </a:xfrm>
          <a:prstGeom prst="rect">
            <a:avLst/>
          </a:prstGeom>
          <a:noFill/>
          <a:ln/>
        </p:spPr>
        <p:txBody>
          <a:bodyPr wrap="square" rtlCol="0" anchor="ctr"/>
          <a:lstStyle/>
          <a:p>
            <a:pPr indent="0" marL="0">
              <a:buNone/>
            </a:pPr>
            <a:r>
              <a:rPr lang="en-US" sz="900" spc="600" kern="0" dirty="0">
                <a:solidFill>
                  <a:srgbClr val="888888"/>
                </a:solidFill>
                <a:latin typeface="Arial" pitchFamily="34" charset="0"/>
                <a:ea typeface="Arial" pitchFamily="34" charset="-122"/>
                <a:cs typeface="Arial" pitchFamily="34" charset="-120"/>
              </a:rPr>
              <a:t>SYNTHESIS</a:t>
            </a:r>
            <a:endParaRPr lang="en-US" sz="900" dirty="0"/>
          </a:p>
        </p:txBody>
      </p:sp>
      <p:sp>
        <p:nvSpPr>
          <p:cNvPr id="4" name="Text 2"/>
          <p:cNvSpPr/>
          <p:nvPr/>
        </p:nvSpPr>
        <p:spPr>
          <a:xfrm>
            <a:off x="731520" y="822960"/>
            <a:ext cx="10058400" cy="0"/>
          </a:xfrm>
          <a:prstGeom prst="rect">
            <a:avLst/>
          </a:prstGeom>
          <a:noFill/>
          <a:ln/>
        </p:spPr>
        <p:txBody>
          <a:bodyPr wrap="square" rtlCol="0" anchor="ctr"/>
          <a:lstStyle/>
          <a:p>
            <a:pPr indent="0" marL="0">
              <a:lnSpc>
                <a:spcPct val="100000"/>
              </a:lnSpc>
              <a:buNone/>
            </a:pPr>
            <a:r>
              <a:rPr lang="en-US" sz="3200" b="1" dirty="0">
                <a:solidFill>
                  <a:srgbClr val="FFFFFF"/>
                </a:solidFill>
                <a:latin typeface="Arial" pitchFamily="34" charset="0"/>
                <a:ea typeface="Arial" pitchFamily="34" charset="-122"/>
                <a:cs typeface="Arial" pitchFamily="34" charset="-120"/>
              </a:rPr>
              <a:t>Overall Insights</a:t>
            </a:r>
            <a:endParaRPr lang="en-US" sz="3200" dirty="0"/>
          </a:p>
          <a:p>
            <a:pPr indent="0" marL="0">
              <a:lnSpc>
                <a:spcPct val="100000"/>
              </a:lnSpc>
              <a:buNone/>
            </a:pPr>
            <a:r>
              <a:rPr lang="en-US" sz="3200" b="1" dirty="0">
                <a:solidFill>
                  <a:srgbClr val="FFFFFF"/>
                </a:solidFill>
                <a:latin typeface="Arial" pitchFamily="34" charset="0"/>
                <a:ea typeface="Arial" pitchFamily="34" charset="-122"/>
                <a:cs typeface="Arial" pitchFamily="34" charset="-120"/>
              </a:rPr>
              <a:t>&amp; Future Directions</a:t>
            </a:r>
            <a:endParaRPr lang="en-US" sz="3200" dirty="0"/>
          </a:p>
        </p:txBody>
      </p:sp>
      <p:sp>
        <p:nvSpPr>
          <p:cNvPr id="5" name="Text 3"/>
          <p:cNvSpPr/>
          <p:nvPr/>
        </p:nvSpPr>
        <p:spPr>
          <a:xfrm>
            <a:off x="731520" y="2377440"/>
            <a:ext cx="10058400" cy="0"/>
          </a:xfrm>
          <a:prstGeom prst="rect">
            <a:avLst/>
          </a:prstGeom>
          <a:noFill/>
          <a:ln/>
        </p:spPr>
        <p:txBody>
          <a:bodyPr wrap="square" rtlCol="0" anchor="ctr"/>
          <a:lstStyle/>
          <a:p>
            <a:pPr indent="0" marL="0">
              <a:buNone/>
            </a:pPr>
            <a:r>
              <a:rPr lang="en-US" sz="1400" dirty="0">
                <a:solidFill>
                  <a:srgbClr val="888888"/>
                </a:solidFill>
                <a:latin typeface="Microsoft JhengHei" pitchFamily="34" charset="0"/>
                <a:ea typeface="Microsoft JhengHei" pitchFamily="34" charset="-122"/>
                <a:cs typeface="Microsoft JhengHei" pitchFamily="34" charset="-120"/>
              </a:rPr>
              <a:t>綜合啟示與未來研究方向</a:t>
            </a:r>
            <a:endParaRPr lang="en-US" sz="1400" dirty="0"/>
          </a:p>
        </p:txBody>
      </p:sp>
      <p:sp>
        <p:nvSpPr>
          <p:cNvPr id="6" name="Shape 4"/>
          <p:cNvSpPr/>
          <p:nvPr/>
        </p:nvSpPr>
        <p:spPr>
          <a:xfrm>
            <a:off x="731520" y="2743200"/>
            <a:ext cx="2743200" cy="36576"/>
          </a:xfrm>
          <a:prstGeom prst="rect">
            <a:avLst/>
          </a:prstGeom>
          <a:solidFill>
            <a:srgbClr val="2563EB"/>
          </a:solidFill>
          <a:ln/>
        </p:spPr>
      </p:sp>
      <p:sp>
        <p:nvSpPr>
          <p:cNvPr id="7" name="Text 5"/>
          <p:cNvSpPr/>
          <p:nvPr/>
        </p:nvSpPr>
        <p:spPr>
          <a:xfrm>
            <a:off x="731520" y="3017520"/>
            <a:ext cx="10515600" cy="0"/>
          </a:xfrm>
          <a:prstGeom prst="rect">
            <a:avLst/>
          </a:prstGeom>
          <a:noFill/>
          <a:ln/>
        </p:spPr>
        <p:txBody>
          <a:bodyPr wrap="square" rtlCol="0" anchor="ctr"/>
          <a:lstStyle/>
          <a:p>
            <a:pPr indent="0" marL="0">
              <a:lnSpc>
                <a:spcPct val="160000"/>
              </a:lnSpc>
              <a:buNone/>
            </a:pPr>
            <a:r>
              <a:rPr lang="en-US" sz="1000" dirty="0">
                <a:solidFill>
                  <a:srgbClr val="FFFFFF"/>
                </a:solidFill>
              </a:rPr>
              <a:t>### 綜合啟示 (Overall Insights)</a:t>
            </a:r>
            <a:endParaRPr lang="en-US" sz="1000" dirty="0"/>
          </a:p>
          <a:p>
            <a:pPr indent="0" marL="0">
              <a:lnSpc>
                <a:spcPct val="160000"/>
              </a:lnSpc>
              <a:buNone/>
            </a:pPr>
            <a:endParaRPr lang="en-US" sz="1000" dirty="0"/>
          </a:p>
          <a:p>
            <a:pPr indent="0" marL="0">
              <a:lnSpc>
                <a:spcPct val="160000"/>
              </a:lnSpc>
              <a:buNone/>
            </a:pPr>
            <a:r>
              <a:rPr lang="en-US" sz="1000" dirty="0">
                <a:solidFill>
                  <a:srgbClr val="FFFFFF"/>
                </a:solidFill>
              </a:rPr>
              <a:t>1. **腸道微生物與癌症的關聯性**  </a:t>
            </a:r>
            <a:endParaRPr lang="en-US" sz="1000" dirty="0"/>
          </a:p>
          <a:p>
            <a:pPr indent="0" marL="0">
              <a:lnSpc>
                <a:spcPct val="160000"/>
              </a:lnSpc>
              <a:buNone/>
            </a:pPr>
            <a:r>
              <a:rPr lang="en-US" sz="1000" dirty="0">
                <a:solidFill>
                  <a:srgbClr val="FFFFFF"/>
                </a:solidFill>
              </a:rPr>
              <a:t>   The study of *Parasutterella excrementihominis* highlights the role of gut microbiota in exacerbating colitis and colorectal cancer, suggesting that microbial dysbiosis may be a critical factor in inflammation-driven carcinogenesis.  </a:t>
            </a:r>
            <a:endParaRPr lang="en-US" sz="1000" dirty="0"/>
          </a:p>
          <a:p>
            <a:pPr indent="0" marL="0">
              <a:lnSpc>
                <a:spcPct val="160000"/>
              </a:lnSpc>
              <a:buNone/>
            </a:pPr>
            <a:r>
              <a:rPr lang="en-US" sz="1000" dirty="0">
                <a:solidFill>
                  <a:srgbClr val="FFFFFF"/>
                </a:solidFill>
              </a:rPr>
              <a:t>   *Parasutterella excrementihominis*的研究突顯了腸道微生物在加重結腸炎和結直腸癌中的角色，表明微生物失調可能是炎症驅動癌症發生的關鍵因素。</a:t>
            </a:r>
            <a:endParaRPr lang="en-US" sz="1000" dirty="0"/>
          </a:p>
          <a:p>
            <a:pPr indent="0" marL="0">
              <a:lnSpc>
                <a:spcPct val="160000"/>
              </a:lnSpc>
              <a:buNone/>
            </a:pPr>
            <a:endParaRPr lang="en-US" sz="1000" dirty="0"/>
          </a:p>
          <a:p>
            <a:pPr indent="0" marL="0">
              <a:lnSpc>
                <a:spcPct val="160000"/>
              </a:lnSpc>
              <a:buNone/>
            </a:pPr>
            <a:r>
              <a:rPr lang="en-US" sz="1000" dirty="0">
                <a:solidFill>
                  <a:srgbClr val="FFFFFF"/>
                </a:solidFill>
              </a:rPr>
              <a:t>2. **免疫炎症指數作為預後生物標記**  </a:t>
            </a:r>
            <a:endParaRPr lang="en-US" sz="1000" dirty="0"/>
          </a:p>
          <a:p>
            <a:pPr indent="0" marL="0">
              <a:lnSpc>
                <a:spcPct val="160000"/>
              </a:lnSpc>
              <a:buNone/>
            </a:pPr>
            <a:r>
              <a:rPr lang="en-US" sz="1000" dirty="0">
                <a:solidFill>
                  <a:srgbClr val="FFFFFF"/>
                </a:solidFill>
              </a:rPr>
              <a:t>   The systemic immune-inflammation index (SII) has emerged as a promising prognostic biomarker for colorectal cancer, indicating its potential utility in clinical decision-making and patient stratification.  </a:t>
            </a:r>
            <a:endParaRPr lang="en-US" sz="1000" dirty="0"/>
          </a:p>
          <a:p>
            <a:pPr indent="0" marL="0">
              <a:lnSpc>
                <a:spcPct val="160000"/>
              </a:lnSpc>
              <a:buNone/>
            </a:pPr>
            <a:r>
              <a:rPr lang="en-US" sz="1000" dirty="0">
                <a:solidFill>
                  <a:srgbClr val="FFFFFF"/>
                </a:solidFill>
              </a:rPr>
              <a:t>   系統性免疫炎症指數(SII)已成為結直腸癌有前景的預後生物標記，顯示其在臨床決策和患者分層中的潛在應用。</a:t>
            </a:r>
            <a:endParaRPr lang="en-US" sz="1000" dirty="0"/>
          </a:p>
          <a:p>
            <a:pPr indent="0" marL="0">
              <a:lnSpc>
                <a:spcPct val="160000"/>
              </a:lnSpc>
              <a:buNone/>
            </a:pPr>
            <a:endParaRPr lang="en-US" sz="1000" dirty="0"/>
          </a:p>
          <a:p>
            <a:pPr indent="0" marL="0">
              <a:lnSpc>
                <a:spcPct val="160000"/>
              </a:lnSpc>
              <a:buNone/>
            </a:pPr>
            <a:r>
              <a:rPr lang="en-US" sz="1000" dirty="0">
                <a:solidFill>
                  <a:srgbClr val="FFFFFF"/>
                </a:solidFill>
              </a:rPr>
              <a:t>3. **新型治療策略的開發**  </a:t>
            </a:r>
            <a:endParaRPr lang="en-US" sz="1000" dirty="0"/>
          </a:p>
          <a:p>
            <a:pPr indent="0" marL="0">
              <a:lnSpc>
                <a:spcPct val="160000"/>
              </a:lnSpc>
              <a:buNone/>
            </a:pPr>
            <a:r>
              <a:rPr lang="en-US" sz="1000" dirty="0">
                <a:solidFill>
                  <a:srgbClr val="FFFFFF"/>
                </a:solidFill>
              </a:rPr>
              <a:t>   The findings on the anti-tumor effects of *Sanghuangporus vaninii* and the role of alpha-1 antitrypsin in metastasis underscore the need for novel therapeutic strategies targeting inflammation and immune modulation in colorectal cancer.  </a:t>
            </a:r>
            <a:endParaRPr lang="en-US" sz="1000" dirty="0"/>
          </a:p>
          <a:p>
            <a:pPr indent="0" marL="0">
              <a:lnSpc>
                <a:spcPct val="160000"/>
              </a:lnSpc>
              <a:buNone/>
            </a:pPr>
            <a:r>
              <a:rPr lang="en-US" sz="1000" dirty="0">
                <a:solidFill>
                  <a:srgbClr val="FFFFFF"/>
                </a:solidFill>
              </a:rPr>
              <a:t>   *Sanghuangporus vaninii*的抗腫瘤效果和α-1抗胰蛋白酶在轉移中的作用強調了針對結直腸癌中炎症和免疫調節的新型治療策略的需求。</a:t>
            </a:r>
            <a:endParaRPr lang="en-US" sz="1000" dirty="0"/>
          </a:p>
          <a:p>
            <a:pPr indent="0" marL="0">
              <a:lnSpc>
                <a:spcPct val="160000"/>
              </a:lnSpc>
              <a:buNone/>
            </a:pPr>
            <a:endParaRPr lang="en-US" sz="1000" dirty="0"/>
          </a:p>
          <a:p>
            <a:pPr indent="0" marL="0">
              <a:lnSpc>
                <a:spcPct val="160000"/>
              </a:lnSpc>
              <a:buNone/>
            </a:pPr>
            <a:r>
              <a:rPr lang="en-US" sz="1000" dirty="0">
                <a:solidFill>
                  <a:srgbClr val="FFFFFF"/>
                </a:solidFill>
              </a:rPr>
              <a:t>4. **化療與腫瘤微環境的相互作用**  </a:t>
            </a:r>
            <a:endParaRPr lang="en-US" sz="1000" dirty="0"/>
          </a:p>
          <a:p>
            <a:pPr indent="0" marL="0">
              <a:lnSpc>
                <a:spcPct val="160000"/>
              </a:lnSpc>
              <a:buNone/>
            </a:pPr>
            <a:r>
              <a:rPr lang="en-US" sz="1000" dirty="0">
                <a:solidFill>
                  <a:srgbClr val="FFFFFF"/>
                </a:solidFill>
              </a:rPr>
              <a:t>   The impact of hyperthermic intraperitoneal chemotherapy on peritoneal metastases reveals the complex interplay between therapeutic interventions and the tumor microenvironment, necessitating further exploration of combination therapies.  </a:t>
            </a:r>
            <a:endParaRPr lang="en-US" sz="1000" dirty="0"/>
          </a:p>
          <a:p>
            <a:pPr indent="0" marL="0">
              <a:lnSpc>
                <a:spcPct val="160000"/>
              </a:lnSpc>
              <a:buNone/>
            </a:pPr>
            <a:r>
              <a:rPr lang="en-US" sz="1000" dirty="0">
                <a:solidFill>
                  <a:srgbClr val="FFFFFF"/>
                </a:solidFill>
              </a:rPr>
              <a:t>   高溫腹腔化療對腹膜轉移的影響揭示了治療干預與腫瘤微環境之間的複雜相互作用，需進一步探索聯合療法。</a:t>
            </a:r>
            <a:endParaRPr lang="en-US" sz="1000" dirty="0"/>
          </a:p>
          <a:p>
            <a:pPr indent="0" marL="0">
              <a:lnSpc>
                <a:spcPct val="160000"/>
              </a:lnSpc>
              <a:buNone/>
            </a:pPr>
            <a:endParaRPr lang="en-US" sz="1000" dirty="0"/>
          </a:p>
          <a:p>
            <a:pPr indent="0" marL="0">
              <a:lnSpc>
                <a:spcPct val="160000"/>
              </a:lnSpc>
              <a:buNone/>
            </a:pPr>
            <a:r>
              <a:rPr lang="en-US" sz="1000" dirty="0">
                <a:solidFill>
                  <a:srgbClr val="FFFFFF"/>
                </a:solidFill>
              </a:rPr>
              <a:t>### 未來研究方向 (Future Research Directions)</a:t>
            </a:r>
            <a:endParaRPr lang="en-US" sz="1000" dirty="0"/>
          </a:p>
          <a:p>
            <a:pPr indent="0" marL="0">
              <a:lnSpc>
                <a:spcPct val="160000"/>
              </a:lnSpc>
              <a:buNone/>
            </a:pPr>
            <a:endParaRPr lang="en-US" sz="1000" dirty="0"/>
          </a:p>
          <a:p>
            <a:pPr indent="0" marL="0">
              <a:lnSpc>
                <a:spcPct val="160000"/>
              </a:lnSpc>
              <a:buNone/>
            </a:pPr>
            <a:r>
              <a:rPr lang="en-US" sz="1000" dirty="0">
                <a:solidFill>
                  <a:srgbClr val="FFFFFF"/>
                </a:solidFill>
              </a:rPr>
              <a:t>1. **微生物組與腫瘤進展的機制研究**  </a:t>
            </a:r>
            <a:endParaRPr lang="en-US" sz="1000" dirty="0"/>
          </a:p>
          <a:p>
            <a:pPr indent="0" marL="0">
              <a:lnSpc>
                <a:spcPct val="160000"/>
              </a:lnSpc>
              <a:buNone/>
            </a:pPr>
            <a:r>
              <a:rPr lang="en-US" sz="1000" dirty="0">
                <a:solidFill>
                  <a:srgbClr val="FFFFFF"/>
                </a:solidFill>
              </a:rPr>
              <a:t>   Future studies should focus on elucidating the mechanisms by which gut microbiota influence tumor progression and immune responses in colorectal cancer.  </a:t>
            </a:r>
            <a:endParaRPr lang="en-US" sz="1000" dirty="0"/>
          </a:p>
          <a:p>
            <a:pPr indent="0" marL="0">
              <a:lnSpc>
                <a:spcPct val="160000"/>
              </a:lnSpc>
              <a:buNone/>
            </a:pPr>
            <a:r>
              <a:rPr lang="en-US" sz="1000" dirty="0">
                <a:solidFill>
                  <a:srgbClr val="FFFFFF"/>
                </a:solidFill>
              </a:rPr>
              <a:t>   未來研究應集中於闡明腸道微生物如何影響結直腸癌中的腫瘤進展和免疫反應的機制。</a:t>
            </a:r>
            <a:endParaRPr lang="en-US" sz="1000" dirty="0"/>
          </a:p>
          <a:p>
            <a:pPr indent="0" marL="0">
              <a:lnSpc>
                <a:spcPct val="160000"/>
              </a:lnSpc>
              <a:buNone/>
            </a:pPr>
            <a:endParaRPr lang="en-US" sz="1000" dirty="0"/>
          </a:p>
          <a:p>
            <a:pPr indent="0" marL="0">
              <a:lnSpc>
                <a:spcPct val="160000"/>
              </a:lnSpc>
              <a:buNone/>
            </a:pPr>
            <a:r>
              <a:rPr lang="en-US" sz="1000" dirty="0">
                <a:solidFill>
                  <a:srgbClr val="FFFFFF"/>
                </a:solidFill>
              </a:rPr>
              <a:t>2. **新型生物標記的驗證**  </a:t>
            </a:r>
            <a:endParaRPr lang="en-US" sz="1000" dirty="0"/>
          </a:p>
          <a:p>
            <a:pPr indent="0" marL="0">
              <a:lnSpc>
                <a:spcPct val="160000"/>
              </a:lnSpc>
              <a:buNone/>
            </a:pPr>
            <a:r>
              <a:rPr lang="en-US" sz="1000" dirty="0">
                <a:solidFill>
                  <a:srgbClr val="FFFFFF"/>
                </a:solidFill>
              </a:rPr>
              <a:t>   Further validation of the systemic immune-inflammation index (SII) and its integration into clinical practice for patient management and treatment stratification is warranted.  </a:t>
            </a:r>
            <a:endParaRPr lang="en-US" sz="1000" dirty="0"/>
          </a:p>
          <a:p>
            <a:pPr indent="0" marL="0">
              <a:lnSpc>
                <a:spcPct val="160000"/>
              </a:lnSpc>
              <a:buNone/>
            </a:pPr>
            <a:r>
              <a:rPr lang="en-US" sz="1000" dirty="0">
                <a:solidFill>
                  <a:srgbClr val="FFFFFF"/>
                </a:solidFill>
              </a:rPr>
              <a:t>   需要進一步驗證系統性免疫炎症指數(SII)及其在患者管理和治療分層中的整合應用。</a:t>
            </a:r>
            <a:endParaRPr lang="en-US" sz="1000" dirty="0"/>
          </a:p>
          <a:p>
            <a:pPr indent="0" marL="0">
              <a:lnSpc>
                <a:spcPct val="160000"/>
              </a:lnSpc>
              <a:buNone/>
            </a:pPr>
            <a:endParaRPr lang="en-US" sz="1000" dirty="0"/>
          </a:p>
          <a:p>
            <a:pPr indent="0" marL="0">
              <a:lnSpc>
                <a:spcPct val="160000"/>
              </a:lnSpc>
              <a:buNone/>
            </a:pPr>
            <a:r>
              <a:rPr lang="en-US" sz="1000" dirty="0">
                <a:solidFill>
                  <a:srgbClr val="FFFFFF"/>
                </a:solidFill>
              </a:rPr>
              <a:t>3. **抗腫瘤藥物的機制探索**  </a:t>
            </a:r>
            <a:endParaRPr lang="en-US" sz="1000" dirty="0"/>
          </a:p>
          <a:p>
            <a:pPr indent="0" marL="0">
              <a:lnSpc>
                <a:spcPct val="160000"/>
              </a:lnSpc>
              <a:buNone/>
            </a:pPr>
            <a:r>
              <a:rPr lang="en-US" sz="1000" dirty="0">
                <a:solidFill>
                  <a:srgbClr val="FFFFFF"/>
                </a:solidFill>
              </a:rPr>
              <a:t>   Investigating the mechanisms of action of natural compounds like *Sanghuangporus vaninii* and their potential synergistic effects with existing therapies could provide new avenues for treatment.  </a:t>
            </a:r>
            <a:endParaRPr lang="en-US" sz="1000" dirty="0"/>
          </a:p>
          <a:p>
            <a:pPr indent="0" marL="0">
              <a:lnSpc>
                <a:spcPct val="160000"/>
              </a:lnSpc>
              <a:buNone/>
            </a:pPr>
            <a:r>
              <a:rPr lang="en-US" sz="1000" dirty="0">
                <a:solidFill>
                  <a:srgbClr val="FFFFFF"/>
                </a:solidFill>
              </a:rPr>
              <a:t>   探索天然化合物如*Sanghuangporus vaninii*的作用機制及其與現有療法的潛在協同效應，可能為治療提供新途徑。</a:t>
            </a:r>
            <a:endParaRPr lang="en-US" sz="1000" dirty="0"/>
          </a:p>
          <a:p>
            <a:pPr indent="0" marL="0">
              <a:lnSpc>
                <a:spcPct val="160000"/>
              </a:lnSpc>
              <a:buNone/>
            </a:pPr>
            <a:endParaRPr lang="en-US" sz="1000" dirty="0"/>
          </a:p>
          <a:p>
            <a:pPr indent="0" marL="0">
              <a:lnSpc>
                <a:spcPct val="160000"/>
              </a:lnSpc>
              <a:buNone/>
            </a:pPr>
            <a:r>
              <a:rPr lang="en-US" sz="1000" dirty="0">
                <a:solidFill>
                  <a:srgbClr val="FFFFFF"/>
                </a:solidFill>
              </a:rPr>
              <a:t>4. **炎症微環境的調節策略**  </a:t>
            </a:r>
            <a:endParaRPr lang="en-US" sz="1000" dirty="0"/>
          </a:p>
          <a:p>
            <a:pPr indent="0" marL="0">
              <a:lnSpc>
                <a:spcPct val="160000"/>
              </a:lnSpc>
              <a:buNone/>
            </a:pPr>
            <a:r>
              <a:rPr lang="en-US" sz="1000" dirty="0">
                <a:solidFill>
                  <a:srgbClr val="FFFFFF"/>
                </a:solidFill>
              </a:rPr>
              <a:t>   Research should aim at developing strategies to modulate the inflammatory tumor microenvironment, potentially improving the efficacy of existing treatments for colorectal cancer.  </a:t>
            </a:r>
            <a:endParaRPr lang="en-US" sz="1000" dirty="0"/>
          </a:p>
          <a:p>
            <a:pPr indent="0" marL="0">
              <a:lnSpc>
                <a:spcPct val="160000"/>
              </a:lnSpc>
              <a:buNone/>
            </a:pPr>
            <a:r>
              <a:rPr lang="en-US" sz="1000" dirty="0">
                <a:solidFill>
                  <a:srgbClr val="FFFFFF"/>
                </a:solidFill>
              </a:rPr>
              <a:t>   研究應致力於開發調節炎症腫瘤微環境的策略，可能提高現有結直腸癌治療的療效。</a:t>
            </a:r>
            <a:endParaRPr lang="en-US" sz="1000" dirty="0"/>
          </a:p>
        </p:txBody>
      </p:sp>
      <p:sp>
        <p:nvSpPr>
          <p:cNvPr id="8" name="Shape 6"/>
          <p:cNvSpPr/>
          <p:nvPr/>
        </p:nvSpPr>
        <p:spPr>
          <a:xfrm>
            <a:off x="0" y="6803136"/>
            <a:ext cx="12188952" cy="54864"/>
          </a:xfrm>
          <a:prstGeom prst="rect">
            <a:avLst/>
          </a:prstGeom>
          <a:solidFill>
            <a:srgbClr val="2563EB"/>
          </a:solidFill>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2563EB"/>
          </a:solidFill>
          <a:ln/>
        </p:spPr>
      </p:sp>
      <p:sp>
        <p:nvSpPr>
          <p:cNvPr id="3" name="Text 1"/>
          <p:cNvSpPr/>
          <p:nvPr/>
        </p:nvSpPr>
        <p:spPr>
          <a:xfrm>
            <a:off x="731520" y="2286000"/>
            <a:ext cx="10058400" cy="0"/>
          </a:xfrm>
          <a:prstGeom prst="rect">
            <a:avLst/>
          </a:prstGeom>
          <a:noFill/>
          <a:ln/>
        </p:spPr>
        <p:txBody>
          <a:bodyPr wrap="square" rtlCol="0" anchor="ctr"/>
          <a:lstStyle/>
          <a:p>
            <a:pPr indent="0" marL="0">
              <a:buNone/>
            </a:pPr>
            <a:r>
              <a:rPr lang="en-US" sz="4800" b="1" dirty="0">
                <a:solidFill>
                  <a:srgbClr val="FFFFFF"/>
                </a:solidFill>
                <a:latin typeface="Arial" pitchFamily="34" charset="0"/>
                <a:ea typeface="Arial" pitchFamily="34" charset="-122"/>
                <a:cs typeface="Arial" pitchFamily="34" charset="-120"/>
              </a:rPr>
              <a:t>Thank You</a:t>
            </a:r>
            <a:endParaRPr lang="en-US" sz="4800" dirty="0"/>
          </a:p>
        </p:txBody>
      </p:sp>
      <p:sp>
        <p:nvSpPr>
          <p:cNvPr id="4" name="Shape 2"/>
          <p:cNvSpPr/>
          <p:nvPr/>
        </p:nvSpPr>
        <p:spPr>
          <a:xfrm>
            <a:off x="731520" y="3474720"/>
            <a:ext cx="2743200" cy="54864"/>
          </a:xfrm>
          <a:prstGeom prst="rect">
            <a:avLst/>
          </a:prstGeom>
          <a:solidFill>
            <a:srgbClr val="2563EB"/>
          </a:solidFill>
          <a:ln/>
        </p:spPr>
      </p:sp>
      <p:sp>
        <p:nvSpPr>
          <p:cNvPr id="5" name="Text 3"/>
          <p:cNvSpPr/>
          <p:nvPr/>
        </p:nvSpPr>
        <p:spPr>
          <a:xfrm>
            <a:off x="731520" y="3749040"/>
            <a:ext cx="10058400" cy="0"/>
          </a:xfrm>
          <a:prstGeom prst="rect">
            <a:avLst/>
          </a:prstGeom>
          <a:noFill/>
          <a:ln/>
        </p:spPr>
        <p:txBody>
          <a:bodyPr wrap="square" rtlCol="0" anchor="ctr"/>
          <a:lstStyle/>
          <a:p>
            <a:pPr indent="0" marL="0">
              <a:buNone/>
            </a:pPr>
            <a:r>
              <a:rPr lang="en-US" sz="2400" dirty="0">
                <a:solidFill>
                  <a:srgbClr val="888888"/>
                </a:solidFill>
                <a:latin typeface="Microsoft JhengHei" pitchFamily="34" charset="0"/>
                <a:ea typeface="Microsoft JhengHei" pitchFamily="34" charset="-122"/>
                <a:cs typeface="Microsoft JhengHei" pitchFamily="34" charset="-120"/>
              </a:rPr>
              <a:t>謝謝</a:t>
            </a:r>
            <a:endParaRPr lang="en-US" sz="2400" dirty="0"/>
          </a:p>
        </p:txBody>
      </p:sp>
      <p:sp>
        <p:nvSpPr>
          <p:cNvPr id="6" name="Text 4"/>
          <p:cNvSpPr/>
          <p:nvPr/>
        </p:nvSpPr>
        <p:spPr>
          <a:xfrm>
            <a:off x="731520" y="4754880"/>
            <a:ext cx="10058400" cy="0"/>
          </a:xfrm>
          <a:prstGeom prst="rect">
            <a:avLst/>
          </a:prstGeom>
          <a:noFill/>
          <a:ln/>
        </p:spPr>
        <p:txBody>
          <a:bodyPr wrap="square" rtlCol="0" anchor="ctr"/>
          <a:lstStyle/>
          <a:p>
            <a:pPr indent="0" marL="0">
              <a:buNone/>
            </a:pPr>
            <a:r>
              <a:rPr lang="en-US" sz="1100" dirty="0">
                <a:solidFill>
                  <a:srgbClr val="888888"/>
                </a:solidFill>
              </a:rPr>
              <a:t>Colorectal Surgery Weekly Digest</a:t>
            </a:r>
            <a:endParaRPr lang="en-US" sz="1100" dirty="0"/>
          </a:p>
        </p:txBody>
      </p:sp>
      <p:sp>
        <p:nvSpPr>
          <p:cNvPr id="7" name="Text 5"/>
          <p:cNvSpPr/>
          <p:nvPr/>
        </p:nvSpPr>
        <p:spPr>
          <a:xfrm>
            <a:off x="731520" y="5120640"/>
            <a:ext cx="10058400" cy="0"/>
          </a:xfrm>
          <a:prstGeom prst="rect">
            <a:avLst/>
          </a:prstGeom>
          <a:noFill/>
          <a:ln/>
        </p:spPr>
        <p:txBody>
          <a:bodyPr wrap="square" rtlCol="0" anchor="ctr"/>
          <a:lstStyle/>
          <a:p>
            <a:pPr indent="0" marL="0">
              <a:buNone/>
            </a:pPr>
            <a:r>
              <a:rPr lang="en-US" sz="900" dirty="0">
                <a:solidFill>
                  <a:srgbClr val="888888"/>
                </a:solidFill>
              </a:rPr>
              <a:t>Sources: PubMed, Google Scholar · Translations: AI-assisted</a:t>
            </a:r>
            <a:endParaRPr lang="en-US" sz="900" dirty="0"/>
          </a:p>
        </p:txBody>
      </p:sp>
      <p:sp>
        <p:nvSpPr>
          <p:cNvPr id="8" name="Shape 6"/>
          <p:cNvSpPr/>
          <p:nvPr/>
        </p:nvSpPr>
        <p:spPr>
          <a:xfrm>
            <a:off x="0" y="6803136"/>
            <a:ext cx="12188952" cy="54864"/>
          </a:xfrm>
          <a:prstGeom prst="rect">
            <a:avLst/>
          </a:prstGeom>
          <a:solidFill>
            <a:srgbClr val="2563EB"/>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Colorectal Weekly Digest</dc:creator>
  <cp:lastModifiedBy>Colorectal Weekly Digest</cp:lastModifiedBy>
  <cp:revision>1</cp:revision>
  <dcterms:created xsi:type="dcterms:W3CDTF">2026-04-19T05:13:18Z</dcterms:created>
  <dcterms:modified xsi:type="dcterms:W3CDTF">2026-04-19T05:13:18Z</dcterms:modified>
</cp:coreProperties>
</file>