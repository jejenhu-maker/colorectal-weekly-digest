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Shape 1"/>
          <p:cNvSpPr/>
          <p:nvPr/>
        </p:nvSpPr>
        <p:spPr>
          <a:xfrm>
            <a:off x="4114800" y="1828800"/>
            <a:ext cx="3959352" cy="36576"/>
          </a:xfrm>
          <a:prstGeom prst="rect">
            <a:avLst/>
          </a:prstGeom>
          <a:solidFill>
            <a:srgbClr val="2D8B8B"/>
          </a:solidFill>
          <a:ln/>
        </p:spPr>
      </p:sp>
      <p:sp>
        <p:nvSpPr>
          <p:cNvPr id="4" name="Text 2"/>
          <p:cNvSpPr/>
          <p:nvPr/>
        </p:nvSpPr>
        <p:spPr>
          <a:xfrm>
            <a:off x="0" y="1097280"/>
            <a:ext cx="12192000" cy="0"/>
          </a:xfrm>
          <a:prstGeom prst="rect">
            <a:avLst/>
          </a:prstGeom>
          <a:noFill/>
          <a:ln/>
        </p:spPr>
        <p:txBody>
          <a:bodyPr wrap="square" rtlCol="0" anchor="ctr"/>
          <a:lstStyle/>
          <a:p>
            <a:pPr algn="ctr" indent="0" marL="0">
              <a:buNone/>
            </a:pPr>
            <a:r>
              <a:rPr lang="en-US" sz="4800" dirty="0">
                <a:solidFill>
                  <a:srgbClr val="000000"/>
                </a:solidFill>
              </a:rPr>
              <a:t>🔬</a:t>
            </a:r>
            <a:endParaRPr lang="en-US" sz="4800" dirty="0"/>
          </a:p>
        </p:txBody>
      </p:sp>
      <p:sp>
        <p:nvSpPr>
          <p:cNvPr id="5" name="Text 3"/>
          <p:cNvSpPr/>
          <p:nvPr/>
        </p:nvSpPr>
        <p:spPr>
          <a:xfrm>
            <a:off x="1371600" y="2103120"/>
            <a:ext cx="9445752" cy="0"/>
          </a:xfrm>
          <a:prstGeom prst="rect">
            <a:avLst/>
          </a:prstGeom>
          <a:noFill/>
          <a:ln/>
        </p:spPr>
        <p:txBody>
          <a:bodyPr wrap="square" rtlCol="0" anchor="ctr"/>
          <a:lstStyle/>
          <a:p>
            <a:pPr algn="ctr" indent="0" marL="0">
              <a:buNone/>
            </a:pPr>
            <a:r>
              <a:rPr lang="en-US" sz="3800" b="1" dirty="0">
                <a:solidFill>
                  <a:srgbClr val="FFFFFF"/>
                </a:solidFill>
                <a:latin typeface="Arial" pitchFamily="34" charset="0"/>
                <a:ea typeface="Arial" pitchFamily="34" charset="-122"/>
                <a:cs typeface="Arial" pitchFamily="34" charset="-120"/>
              </a:rPr>
              <a:t>Colorectal Surgery</a:t>
            </a:r>
            <a:endParaRPr lang="en-US" sz="3800" dirty="0"/>
          </a:p>
        </p:txBody>
      </p:sp>
      <p:sp>
        <p:nvSpPr>
          <p:cNvPr id="6" name="Text 4"/>
          <p:cNvSpPr/>
          <p:nvPr/>
        </p:nvSpPr>
        <p:spPr>
          <a:xfrm>
            <a:off x="1371600" y="2926080"/>
            <a:ext cx="9445752" cy="0"/>
          </a:xfrm>
          <a:prstGeom prst="rect">
            <a:avLst/>
          </a:prstGeom>
          <a:noFill/>
          <a:ln/>
        </p:spPr>
        <p:txBody>
          <a:bodyPr wrap="square" rtlCol="0" anchor="ctr"/>
          <a:lstStyle/>
          <a:p>
            <a:pPr algn="ctr" indent="0" marL="0">
              <a:buNone/>
            </a:pPr>
            <a:r>
              <a:rPr lang="en-US" sz="3800" b="1" dirty="0">
                <a:solidFill>
                  <a:srgbClr val="A8DADC"/>
                </a:solidFill>
                <a:latin typeface="Arial" pitchFamily="34" charset="0"/>
                <a:ea typeface="Arial" pitchFamily="34" charset="-122"/>
                <a:cs typeface="Arial" pitchFamily="34" charset="-120"/>
              </a:rPr>
              <a:t>Weekly Digest</a:t>
            </a:r>
            <a:endParaRPr lang="en-US" sz="3800" dirty="0"/>
          </a:p>
        </p:txBody>
      </p:sp>
      <p:sp>
        <p:nvSpPr>
          <p:cNvPr id="7" name="Text 5"/>
          <p:cNvSpPr/>
          <p:nvPr/>
        </p:nvSpPr>
        <p:spPr>
          <a:xfrm>
            <a:off x="1371600" y="3840480"/>
            <a:ext cx="9445752" cy="0"/>
          </a:xfrm>
          <a:prstGeom prst="rect">
            <a:avLst/>
          </a:prstGeom>
          <a:noFill/>
          <a:ln/>
        </p:spPr>
        <p:txBody>
          <a:bodyPr wrap="square" rtlCol="0" anchor="ctr"/>
          <a:lstStyle/>
          <a:p>
            <a:pPr algn="ctr" indent="0" marL="0">
              <a:buNone/>
            </a:pPr>
            <a:r>
              <a:rPr lang="en-US" sz="2000" dirty="0">
                <a:solidFill>
                  <a:srgbClr val="6B8A8A"/>
                </a:solidFill>
                <a:latin typeface="Microsoft JhengHei" pitchFamily="34" charset="0"/>
                <a:ea typeface="Microsoft JhengHei" pitchFamily="34" charset="-122"/>
                <a:cs typeface="Microsoft JhengHei" pitchFamily="34" charset="-120"/>
              </a:rPr>
              <a:t>大腸直腸外科文獻週報</a:t>
            </a:r>
            <a:endParaRPr lang="en-US" sz="2000" dirty="0"/>
          </a:p>
        </p:txBody>
      </p:sp>
      <p:sp>
        <p:nvSpPr>
          <p:cNvPr id="8" name="Shape 6"/>
          <p:cNvSpPr/>
          <p:nvPr/>
        </p:nvSpPr>
        <p:spPr>
          <a:xfrm>
            <a:off x="4114800" y="4389120"/>
            <a:ext cx="3959352" cy="36576"/>
          </a:xfrm>
          <a:prstGeom prst="rect">
            <a:avLst/>
          </a:prstGeom>
          <a:solidFill>
            <a:srgbClr val="2D8B8B"/>
          </a:solidFill>
          <a:ln/>
        </p:spPr>
      </p:sp>
      <p:sp>
        <p:nvSpPr>
          <p:cNvPr id="9" name="Text 7"/>
          <p:cNvSpPr/>
          <p:nvPr/>
        </p:nvSpPr>
        <p:spPr>
          <a:xfrm>
            <a:off x="1371600" y="4572000"/>
            <a:ext cx="9445752" cy="0"/>
          </a:xfrm>
          <a:prstGeom prst="rect">
            <a:avLst/>
          </a:prstGeom>
          <a:noFill/>
          <a:ln/>
        </p:spPr>
        <p:txBody>
          <a:bodyPr wrap="square" rtlCol="0" anchor="ctr"/>
          <a:lstStyle/>
          <a:p>
            <a:pPr algn="ctr" indent="0" marL="0">
              <a:buNone/>
            </a:pPr>
            <a:r>
              <a:rPr lang="en-US" sz="1600" dirty="0">
                <a:solidFill>
                  <a:srgbClr val="6B8A8A"/>
                </a:solidFill>
              </a:rPr>
              <a:t>2026-04-11 — 2026-04-18</a:t>
            </a:r>
            <a:endParaRPr lang="en-US" sz="1600" dirty="0"/>
          </a:p>
        </p:txBody>
      </p:sp>
      <p:sp>
        <p:nvSpPr>
          <p:cNvPr id="10" name="Text 8"/>
          <p:cNvSpPr/>
          <p:nvPr/>
        </p:nvSpPr>
        <p:spPr>
          <a:xfrm>
            <a:off x="1371600" y="5120640"/>
            <a:ext cx="9445752" cy="0"/>
          </a:xfrm>
          <a:prstGeom prst="rect">
            <a:avLst/>
          </a:prstGeom>
          <a:noFill/>
          <a:ln/>
        </p:spPr>
        <p:txBody>
          <a:bodyPr wrap="square" rtlCol="0" anchor="ctr"/>
          <a:lstStyle/>
          <a:p>
            <a:pPr algn="ctr" indent="0" marL="0">
              <a:buNone/>
            </a:pPr>
            <a:r>
              <a:rPr lang="en-US" sz="1400" dirty="0">
                <a:solidFill>
                  <a:srgbClr val="6B8A8A"/>
                </a:solidFill>
              </a:rPr>
              <a:t>10 Selected Papers</a:t>
            </a:r>
            <a:endParaRPr lang="en-US" sz="1400" dirty="0"/>
          </a:p>
        </p:txBody>
      </p:sp>
      <p:sp>
        <p:nvSpPr>
          <p:cNvPr id="11" name="Shape 9"/>
          <p:cNvSpPr/>
          <p:nvPr/>
        </p:nvSpPr>
        <p:spPr>
          <a:xfrm>
            <a:off x="0" y="6784848"/>
            <a:ext cx="12188952" cy="73152"/>
          </a:xfrm>
          <a:prstGeom prst="rect">
            <a:avLst/>
          </a:prstGeom>
          <a:solidFill>
            <a:srgbClr val="2D8B8B"/>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Text 1"/>
          <p:cNvSpPr/>
          <p:nvPr/>
        </p:nvSpPr>
        <p:spPr>
          <a:xfrm>
            <a:off x="548640" y="274320"/>
            <a:ext cx="3657600" cy="0"/>
          </a:xfrm>
          <a:prstGeom prst="rect">
            <a:avLst/>
          </a:prstGeom>
          <a:noFill/>
          <a:ln/>
        </p:spPr>
        <p:txBody>
          <a:bodyPr wrap="square" rtlCol="0" anchor="ctr"/>
          <a:lstStyle/>
          <a:p>
            <a:pPr indent="0" marL="0">
              <a:buNone/>
            </a:pPr>
            <a:r>
              <a:rPr lang="en-US" sz="1200" b="1" spc="400" kern="0" dirty="0">
                <a:solidFill>
                  <a:srgbClr val="2D8B8B"/>
                </a:solidFill>
                <a:latin typeface="Arial" pitchFamily="34" charset="0"/>
                <a:ea typeface="Arial" pitchFamily="34" charset="-122"/>
                <a:cs typeface="Arial" pitchFamily="34" charset="-120"/>
              </a:rPr>
              <a:t>CONTENTS</a:t>
            </a:r>
            <a:endParaRPr lang="en-US" sz="1200" dirty="0"/>
          </a:p>
        </p:txBody>
      </p:sp>
      <p:sp>
        <p:nvSpPr>
          <p:cNvPr id="4" name="Text 2"/>
          <p:cNvSpPr/>
          <p:nvPr/>
        </p:nvSpPr>
        <p:spPr>
          <a:xfrm>
            <a:off x="548640" y="548640"/>
            <a:ext cx="3657600" cy="0"/>
          </a:xfrm>
          <a:prstGeom prst="rect">
            <a:avLst/>
          </a:prstGeom>
          <a:noFill/>
          <a:ln/>
        </p:spPr>
        <p:txBody>
          <a:bodyPr wrap="square" rtlCol="0" anchor="ctr"/>
          <a:lstStyle/>
          <a:p>
            <a:pPr indent="0" marL="0">
              <a:buNone/>
            </a:pPr>
            <a:r>
              <a:rPr lang="en-US" sz="1200" dirty="0">
                <a:solidFill>
                  <a:srgbClr val="6B8A8A"/>
                </a:solidFill>
                <a:latin typeface="Microsoft JhengHei" pitchFamily="34" charset="0"/>
                <a:ea typeface="Microsoft JhengHei" pitchFamily="34" charset="-122"/>
                <a:cs typeface="Microsoft JhengHei" pitchFamily="34" charset="-120"/>
              </a:rPr>
              <a:t>目錄</a:t>
            </a:r>
            <a:endParaRPr lang="en-US" sz="1200" dirty="0"/>
          </a:p>
        </p:txBody>
      </p:sp>
      <p:sp>
        <p:nvSpPr>
          <p:cNvPr id="5" name="Shape 3"/>
          <p:cNvSpPr/>
          <p:nvPr/>
        </p:nvSpPr>
        <p:spPr>
          <a:xfrm>
            <a:off x="548640" y="914400"/>
            <a:ext cx="4572000" cy="18288"/>
          </a:xfrm>
          <a:prstGeom prst="rect">
            <a:avLst/>
          </a:prstGeom>
          <a:solidFill>
            <a:srgbClr val="C8E0E0"/>
          </a:solidFill>
          <a:ln/>
        </p:spPr>
      </p:sp>
      <p:sp>
        <p:nvSpPr>
          <p:cNvPr id="6" name="Text 4"/>
          <p:cNvSpPr/>
          <p:nvPr/>
        </p:nvSpPr>
        <p:spPr>
          <a:xfrm>
            <a:off x="548640" y="118872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097280" y="118872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100" dirty="0"/>
          </a:p>
        </p:txBody>
      </p:sp>
      <p:sp>
        <p:nvSpPr>
          <p:cNvPr id="8" name="Text 6"/>
          <p:cNvSpPr/>
          <p:nvPr/>
        </p:nvSpPr>
        <p:spPr>
          <a:xfrm>
            <a:off x="548640" y="169164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02</a:t>
            </a:r>
            <a:endParaRPr lang="en-US" sz="1400" dirty="0"/>
          </a:p>
        </p:txBody>
      </p:sp>
      <p:sp>
        <p:nvSpPr>
          <p:cNvPr id="9" name="Text 7"/>
          <p:cNvSpPr/>
          <p:nvPr/>
        </p:nvSpPr>
        <p:spPr>
          <a:xfrm>
            <a:off x="1097280" y="169164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Parasutterella excrementihominis exacerbates experimental colitis and colitis-associa…</a:t>
            </a:r>
            <a:endParaRPr lang="en-US" sz="1100" dirty="0"/>
          </a:p>
        </p:txBody>
      </p:sp>
      <p:sp>
        <p:nvSpPr>
          <p:cNvPr id="10" name="Text 8"/>
          <p:cNvSpPr/>
          <p:nvPr/>
        </p:nvSpPr>
        <p:spPr>
          <a:xfrm>
            <a:off x="548640" y="219456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03</a:t>
            </a:r>
            <a:endParaRPr lang="en-US" sz="1400" dirty="0"/>
          </a:p>
        </p:txBody>
      </p:sp>
      <p:sp>
        <p:nvSpPr>
          <p:cNvPr id="11" name="Text 9"/>
          <p:cNvSpPr/>
          <p:nvPr/>
        </p:nvSpPr>
        <p:spPr>
          <a:xfrm>
            <a:off x="1097280" y="219456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Prognostic value of systemic immune-inflammation index for colorectal cancer: a syste…</a:t>
            </a:r>
            <a:endParaRPr lang="en-US" sz="1100" dirty="0"/>
          </a:p>
        </p:txBody>
      </p:sp>
      <p:sp>
        <p:nvSpPr>
          <p:cNvPr id="12" name="Text 10"/>
          <p:cNvSpPr/>
          <p:nvPr/>
        </p:nvSpPr>
        <p:spPr>
          <a:xfrm>
            <a:off x="548640" y="269748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04</a:t>
            </a:r>
            <a:endParaRPr lang="en-US" sz="1400" dirty="0"/>
          </a:p>
        </p:txBody>
      </p:sp>
      <p:sp>
        <p:nvSpPr>
          <p:cNvPr id="13" name="Text 11"/>
          <p:cNvSpPr/>
          <p:nvPr/>
        </p:nvSpPr>
        <p:spPr>
          <a:xfrm>
            <a:off x="1097280" y="269748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Awareness of inflammatory bowel disease-associated colorectal cancer risk and its man…</a:t>
            </a:r>
            <a:endParaRPr lang="en-US" sz="1100" dirty="0"/>
          </a:p>
        </p:txBody>
      </p:sp>
      <p:sp>
        <p:nvSpPr>
          <p:cNvPr id="14" name="Text 12"/>
          <p:cNvSpPr/>
          <p:nvPr/>
        </p:nvSpPr>
        <p:spPr>
          <a:xfrm>
            <a:off x="548640" y="320040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05</a:t>
            </a:r>
            <a:endParaRPr lang="en-US" sz="1400" dirty="0"/>
          </a:p>
        </p:txBody>
      </p:sp>
      <p:sp>
        <p:nvSpPr>
          <p:cNvPr id="15" name="Text 13"/>
          <p:cNvSpPr/>
          <p:nvPr/>
        </p:nvSpPr>
        <p:spPr>
          <a:xfrm>
            <a:off x="1097280" y="320040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Thlaspi arvense attenuates colitis-associated colorectal tumorigenesis through suppre…</a:t>
            </a:r>
            <a:endParaRPr lang="en-US" sz="1100" dirty="0"/>
          </a:p>
        </p:txBody>
      </p:sp>
      <p:sp>
        <p:nvSpPr>
          <p:cNvPr id="16" name="Text 14"/>
          <p:cNvSpPr/>
          <p:nvPr/>
        </p:nvSpPr>
        <p:spPr>
          <a:xfrm>
            <a:off x="548640" y="370332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06</a:t>
            </a:r>
            <a:endParaRPr lang="en-US" sz="1400" dirty="0"/>
          </a:p>
        </p:txBody>
      </p:sp>
      <p:sp>
        <p:nvSpPr>
          <p:cNvPr id="17" name="Text 15"/>
          <p:cNvSpPr/>
          <p:nvPr/>
        </p:nvSpPr>
        <p:spPr>
          <a:xfrm>
            <a:off x="1097280" y="370332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Tumor-Derived Alpha-1 Antitrypsin Promotes Liver Metastasis of Colorectal Cancer Thro…</a:t>
            </a:r>
            <a:endParaRPr lang="en-US" sz="1100" dirty="0"/>
          </a:p>
        </p:txBody>
      </p:sp>
      <p:sp>
        <p:nvSpPr>
          <p:cNvPr id="18" name="Text 16"/>
          <p:cNvSpPr/>
          <p:nvPr/>
        </p:nvSpPr>
        <p:spPr>
          <a:xfrm>
            <a:off x="548640" y="420624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07</a:t>
            </a:r>
            <a:endParaRPr lang="en-US" sz="1400" dirty="0"/>
          </a:p>
        </p:txBody>
      </p:sp>
      <p:sp>
        <p:nvSpPr>
          <p:cNvPr id="19" name="Text 17"/>
          <p:cNvSpPr/>
          <p:nvPr/>
        </p:nvSpPr>
        <p:spPr>
          <a:xfrm>
            <a:off x="1097280" y="420624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Radioiodination of Two Carborane-Based Dual Cyclooxygenase-2/5-Lipoxygenase Inhibitor…</a:t>
            </a:r>
            <a:endParaRPr lang="en-US" sz="1100" dirty="0"/>
          </a:p>
        </p:txBody>
      </p:sp>
      <p:sp>
        <p:nvSpPr>
          <p:cNvPr id="20" name="Text 18"/>
          <p:cNvSpPr/>
          <p:nvPr/>
        </p:nvSpPr>
        <p:spPr>
          <a:xfrm>
            <a:off x="548640" y="470916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08</a:t>
            </a:r>
            <a:endParaRPr lang="en-US" sz="1400" dirty="0"/>
          </a:p>
        </p:txBody>
      </p:sp>
      <p:sp>
        <p:nvSpPr>
          <p:cNvPr id="21" name="Text 19"/>
          <p:cNvSpPr/>
          <p:nvPr/>
        </p:nvSpPr>
        <p:spPr>
          <a:xfrm>
            <a:off x="1097280" y="470916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Sanghuangporus vaninii extract exerts dual anti-tumor effects in colitis-associated c…</a:t>
            </a:r>
            <a:endParaRPr lang="en-US" sz="1100" dirty="0"/>
          </a:p>
        </p:txBody>
      </p:sp>
      <p:sp>
        <p:nvSpPr>
          <p:cNvPr id="22" name="Text 20"/>
          <p:cNvSpPr/>
          <p:nvPr/>
        </p:nvSpPr>
        <p:spPr>
          <a:xfrm>
            <a:off x="548640" y="521208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09</a:t>
            </a:r>
            <a:endParaRPr lang="en-US" sz="1400" dirty="0"/>
          </a:p>
        </p:txBody>
      </p:sp>
      <p:sp>
        <p:nvSpPr>
          <p:cNvPr id="23" name="Text 21"/>
          <p:cNvSpPr/>
          <p:nvPr/>
        </p:nvSpPr>
        <p:spPr>
          <a:xfrm>
            <a:off x="1097280" y="521208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Repurposing PARP inhibitors in molecularly defined subgroups of peritoneal metastatic…</a:t>
            </a:r>
            <a:endParaRPr lang="en-US" sz="1100" dirty="0"/>
          </a:p>
        </p:txBody>
      </p:sp>
      <p:sp>
        <p:nvSpPr>
          <p:cNvPr id="24" name="Text 22"/>
          <p:cNvSpPr/>
          <p:nvPr/>
        </p:nvSpPr>
        <p:spPr>
          <a:xfrm>
            <a:off x="548640" y="571500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10</a:t>
            </a:r>
            <a:endParaRPr lang="en-US" sz="1400" dirty="0"/>
          </a:p>
        </p:txBody>
      </p:sp>
      <p:sp>
        <p:nvSpPr>
          <p:cNvPr id="25" name="Text 23"/>
          <p:cNvSpPr/>
          <p:nvPr/>
        </p:nvSpPr>
        <p:spPr>
          <a:xfrm>
            <a:off x="1097280" y="571500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JAMA  ·  IF 63.1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M Fakih</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ORCHESTRA trial found no significant benefit of debulking surgery in patients with metastatic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Patients with resectable liver metastases showed similar outcomes whether they underwent surgery or not.</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raises concerns about the efficacy of surgical intervention for colorectal peritoneal and pulmonary metastases.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ORCHESTRA 試驗發現，對於轉移性結直腸癌患者，減瘤手術並未顯著改善預後。</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對於可切除的肝轉移患者，無論是否接受手術，結果相似。</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該研究對結直腸腹膜和肺轉移的外科介入效果提出了疑慮。</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debulking surgery may not be beneficial for all patients with metastatic colorectal cancer, indicating a need for careful patient selection. </a:t>
            </a:r>
            <a:endParaRPr lang="en-US" sz="1000" dirty="0"/>
          </a:p>
          <a:p>
            <a:pPr indent="0" marL="0">
              <a:lnSpc>
                <a:spcPct val="140000"/>
              </a:lnSpc>
              <a:buNone/>
            </a:pPr>
            <a:r>
              <a:rPr lang="en-US" sz="1000" dirty="0">
                <a:solidFill>
                  <a:srgbClr val="1A2332"/>
                </a:solidFill>
              </a:rPr>
              <a:t>ZH: 這些發現表明，減瘤手術對於所有轉移性結直腸癌患者可能並無益處，這需要謹慎選擇患者。</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identifying specific patient populations that may benefit from surgical intervention in metastatic colorectal cancer. </a:t>
            </a:r>
            <a:endParaRPr lang="en-US" sz="1000" dirty="0"/>
          </a:p>
          <a:p>
            <a:pPr indent="0" marL="0">
              <a:lnSpc>
                <a:spcPct val="140000"/>
              </a:lnSpc>
              <a:buNone/>
            </a:pPr>
            <a:r>
              <a:rPr lang="en-US" sz="1000" dirty="0">
                <a:solidFill>
                  <a:srgbClr val="1A2332"/>
                </a:solidFill>
              </a:rPr>
              <a:t>ZH: 未來的研究應著重於確定在轉移性結直腸癌中可能受益於外科介入的特定患者群體。</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Parasutterella excrementihominis exacerbates experimental colitis and colitis-associated colorectal cancer via pathogenic NETosis activation</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Gut  ·  IF 24.5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H Tan, L Huang, J Wang</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Parasutterella excrementihominis (P. excrementihominis) exacerbates experimental colitis.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highlights the role of pathogenic NETosis activation in colitis-associated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Targeting the P. excrementihominis axis may provide new therapeutic strategies for inflammation-driven colorectal carcinogenesis.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寄生性大腸桿菌（P. excrementihominis）加重了實驗性結腸炎。</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研究強調了病理性NETosis活化在結腸炎相關結直腸癌中的作用。</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針對P. excrementihominis軸可能為炎症驅動的結直腸癌提供新的治療策略。</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Parasutterella excrementihominis exacerbates experimental colitis and colitis-associated colorectal …</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targeting P. excrementihominis may help mitigate colitis and reduce the risk of colorectal cancer. </a:t>
            </a:r>
            <a:endParaRPr lang="en-US" sz="1000" dirty="0"/>
          </a:p>
          <a:p>
            <a:pPr indent="0" marL="0">
              <a:lnSpc>
                <a:spcPct val="140000"/>
              </a:lnSpc>
              <a:buNone/>
            </a:pPr>
            <a:r>
              <a:rPr lang="en-US" sz="1000" dirty="0">
                <a:solidFill>
                  <a:srgbClr val="1A2332"/>
                </a:solidFill>
              </a:rPr>
              <a:t>ZH: 研究結果表明，針對P. excrementihominis可能有助於減輕結腸炎並降低結直腸癌的風險。</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explore the mechanisms of NETosis in greater detail and evaluate potential therapeutic interventions. </a:t>
            </a:r>
            <a:endParaRPr lang="en-US" sz="1000" dirty="0"/>
          </a:p>
          <a:p>
            <a:pPr indent="0" marL="0">
              <a:lnSpc>
                <a:spcPct val="140000"/>
              </a:lnSpc>
              <a:buNone/>
            </a:pPr>
            <a:r>
              <a:rPr lang="en-US" sz="1000" dirty="0">
                <a:solidFill>
                  <a:srgbClr val="1A2332"/>
                </a:solidFill>
              </a:rPr>
              <a:t>ZH: 未來的研究應更詳細地探討NETosis的機制並評估潛在的治療干預措施。</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Prognostic value of systemic immune-inflammation index for colorectal cancer: a systematic review and meta-analysis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Frontiers in Oncology  ·  Meta-Analysis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P Wang, H Jiang</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systemic immune-inflammation index (SII) is identified as a significant prognostic biomarker for colorectal cancer (CRC).</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Higher SII values correlate with poorer overall survival and disease-free survival in CRC patients.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This systematic review and meta-analysis consolidate existing data, enhancing the understanding of SII's role in CRC prognosis.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系統免疫炎症指數（SII）被確定為結直腸癌（CRC）的重要預後生物標誌物。</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較高的SII值與CRC患者的整體生存率和無病生存率較差相關。</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這項系統評價和荟萃分析整合了現有數據，增強了對SII在CRC預後中作用的理解。</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Prognostic value of systemic immune-inflammation index for colorectal cancer: a systematic review an…</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SII can be utilized as a reliable prognostic tool in clinical practice for CRC patients. </a:t>
            </a:r>
            <a:endParaRPr lang="en-US" sz="1000" dirty="0"/>
          </a:p>
          <a:p>
            <a:pPr indent="0" marL="0">
              <a:lnSpc>
                <a:spcPct val="140000"/>
              </a:lnSpc>
              <a:buNone/>
            </a:pPr>
            <a:r>
              <a:rPr lang="en-US" sz="1000" dirty="0">
                <a:solidFill>
                  <a:srgbClr val="1A2332"/>
                </a:solidFill>
              </a:rPr>
              <a:t>ZH: 研究結果表明，SII可以作為結直腸癌患者臨床實踐中的可靠預後工具。</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focus on the integration of SII with other biomarkers to improve prognostic accuracy. </a:t>
            </a:r>
            <a:endParaRPr lang="en-US" sz="1000" dirty="0"/>
          </a:p>
          <a:p>
            <a:pPr indent="0" marL="0">
              <a:lnSpc>
                <a:spcPct val="140000"/>
              </a:lnSpc>
              <a:buNone/>
            </a:pPr>
            <a:r>
              <a:rPr lang="en-US" sz="1000" dirty="0">
                <a:solidFill>
                  <a:srgbClr val="1A2332"/>
                </a:solidFill>
              </a:rPr>
              <a:t>ZH: 未來的研究應集中於將SII與其他生物標誌物整合，以提高預後準確性。</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Awareness of inflammatory bowel disease-associated colorectal cancer risk and its management in patients with inflammatory bowel disease: a systematic review</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Crohns &amp; Colitis 360  ·  Systematic Review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F Khan, C Norton, W Czuber-Dochan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Patients with inflammatory bowel disease (IBD) have a heightened risk of developing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There is a significant gap in awareness among IBD patients regarding their cancer risk and management strategies.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Current literature indicates a need for improved education and communication about colorectal cancer risks in IBD populations.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炎症性腸病（IBD）患者罹患大腸癌的風險較高。</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IBD患者對於自身癌症風險及管理策略的認知存在顯著差距。</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現有文獻顯示需要改善對IBD人群大腸癌風險的教育和溝通。</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Awareness of inflammatory bowel disease-associated colorectal cancer risk and its management in pati…</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Increased awareness and education about colorectal cancer risks in IBD patients can lead to earlier detection and better management outcomes. </a:t>
            </a:r>
            <a:endParaRPr lang="en-US" sz="1000" dirty="0"/>
          </a:p>
          <a:p>
            <a:pPr indent="0" marL="0">
              <a:lnSpc>
                <a:spcPct val="140000"/>
              </a:lnSpc>
              <a:buNone/>
            </a:pPr>
            <a:r>
              <a:rPr lang="en-US" sz="1000" dirty="0">
                <a:solidFill>
                  <a:srgbClr val="1A2332"/>
                </a:solidFill>
              </a:rPr>
              <a:t>ZH: 提高IBD患者對大腸癌風險的認知和教育可以促進早期檢測和改善管理結果。</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developing targeted educational interventions to enhance patient knowledge about colorectal cancer risks. </a:t>
            </a:r>
            <a:endParaRPr lang="en-US" sz="1000" dirty="0"/>
          </a:p>
          <a:p>
            <a:pPr indent="0" marL="0">
              <a:lnSpc>
                <a:spcPct val="140000"/>
              </a:lnSpc>
              <a:buNone/>
            </a:pPr>
            <a:r>
              <a:rPr lang="en-US" sz="1000" dirty="0">
                <a:solidFill>
                  <a:srgbClr val="1A2332"/>
                </a:solidFill>
              </a:rPr>
              <a:t>ZH: 未來的研究應著重於開發針對性的教育干預措施，以增強患者對大腸癌風險的認知。</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Thlaspi arvense attenuates colitis-associated colorectal tumorigenesis through suppression of neutrophil recruitment via the NOD/NF-&amp;#x3ba;B pathway.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Chinese medicine  ·  Basic Research  ·  📅 2026-04-18</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Wang Ziwei, Wang Wenkai, Wang Chaowei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Thlaspi arvense (TA) significantly reduces colitis-associated colorectal tumorigenesis by inhibiting neutrophil recruitment.</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TA treatment restores mucosal integrity and upregulates tight junction proteins ZO-1 and Claudin-1.</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mechanism of action involves suppression of the NOD/NF-κB signaling pathway, leading to decreased production of neutrophil chemoattractants CXCL1 and CXCL2.</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Thlaspi arvense (TA) 透過抑制中性粒細胞招募顯著減少與結腸炎相關的結直腸腫瘤形成。</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TA 治療恢復了黏膜完整性並上調緊密連接蛋白 ZO-1 和 Claudin-1。</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其作用機制涉及抑制 NOD/NF-κB 信號通路，導致中性粒細胞趨化因子 CXCL1 和 CXCL2 的產生減少。</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10.1186/s13020-026-01381-5</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Thlaspi arvense attenuates colitis-associated colorectal tumorigenesis through suppression of neutro…</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This study highlights the potential of Thlaspi arvense as a natural therapeutic agent for preventing colitis-associated colorectal cancer by targeting neutrophil-driven inflammation. </a:t>
            </a:r>
            <a:endParaRPr lang="en-US" sz="1000" dirty="0"/>
          </a:p>
          <a:p>
            <a:pPr indent="0" marL="0">
              <a:lnSpc>
                <a:spcPct val="140000"/>
              </a:lnSpc>
              <a:buNone/>
            </a:pPr>
            <a:r>
              <a:rPr lang="en-US" sz="1000" dirty="0">
                <a:solidFill>
                  <a:srgbClr val="1A2332"/>
                </a:solidFill>
              </a:rPr>
              <a:t>ZH: 本研究強調了 Thlaspi arvense 作為一種天然治療劑在預防與結腸炎相關的結直腸癌中的潛力，通過針對中性粒細胞驅動的炎症。</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clinical trials to validate the efficacy of Thlaspi arvense in human subjects with colitis-associated colorectal cancer. </a:t>
            </a:r>
            <a:endParaRPr lang="en-US" sz="1000" dirty="0"/>
          </a:p>
          <a:p>
            <a:pPr indent="0" marL="0">
              <a:lnSpc>
                <a:spcPct val="140000"/>
              </a:lnSpc>
              <a:buNone/>
            </a:pPr>
            <a:r>
              <a:rPr lang="en-US" sz="1000" dirty="0">
                <a:solidFill>
                  <a:srgbClr val="1A2332"/>
                </a:solidFill>
              </a:rPr>
              <a:t>ZH: 未來的研究應集中於臨床試驗，以驗證 Thlaspi arvense 在與結腸炎相關的結直腸癌患者中的療效。</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Tumor-Derived Alpha-1 Antitrypsin Promotes Liver Metastasis of Colorectal Cancer Through the Neutrophil Extracellular Traps-CCDC25 Pathway.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Advanced science (Weinheim, Baden-Wurttemberg, Germany)  ·  Basic Research  ·  📅 2026-04-16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Fei Qian, Li Chunning, Zhan Lei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Alpha-1 antitrypsin (A1AT) promotes liver metastasis of colorectal cancer (CRC) through neutrophil extracellular traps (NETs) and CCDC25.</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A1AT induces the formation of NETs and binds to CCDC25, preventing its degradation and increasing its surface expression.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interaction between A1AT and CCDC25 activates the ILK-RAC1-CDC42 signaling cascade, enhancing CRC cell migration and invasion.</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α-1抗胰蛋白酶（A1AT）通過中性粒細胞外陷阱（NETs）和CCDC25促進結直腸癌（CRC）的肝轉移。</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A1AT誘導NETs的形成並與CCDC25結合，防止其降解並增加其表達。</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A1AT與CCDC25的相互作用激活ILK-RAC1-CDC42信號通路，增強CRC細胞的遷移和侵襲能力。</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10.1002/advs.202520000</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Tumor-Derived Alpha-1 Antitrypsin Promotes Liver Metastasis of Colorectal Cancer Through the Neutrop…</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highlight A1AT as a potential biomarker for liver metastasis in CRC patients, suggesting its role in disease progression. </a:t>
            </a:r>
            <a:endParaRPr lang="en-US" sz="1000" dirty="0"/>
          </a:p>
          <a:p>
            <a:pPr indent="0" marL="0">
              <a:lnSpc>
                <a:spcPct val="140000"/>
              </a:lnSpc>
              <a:buNone/>
            </a:pPr>
            <a:r>
              <a:rPr lang="en-US" sz="1000" dirty="0">
                <a:solidFill>
                  <a:srgbClr val="1A2332"/>
                </a:solidFill>
              </a:rPr>
              <a:t>ZH: 研究結果突顯A1AT作為CRC患者肝轉移的潛在生物標誌物，暗示其在疾病進展中的作用。</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explore the therapeutic targeting of the A1AT-NET-CCDC25 axis to inhibit CRC liver metastasis. </a:t>
            </a:r>
            <a:endParaRPr lang="en-US" sz="1000" dirty="0"/>
          </a:p>
          <a:p>
            <a:pPr indent="0" marL="0">
              <a:lnSpc>
                <a:spcPct val="140000"/>
              </a:lnSpc>
              <a:buNone/>
            </a:pPr>
            <a:r>
              <a:rPr lang="en-US" sz="1000" dirty="0">
                <a:solidFill>
                  <a:srgbClr val="1A2332"/>
                </a:solidFill>
              </a:rPr>
              <a:t>ZH: 未來的研究應探討針對A1AT-NET-CCDC25軸的治療策略，以抑制CRC肝轉移。</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Radioiodination of Two Carborane-Based Dual Cyclooxygenase-2/5-Lipoxygenase Inhibitors and Their In Vitro and In Vivo Evaluation.</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Chembiochem : a European journal of chemical biology  ·  Basic Research  ·  📅 2026-04-01</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Sch&amp;#xe4;dlich Jonas, Ullrich Martin, Haase-Kohn Cathleen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Isomeric closo-dicarbadodecaborane(12)-based dual COX-2/5-LO inhibitors were successfully radioiodinated.</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Iodinated derivatives showed significantly higher potency against 5-LO compared to COX-2 in vitro.</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Cellular uptake of radiotracers was influenced by 5-LO expression in tumor cells but not in inflammatory cells.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Single-photon emission computed tomography imaging indicated rapid metabolism of the radiotracers, leading to no tumor retention.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Further enhancements in inhibitory activity and stability are necessary for effective radiotracer development.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成功對異構體的closo-dicarbadodecaborane(12)基雙COX-2/5-LO抑制劑進行放射碘標記。</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碘化衍生物在體外對5-LO的抑制效力顯著高於對COX-2的抑制效力。</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放射性示蹤劑的細胞攝取受到腫瘤細胞中5-LO表達的影響，但不受炎症細胞的影響。</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單光子發射計算機斷層成像顯示放射性示蹤劑迅速代謝，導致無腫瘤滯留。</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需要進一步提高抑制活性和穩定性，以開發有效的放射性示蹤劑。</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10.1002/cbic.202600004</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Radioiodination of Two Carborane-Based Dual Cyclooxygenase-2/5-Lipoxygenase Inhibitors and Their In …</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study highlights the potential of dual COX-2/5-LO inhibitors as radiotracers for imaging in cancer. </a:t>
            </a:r>
            <a:endParaRPr lang="en-US" sz="1000" dirty="0"/>
          </a:p>
          <a:p>
            <a:pPr indent="0" marL="0">
              <a:lnSpc>
                <a:spcPct val="140000"/>
              </a:lnSpc>
              <a:buNone/>
            </a:pPr>
            <a:r>
              <a:rPr lang="en-US" sz="1000" dirty="0">
                <a:solidFill>
                  <a:srgbClr val="1A2332"/>
                </a:solidFill>
              </a:rPr>
              <a:t>ZH: 本研究強調了雙COX-2/5-LO抑制劑作為癌症成像放射性示蹤劑的潛力。</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enhancing the stability and efficacy of these radiotracers for better clinical application. </a:t>
            </a:r>
            <a:endParaRPr lang="en-US" sz="1000" dirty="0"/>
          </a:p>
          <a:p>
            <a:pPr indent="0" marL="0">
              <a:lnSpc>
                <a:spcPct val="140000"/>
              </a:lnSpc>
              <a:buNone/>
            </a:pPr>
            <a:r>
              <a:rPr lang="en-US" sz="1000" dirty="0">
                <a:solidFill>
                  <a:srgbClr val="1A2332"/>
                </a:solidFill>
              </a:rPr>
              <a:t>ZH: 未來的研究應集中於提高這些放射性示蹤劑的穩定性和效能，以便更好地應用於臨床。</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Sanghuangporus vaninii extract exerts dual anti-tumor effects in colitis-associated colorectal cancer by direct cytotoxicity and macrophage reprogramming via the PPAR&amp;#x3b3;/NF-&amp;#x3ba;B axis.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Journal of ethnopharmacology  ·  Basic Research  ·  📅 2026-04-14</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Wang Yuqing, Mao Shangling, Shi Chao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Sanghuangporus vaninii (SH) extract significantly inhibits colitis-associated colorectal cancer (CAC) in a mouse model.</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SH treatment improves body weight, colon length, and survival rates while reducing tumor numbers and disease activity index.</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extract rebalances cytokine profiles by suppressing pro-inflammatory cytokines and enhancing anti-inflammatory cytokines.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SH's anti-tumor effects are mediated through the PPARγ/NF-κB axis, leading to cell cycle arrest and macrophage reprogramming.</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highlights the dual mechanism of SH in directly targeting tumor cells and modulating tumor-associated macrophages.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桑黃（SH）提取物顯著抑制結腸炎相關結直腸癌（CAC）的小鼠模型。</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SH治療改善體重、結腸長度和存活率，同時減少腫瘤數量和疾病活動指數。</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該提取物通過抑制促炎細胞因子和增強抗炎細胞因子來重新平衡細胞因子譜。</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SH的抗腫瘤效果通過PPARγ/NF-κB軸介導，導致細胞週期停滯和巨噬細胞重編程。</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該研究突顯了SH在直接針對腫瘤細胞和調節腫瘤相關巨噬細胞方面的雙重機制。</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10.1016/j.jep.2026.121657</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Sanghuangporus vaninii extract exerts dual anti-tumor effects in colitis-associated colorectal cance…</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Sanghuangporus vaninii could be a promising therapeutic agent for colitis-associated colorectal cancer by targeting both tumor cells and the inflammatory microenvironment. </a:t>
            </a:r>
            <a:endParaRPr lang="en-US" sz="1000" dirty="0"/>
          </a:p>
          <a:p>
            <a:pPr indent="0" marL="0">
              <a:lnSpc>
                <a:spcPct val="140000"/>
              </a:lnSpc>
              <a:buNone/>
            </a:pPr>
            <a:r>
              <a:rPr lang="en-US" sz="1000" dirty="0">
                <a:solidFill>
                  <a:srgbClr val="1A2332"/>
                </a:solidFill>
              </a:rPr>
              <a:t>ZH: 研究結果表明，桑黃可能成為結腸炎相關結直腸癌的有前景的治療藥物，通過同時針對腫瘤細胞和炎症微環境。</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clinical trials to validate the efficacy of SH in human subjects and explore its potential synergistic effects with other cancer therapies. </a:t>
            </a:r>
            <a:endParaRPr lang="en-US" sz="1000" dirty="0"/>
          </a:p>
          <a:p>
            <a:pPr indent="0" marL="0">
              <a:lnSpc>
                <a:spcPct val="140000"/>
              </a:lnSpc>
              <a:buNone/>
            </a:pPr>
            <a:r>
              <a:rPr lang="en-US" sz="1000" dirty="0">
                <a:solidFill>
                  <a:srgbClr val="1A2332"/>
                </a:solidFill>
              </a:rPr>
              <a:t>ZH: 未來的研究應集中於臨床試驗，以驗證SH在人體中的療效，並探索其與其他癌症療法的潛在協同作用。</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Repurposing PARP inhibitors in molecularly defined subgroups of peritoneal metastatic colorectal cancer (pmCRC): Preclinical analysis of patient-derived xenograft …</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Cancer …  ·  Basic Research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M Dahlmann, B Rau, S Gül-Klein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Peritoneal metastatic colorectal cancer (pmCRC) shows significantly worse outcomes compared to other metastatic colorectal cancer subtypes.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identifies specific molecular subgroups within pmCRC that may benefit from repurposed PARP inhibitors.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Preclinical analysis using patient-derived xenografts demonstrates the efficacy of PARP inhibitors in these defined subgroups.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腹膜轉移性結直腸癌（pmCRC）的預後顯著差於其他轉移性結直腸癌亞型。</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研究確定了pmCRC中可從重新利用PARP抑制劑中受益的特定分子亞群。</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使用患者衍生的異種移植進行的前臨床分析顯示PARP抑制劑在這些定義的亞群中的療效。</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Repurposing PARP inhibitors in molecularly defined subgroups of peritoneal metastatic colorectal can…</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molecular profiling of pmCRC patients could guide personalized treatment strategies using PARP inhibitors. </a:t>
            </a:r>
            <a:endParaRPr lang="en-US" sz="1000" dirty="0"/>
          </a:p>
          <a:p>
            <a:pPr indent="0" marL="0">
              <a:lnSpc>
                <a:spcPct val="140000"/>
              </a:lnSpc>
              <a:buNone/>
            </a:pPr>
            <a:r>
              <a:rPr lang="en-US" sz="1000" dirty="0">
                <a:solidFill>
                  <a:srgbClr val="1A2332"/>
                </a:solidFill>
              </a:rPr>
              <a:t>ZH: 研究結果表明，對pmCRC患者進行分子分型可以指導使用PARP抑制劑的個性化治療策略。</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focus on clinical trials to validate the effectiveness of PARP inhibitors in the identified molecular subgroups of pmCRC. </a:t>
            </a:r>
            <a:endParaRPr lang="en-US" sz="1000" dirty="0"/>
          </a:p>
          <a:p>
            <a:pPr indent="0" marL="0">
              <a:lnSpc>
                <a:spcPct val="140000"/>
              </a:lnSpc>
              <a:buNone/>
            </a:pPr>
            <a:r>
              <a:rPr lang="en-US" sz="1000" dirty="0">
                <a:solidFill>
                  <a:srgbClr val="1A2332"/>
                </a:solidFill>
              </a:rPr>
              <a:t>ZH: 未來的研究應集中於臨床試驗，以驗證PARP抑制劑在pmCRC中識別的分子亞群的有效性。</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Journal of Pharmaceutical and …  ·  Basic Research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J Ning, C Cai, X Fan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Acetyl-L-Carnitine (ALC) exhibits a significant inhibitory effect on colorectal tumor growth.</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In vivo studies confirmed that ALC effectively suppresses tumor development in nude mice.</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Metabolomic analysis revealed alterations in metabolic pathways associated with ALC treatment.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乙酰-L-肉鹼（ALC）對大腸癌腫瘤生長具有顯著的抑制作用。</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體內研究證實ALC能有效抑制裸鼠的腫瘤發展。</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代謝組學分析顯示ALC治療相關的代謝途徑發生了變化。</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ALC could be a potential therapeutic agent for colorectal cancer treatment. </a:t>
            </a:r>
            <a:endParaRPr lang="en-US" sz="1000" dirty="0"/>
          </a:p>
          <a:p>
            <a:pPr indent="0" marL="0">
              <a:lnSpc>
                <a:spcPct val="140000"/>
              </a:lnSpc>
              <a:buNone/>
            </a:pPr>
            <a:r>
              <a:rPr lang="en-US" sz="1000" dirty="0">
                <a:solidFill>
                  <a:srgbClr val="1A2332"/>
                </a:solidFill>
              </a:rPr>
              <a:t>ZH: 研究結果表明，ALC可能成為大腸癌治療的潛在藥物。</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explore the specific metabolic pathways influenced by ALC in colorectal cancer. </a:t>
            </a:r>
            <a:endParaRPr lang="en-US" sz="1000" dirty="0"/>
          </a:p>
          <a:p>
            <a:pPr indent="0" marL="0">
              <a:lnSpc>
                <a:spcPct val="140000"/>
              </a:lnSpc>
              <a:buNone/>
            </a:pPr>
            <a:r>
              <a:rPr lang="en-US" sz="1000" dirty="0">
                <a:solidFill>
                  <a:srgbClr val="1A2332"/>
                </a:solidFill>
              </a:rPr>
              <a:t>ZH: 未來的研究應該探討ALC在大腸癌中影響的具體代謝途徑。</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Text 1"/>
          <p:cNvSpPr/>
          <p:nvPr/>
        </p:nvSpPr>
        <p:spPr>
          <a:xfrm>
            <a:off x="0" y="457200"/>
            <a:ext cx="12192000" cy="0"/>
          </a:xfrm>
          <a:prstGeom prst="rect">
            <a:avLst/>
          </a:prstGeom>
          <a:noFill/>
          <a:ln/>
        </p:spPr>
        <p:txBody>
          <a:bodyPr wrap="square" rtlCol="0" anchor="ctr"/>
          <a:lstStyle/>
          <a:p>
            <a:pPr algn="ctr" indent="0" marL="0">
              <a:buNone/>
            </a:pPr>
            <a:r>
              <a:rPr lang="en-US" sz="3600" dirty="0">
                <a:solidFill>
                  <a:srgbClr val="000000"/>
                </a:solidFill>
              </a:rPr>
              <a:t>💡</a:t>
            </a:r>
            <a:endParaRPr lang="en-US" sz="3600" dirty="0"/>
          </a:p>
        </p:txBody>
      </p:sp>
      <p:sp>
        <p:nvSpPr>
          <p:cNvPr id="4" name="Text 2"/>
          <p:cNvSpPr/>
          <p:nvPr/>
        </p:nvSpPr>
        <p:spPr>
          <a:xfrm>
            <a:off x="914400" y="1097280"/>
            <a:ext cx="10360152" cy="0"/>
          </a:xfrm>
          <a:prstGeom prst="rect">
            <a:avLst/>
          </a:prstGeom>
          <a:noFill/>
          <a:ln/>
        </p:spPr>
        <p:txBody>
          <a:bodyPr wrap="square" rtlCol="0" anchor="ctr"/>
          <a:lstStyle/>
          <a:p>
            <a:pPr algn="ctr" indent="0" marL="0">
              <a:buNone/>
            </a:pPr>
            <a:r>
              <a:rPr lang="en-US" sz="1800" b="1" spc="200" kern="0" dirty="0">
                <a:solidFill>
                  <a:srgbClr val="A8DADC"/>
                </a:solidFill>
                <a:latin typeface="Arial" pitchFamily="34" charset="0"/>
                <a:ea typeface="Arial" pitchFamily="34" charset="-122"/>
                <a:cs typeface="Arial" pitchFamily="34" charset="-120"/>
              </a:rPr>
              <a:t>OVERALL INSIGHTS &amp; FUTURE DIRECTIONS</a:t>
            </a:r>
            <a:endParaRPr lang="en-US" sz="1800" dirty="0"/>
          </a:p>
        </p:txBody>
      </p:sp>
      <p:sp>
        <p:nvSpPr>
          <p:cNvPr id="5" name="Text 3"/>
          <p:cNvSpPr/>
          <p:nvPr/>
        </p:nvSpPr>
        <p:spPr>
          <a:xfrm>
            <a:off x="914400" y="1554480"/>
            <a:ext cx="10360152" cy="0"/>
          </a:xfrm>
          <a:prstGeom prst="rect">
            <a:avLst/>
          </a:prstGeom>
          <a:noFill/>
          <a:ln/>
        </p:spPr>
        <p:txBody>
          <a:bodyPr wrap="square" rtlCol="0" anchor="ctr"/>
          <a:lstStyle/>
          <a:p>
            <a:pPr algn="ctr" indent="0" marL="0">
              <a:buNone/>
            </a:pPr>
            <a:r>
              <a:rPr lang="en-US" sz="1400" dirty="0">
                <a:solidFill>
                  <a:srgbClr val="6B8A8A"/>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6" name="Shape 4"/>
          <p:cNvSpPr/>
          <p:nvPr/>
        </p:nvSpPr>
        <p:spPr>
          <a:xfrm>
            <a:off x="4114800" y="1920240"/>
            <a:ext cx="3959352" cy="18288"/>
          </a:xfrm>
          <a:prstGeom prst="rect">
            <a:avLst/>
          </a:prstGeom>
          <a:solidFill>
            <a:srgbClr val="2D8B8B"/>
          </a:solidFill>
          <a:ln/>
        </p:spPr>
      </p:sp>
      <p:sp>
        <p:nvSpPr>
          <p:cNvPr id="7" name="Text 5"/>
          <p:cNvSpPr/>
          <p:nvPr/>
        </p:nvSpPr>
        <p:spPr>
          <a:xfrm>
            <a:off x="914400" y="2194560"/>
            <a:ext cx="10360152" cy="0"/>
          </a:xfrm>
          <a:prstGeom prst="rect">
            <a:avLst/>
          </a:prstGeom>
          <a:noFill/>
          <a:ln/>
        </p:spPr>
        <p:txBody>
          <a:bodyPr wrap="square" rtlCol="0" anchor="ctr"/>
          <a:lstStyle/>
          <a:p>
            <a:pPr indent="0" marL="0">
              <a:lnSpc>
                <a:spcPct val="150000"/>
              </a:lnSpc>
              <a:buNone/>
            </a:pPr>
            <a:r>
              <a:rPr lang="en-US" sz="1000" dirty="0">
                <a:solidFill>
                  <a:srgbClr val="E8F0F2"/>
                </a:solidFill>
              </a:rPr>
              <a:t>### 綜合啟示 (Overall Insights)</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1. **新興生物標記的預後價值**  </a:t>
            </a:r>
            <a:endParaRPr lang="en-US" sz="1000" dirty="0"/>
          </a:p>
          <a:p>
            <a:pPr indent="0" marL="0">
              <a:lnSpc>
                <a:spcPct val="150000"/>
              </a:lnSpc>
              <a:buNone/>
            </a:pPr>
            <a:r>
              <a:rPr lang="en-US" sz="1000" dirty="0">
                <a:solidFill>
                  <a:srgbClr val="E8F0F2"/>
                </a:solidFill>
              </a:rPr>
              <a:t>   The systemic immune-inflammation index (SII) has emerged as a promising prognostic biomarker in colorectal cancer, highlighting the importance of systemic inflammation in cancer progression.  </a:t>
            </a:r>
            <a:endParaRPr lang="en-US" sz="1000" dirty="0"/>
          </a:p>
          <a:p>
            <a:pPr indent="0" marL="0">
              <a:lnSpc>
                <a:spcPct val="150000"/>
              </a:lnSpc>
              <a:buNone/>
            </a:pPr>
            <a:r>
              <a:rPr lang="en-US" sz="1000" dirty="0">
                <a:solidFill>
                  <a:srgbClr val="E8F0F2"/>
                </a:solidFill>
              </a:rPr>
              <a:t>   系統性免疫-炎症指數（SII）作為一種有前景的預後生物標記，強調了系統性炎症在癌症進展中的重要性。</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2. **腸道微生物與癌症的關聯**  </a:t>
            </a:r>
            <a:endParaRPr lang="en-US" sz="1000" dirty="0"/>
          </a:p>
          <a:p>
            <a:pPr indent="0" marL="0">
              <a:lnSpc>
                <a:spcPct val="150000"/>
              </a:lnSpc>
              <a:buNone/>
            </a:pPr>
            <a:r>
              <a:rPr lang="en-US" sz="1000" dirty="0">
                <a:solidFill>
                  <a:srgbClr val="E8F0F2"/>
                </a:solidFill>
              </a:rPr>
              <a:t>   Studies indicate that specific gut microbiota, such as Parasutterella excrementihominis, can exacerbate colitis and promote colorectal cancer, suggesting a potential therapeutic target for inflammation-driven carcinogenesis.  </a:t>
            </a:r>
            <a:endParaRPr lang="en-US" sz="1000" dirty="0"/>
          </a:p>
          <a:p>
            <a:pPr indent="0" marL="0">
              <a:lnSpc>
                <a:spcPct val="150000"/>
              </a:lnSpc>
              <a:buNone/>
            </a:pPr>
            <a:r>
              <a:rPr lang="en-US" sz="1000" dirty="0">
                <a:solidFill>
                  <a:srgbClr val="E8F0F2"/>
                </a:solidFill>
              </a:rPr>
              <a:t>   研究表明，特定的腸道微生物如Parasutterella excrementihominis可能加劇結腸炎並促進結直腸癌，這提示了針對炎症驅動癌變的潛在治療靶點。</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3. **慢性炎症與腫瘤形成的關聯**  </a:t>
            </a:r>
            <a:endParaRPr lang="en-US" sz="1000" dirty="0"/>
          </a:p>
          <a:p>
            <a:pPr indent="0" marL="0">
              <a:lnSpc>
                <a:spcPct val="150000"/>
              </a:lnSpc>
              <a:buNone/>
            </a:pPr>
            <a:r>
              <a:rPr lang="en-US" sz="1000" dirty="0">
                <a:solidFill>
                  <a:srgbClr val="E8F0F2"/>
                </a:solidFill>
              </a:rPr>
              <a:t>   Chronic inflammation remains a critical driver of tumorigenesis in colitis-associated colorectal cancer, emphasizing the need for anti-inflammatory strategies in treatment.  </a:t>
            </a:r>
            <a:endParaRPr lang="en-US" sz="1000" dirty="0"/>
          </a:p>
          <a:p>
            <a:pPr indent="0" marL="0">
              <a:lnSpc>
                <a:spcPct val="150000"/>
              </a:lnSpc>
              <a:buNone/>
            </a:pPr>
            <a:r>
              <a:rPr lang="en-US" sz="1000" dirty="0">
                <a:solidFill>
                  <a:srgbClr val="E8F0F2"/>
                </a:solidFill>
              </a:rPr>
              <a:t>   慢性炎症仍然是結腸炎相關結直腸癌腫瘤形成的關鍵驅動因素，強調了在治療中需要採用抗炎策略。</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4. **肝轉移的炎症微環境**  </a:t>
            </a:r>
            <a:endParaRPr lang="en-US" sz="1000" dirty="0"/>
          </a:p>
          <a:p>
            <a:pPr indent="0" marL="0">
              <a:lnSpc>
                <a:spcPct val="150000"/>
              </a:lnSpc>
              <a:buNone/>
            </a:pPr>
            <a:r>
              <a:rPr lang="en-US" sz="1000" dirty="0">
                <a:solidFill>
                  <a:srgbClr val="E8F0F2"/>
                </a:solidFill>
              </a:rPr>
              <a:t>   The inflammatory tumor microenvironment, particularly neutrophil infiltration, plays a significant role in promoting liver metastasis in colorectal cancer, indicating a need for targeted therapies.  </a:t>
            </a:r>
            <a:endParaRPr lang="en-US" sz="1000" dirty="0"/>
          </a:p>
          <a:p>
            <a:pPr indent="0" marL="0">
              <a:lnSpc>
                <a:spcPct val="150000"/>
              </a:lnSpc>
              <a:buNone/>
            </a:pPr>
            <a:r>
              <a:rPr lang="en-US" sz="1000" dirty="0">
                <a:solidFill>
                  <a:srgbClr val="E8F0F2"/>
                </a:solidFill>
              </a:rPr>
              <a:t>   炎症腫瘤微環境，特別是中性粒細胞的浸潤，在促進結直腸癌肝轉移中起著重要作用，這表明需要針對性治療。</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5. **傳統醫學的現代應用**  </a:t>
            </a:r>
            <a:endParaRPr lang="en-US" sz="1000" dirty="0"/>
          </a:p>
          <a:p>
            <a:pPr indent="0" marL="0">
              <a:lnSpc>
                <a:spcPct val="150000"/>
              </a:lnSpc>
              <a:buNone/>
            </a:pPr>
            <a:r>
              <a:rPr lang="en-US" sz="1000" dirty="0">
                <a:solidFill>
                  <a:srgbClr val="E8F0F2"/>
                </a:solidFill>
              </a:rPr>
              <a:t>   The potential of traditional medicinal mushrooms like Sanghuangporus vaninii in treating colitis-associated colorectal cancer underscores the importance of integrating traditional and modern therapeutic approaches.  </a:t>
            </a:r>
            <a:endParaRPr lang="en-US" sz="1000" dirty="0"/>
          </a:p>
          <a:p>
            <a:pPr indent="0" marL="0">
              <a:lnSpc>
                <a:spcPct val="150000"/>
              </a:lnSpc>
              <a:buNone/>
            </a:pPr>
            <a:r>
              <a:rPr lang="en-US" sz="1000" dirty="0">
                <a:solidFill>
                  <a:srgbClr val="E8F0F2"/>
                </a:solidFill>
              </a:rPr>
              <a:t>   傳統藥用蘑菇如Sanghuangporus vaninii在治療結腸炎相關結直腸癌中的潛力，突顯了傳統與現代治療方法整合的重要性。</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 未來研究方向 (Future Research Directions)</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1. **深入探討炎症與癌症的機制**  </a:t>
            </a:r>
            <a:endParaRPr lang="en-US" sz="1000" dirty="0"/>
          </a:p>
          <a:p>
            <a:pPr indent="0" marL="0">
              <a:lnSpc>
                <a:spcPct val="150000"/>
              </a:lnSpc>
              <a:buNone/>
            </a:pPr>
            <a:r>
              <a:rPr lang="en-US" sz="1000" dirty="0">
                <a:solidFill>
                  <a:srgbClr val="E8F0F2"/>
                </a:solidFill>
              </a:rPr>
              <a:t>   Future studies should focus on elucidating the mechanisms by which systemic inflammation influences colorectal cancer progression and metastasis.  </a:t>
            </a:r>
            <a:endParaRPr lang="en-US" sz="1000" dirty="0"/>
          </a:p>
          <a:p>
            <a:pPr indent="0" marL="0">
              <a:lnSpc>
                <a:spcPct val="150000"/>
              </a:lnSpc>
              <a:buNone/>
            </a:pPr>
            <a:r>
              <a:rPr lang="en-US" sz="1000" dirty="0">
                <a:solidFill>
                  <a:srgbClr val="E8F0F2"/>
                </a:solidFill>
              </a:rPr>
              <a:t>   未來的研究應集中於闡明系統性炎症如何影響結直腸癌的進展和轉移的機制。</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2. **微生物群的調節策略**  </a:t>
            </a:r>
            <a:endParaRPr lang="en-US" sz="1000" dirty="0"/>
          </a:p>
          <a:p>
            <a:pPr indent="0" marL="0">
              <a:lnSpc>
                <a:spcPct val="150000"/>
              </a:lnSpc>
              <a:buNone/>
            </a:pPr>
            <a:r>
              <a:rPr lang="en-US" sz="1000" dirty="0">
                <a:solidFill>
                  <a:srgbClr val="E8F0F2"/>
                </a:solidFill>
              </a:rPr>
              <a:t>   Investigating the modulation of gut microbiota as a therapeutic strategy for colorectal cancer could provide new avenues for treatment.  </a:t>
            </a:r>
            <a:endParaRPr lang="en-US" sz="1000" dirty="0"/>
          </a:p>
          <a:p>
            <a:pPr indent="0" marL="0">
              <a:lnSpc>
                <a:spcPct val="150000"/>
              </a:lnSpc>
              <a:buNone/>
            </a:pPr>
            <a:r>
              <a:rPr lang="en-US" sz="1000" dirty="0">
                <a:solidFill>
                  <a:srgbClr val="E8F0F2"/>
                </a:solidFill>
              </a:rPr>
              <a:t>   探討調節腸道微生物群作為結直腸癌治療策略的可能性，可能為治療提供新的途徑。</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3. **新型生物標記的發掘**  </a:t>
            </a:r>
            <a:endParaRPr lang="en-US" sz="1000" dirty="0"/>
          </a:p>
          <a:p>
            <a:pPr indent="0" marL="0">
              <a:lnSpc>
                <a:spcPct val="150000"/>
              </a:lnSpc>
              <a:buNone/>
            </a:pPr>
            <a:r>
              <a:rPr lang="en-US" sz="1000" dirty="0">
                <a:solidFill>
                  <a:srgbClr val="E8F0F2"/>
                </a:solidFill>
              </a:rPr>
              <a:t>   Continued research into novel biomarkers for early detection and prognosis of colorectal cancer is essential for improving patient outcomes.  </a:t>
            </a:r>
            <a:endParaRPr lang="en-US" sz="1000" dirty="0"/>
          </a:p>
          <a:p>
            <a:pPr indent="0" marL="0">
              <a:lnSpc>
                <a:spcPct val="150000"/>
              </a:lnSpc>
              <a:buNone/>
            </a:pPr>
            <a:r>
              <a:rPr lang="en-US" sz="1000" dirty="0">
                <a:solidFill>
                  <a:srgbClr val="E8F0F2"/>
                </a:solidFill>
              </a:rPr>
              <a:t>   持續研究新型生物標記以便於結直腸癌的早期檢測和預後，對改善患者預後至關重要。</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4. **抗炎療法的臨床試驗**  </a:t>
            </a:r>
            <a:endParaRPr lang="en-US" sz="1000" dirty="0"/>
          </a:p>
          <a:p>
            <a:pPr indent="0" marL="0">
              <a:lnSpc>
                <a:spcPct val="150000"/>
              </a:lnSpc>
              <a:buNone/>
            </a:pPr>
            <a:r>
              <a:rPr lang="en-US" sz="1000" dirty="0">
                <a:solidFill>
                  <a:srgbClr val="E8F0F2"/>
                </a:solidFill>
              </a:rPr>
              <a:t>   Clinical trials assessing the efficacy of anti-inflammatory therapies in patients with colitis-associated colorectal cancer should be prioritized.  </a:t>
            </a:r>
            <a:endParaRPr lang="en-US" sz="1000" dirty="0"/>
          </a:p>
          <a:p>
            <a:pPr indent="0" marL="0">
              <a:lnSpc>
                <a:spcPct val="150000"/>
              </a:lnSpc>
              <a:buNone/>
            </a:pPr>
            <a:r>
              <a:rPr lang="en-US" sz="1000" dirty="0">
                <a:solidFill>
                  <a:srgbClr val="E8F0F2"/>
                </a:solidFill>
              </a:rPr>
              <a:t>   應優先進行臨床試驗，以評估抗炎療法在結腸炎相關結直腸癌患者中的療效。</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5. **多學科合作的研究模式**  </a:t>
            </a:r>
            <a:endParaRPr lang="en-US" sz="1000" dirty="0"/>
          </a:p>
          <a:p>
            <a:pPr indent="0" marL="0">
              <a:lnSpc>
                <a:spcPct val="150000"/>
              </a:lnSpc>
              <a:buNone/>
            </a:pPr>
            <a:r>
              <a:rPr lang="en-US" sz="1000" dirty="0">
                <a:solidFill>
                  <a:srgbClr val="E8F0F2"/>
                </a:solidFill>
              </a:rPr>
              <a:t>   Promoting multidisciplinary approaches that integrate oncology, immunology, and microbiology could enhance our understanding and treatment of colorectal cancer.  </a:t>
            </a:r>
            <a:endParaRPr lang="en-US" sz="1000" dirty="0"/>
          </a:p>
          <a:p>
            <a:pPr indent="0" marL="0">
              <a:lnSpc>
                <a:spcPct val="150000"/>
              </a:lnSpc>
              <a:buNone/>
            </a:pPr>
            <a:r>
              <a:rPr lang="en-US" sz="1000" dirty="0">
                <a:solidFill>
                  <a:srgbClr val="E8F0F2"/>
                </a:solidFill>
              </a:rPr>
              <a:t>   促進整合腫瘤學、免疫學和微生物學的多學科研究模式，可能增強我們對結直腸癌的理解和治療。</a:t>
            </a:r>
            <a:endParaRPr lang="en-US" sz="1000" dirty="0"/>
          </a:p>
        </p:txBody>
      </p:sp>
      <p:sp>
        <p:nvSpPr>
          <p:cNvPr id="8" name="Shape 6"/>
          <p:cNvSpPr/>
          <p:nvPr/>
        </p:nvSpPr>
        <p:spPr>
          <a:xfrm>
            <a:off x="0" y="6784848"/>
            <a:ext cx="12188952" cy="73152"/>
          </a:xfrm>
          <a:prstGeom prst="rect">
            <a:avLst/>
          </a:prstGeom>
          <a:solidFill>
            <a:srgbClr val="2D8B8B"/>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Shape 1"/>
          <p:cNvSpPr/>
          <p:nvPr/>
        </p:nvSpPr>
        <p:spPr>
          <a:xfrm>
            <a:off x="4114800" y="2286000"/>
            <a:ext cx="3959352" cy="36576"/>
          </a:xfrm>
          <a:prstGeom prst="rect">
            <a:avLst/>
          </a:prstGeom>
          <a:solidFill>
            <a:srgbClr val="2D8B8B"/>
          </a:solidFill>
          <a:ln/>
        </p:spPr>
      </p:sp>
      <p:sp>
        <p:nvSpPr>
          <p:cNvPr id="4" name="Text 2"/>
          <p:cNvSpPr/>
          <p:nvPr/>
        </p:nvSpPr>
        <p:spPr>
          <a:xfrm>
            <a:off x="914400" y="2560320"/>
            <a:ext cx="10360152" cy="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5" name="Text 3"/>
          <p:cNvSpPr/>
          <p:nvPr/>
        </p:nvSpPr>
        <p:spPr>
          <a:xfrm>
            <a:off x="914400" y="3383280"/>
            <a:ext cx="10360152" cy="0"/>
          </a:xfrm>
          <a:prstGeom prst="rect">
            <a:avLst/>
          </a:prstGeom>
          <a:noFill/>
          <a:ln/>
        </p:spPr>
        <p:txBody>
          <a:bodyPr wrap="square" rtlCol="0" anchor="ctr"/>
          <a:lstStyle/>
          <a:p>
            <a:pPr algn="ctr" indent="0" marL="0">
              <a:buNone/>
            </a:pPr>
            <a:r>
              <a:rPr lang="en-US" sz="2800" dirty="0">
                <a:solidFill>
                  <a:srgbClr val="A8DADC"/>
                </a:solidFill>
                <a:latin typeface="Microsoft JhengHei" pitchFamily="34" charset="0"/>
                <a:ea typeface="Microsoft JhengHei" pitchFamily="34" charset="-122"/>
                <a:cs typeface="Microsoft JhengHei" pitchFamily="34" charset="-120"/>
              </a:rPr>
              <a:t>謝謝</a:t>
            </a:r>
            <a:endParaRPr lang="en-US" sz="2800" dirty="0"/>
          </a:p>
        </p:txBody>
      </p:sp>
      <p:sp>
        <p:nvSpPr>
          <p:cNvPr id="6" name="Shape 4"/>
          <p:cNvSpPr/>
          <p:nvPr/>
        </p:nvSpPr>
        <p:spPr>
          <a:xfrm>
            <a:off x="4114800" y="4023360"/>
            <a:ext cx="3959352" cy="36576"/>
          </a:xfrm>
          <a:prstGeom prst="rect">
            <a:avLst/>
          </a:prstGeom>
          <a:solidFill>
            <a:srgbClr val="2D8B8B"/>
          </a:solidFill>
          <a:ln/>
        </p:spPr>
      </p:sp>
      <p:sp>
        <p:nvSpPr>
          <p:cNvPr id="7" name="Text 5"/>
          <p:cNvSpPr/>
          <p:nvPr/>
        </p:nvSpPr>
        <p:spPr>
          <a:xfrm>
            <a:off x="914400" y="4297680"/>
            <a:ext cx="10360152" cy="0"/>
          </a:xfrm>
          <a:prstGeom prst="rect">
            <a:avLst/>
          </a:prstGeom>
          <a:noFill/>
          <a:ln/>
        </p:spPr>
        <p:txBody>
          <a:bodyPr wrap="square" rtlCol="0" anchor="ctr"/>
          <a:lstStyle/>
          <a:p>
            <a:pPr algn="ctr" indent="0" marL="0">
              <a:buNone/>
            </a:pPr>
            <a:r>
              <a:rPr lang="en-US" sz="1400" dirty="0">
                <a:solidFill>
                  <a:srgbClr val="6B8A8A"/>
                </a:solidFill>
              </a:rPr>
              <a:t>Colorectal Surgery Weekly Digest</a:t>
            </a:r>
            <a:endParaRPr lang="en-US" sz="1400" dirty="0"/>
          </a:p>
        </p:txBody>
      </p:sp>
      <p:sp>
        <p:nvSpPr>
          <p:cNvPr id="8" name="Text 6"/>
          <p:cNvSpPr/>
          <p:nvPr/>
        </p:nvSpPr>
        <p:spPr>
          <a:xfrm>
            <a:off x="914400" y="4846320"/>
            <a:ext cx="10360152" cy="0"/>
          </a:xfrm>
          <a:prstGeom prst="rect">
            <a:avLst/>
          </a:prstGeom>
          <a:noFill/>
          <a:ln/>
        </p:spPr>
        <p:txBody>
          <a:bodyPr wrap="square" rtlCol="0" anchor="ctr"/>
          <a:lstStyle/>
          <a:p>
            <a:pPr algn="ctr" indent="0" marL="0">
              <a:buNone/>
            </a:pPr>
            <a:r>
              <a:rPr lang="en-US" sz="1000" dirty="0">
                <a:solidFill>
                  <a:srgbClr val="6B8A8A"/>
                </a:solidFill>
              </a:rPr>
              <a:t>Sources: PubMed, Google Scholar · Translations: AI-assisted</a:t>
            </a:r>
            <a:endParaRPr lang="en-US" sz="1000" dirty="0"/>
          </a:p>
        </p:txBody>
      </p:sp>
      <p:sp>
        <p:nvSpPr>
          <p:cNvPr id="9" name="Shape 7"/>
          <p:cNvSpPr/>
          <p:nvPr/>
        </p:nvSpPr>
        <p:spPr>
          <a:xfrm>
            <a:off x="0" y="6784848"/>
            <a:ext cx="12188952" cy="73152"/>
          </a:xfrm>
          <a:prstGeom prst="rect">
            <a:avLst/>
          </a:prstGeom>
          <a:solidFill>
            <a:srgbClr val="2D8B8B"/>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Weekly Literature Review</dc:subject>
  <dc:creator>Colorectal Weekly Digest</dc:creator>
  <cp:lastModifiedBy>Colorectal Weekly Digest</cp:lastModifiedBy>
  <cp:revision>1</cp:revision>
  <dcterms:created xsi:type="dcterms:W3CDTF">2026-04-18T13:47:41Z</dcterms:created>
  <dcterms:modified xsi:type="dcterms:W3CDTF">2026-04-18T13:47:41Z</dcterms:modified>
</cp:coreProperties>
</file>