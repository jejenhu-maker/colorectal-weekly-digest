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86/s13020-026-01381-5"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oi.org/10.1002/advs.202520000"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oi.org/10.1002/cbic.202600004"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oi.org/10.1016/j.jep.2026.121657"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2D8B8B"/>
          </a:solidFill>
          <a:ln/>
        </p:spPr>
      </p:sp>
      <p:sp>
        <p:nvSpPr>
          <p:cNvPr id="3" name="Shape 1"/>
          <p:cNvSpPr/>
          <p:nvPr/>
        </p:nvSpPr>
        <p:spPr>
          <a:xfrm>
            <a:off x="4114800" y="1828800"/>
            <a:ext cx="3959352" cy="36576"/>
          </a:xfrm>
          <a:prstGeom prst="rect">
            <a:avLst/>
          </a:prstGeom>
          <a:solidFill>
            <a:srgbClr val="2D8B8B"/>
          </a:solidFill>
          <a:ln/>
        </p:spPr>
      </p:sp>
      <p:sp>
        <p:nvSpPr>
          <p:cNvPr id="4" name="Text 2"/>
          <p:cNvSpPr/>
          <p:nvPr/>
        </p:nvSpPr>
        <p:spPr>
          <a:xfrm>
            <a:off x="0" y="1097280"/>
            <a:ext cx="12192000" cy="0"/>
          </a:xfrm>
          <a:prstGeom prst="rect">
            <a:avLst/>
          </a:prstGeom>
          <a:noFill/>
          <a:ln/>
        </p:spPr>
        <p:txBody>
          <a:bodyPr wrap="square" rtlCol="0" anchor="ctr"/>
          <a:lstStyle/>
          <a:p>
            <a:pPr algn="ctr" indent="0" marL="0">
              <a:buNone/>
            </a:pPr>
            <a:r>
              <a:rPr lang="en-US" sz="4800" dirty="0">
                <a:solidFill>
                  <a:srgbClr val="000000"/>
                </a:solidFill>
              </a:rPr>
              <a:t>🔬</a:t>
            </a:r>
            <a:endParaRPr lang="en-US" sz="4800" dirty="0"/>
          </a:p>
        </p:txBody>
      </p:sp>
      <p:sp>
        <p:nvSpPr>
          <p:cNvPr id="5" name="Text 3"/>
          <p:cNvSpPr/>
          <p:nvPr/>
        </p:nvSpPr>
        <p:spPr>
          <a:xfrm>
            <a:off x="1371600" y="2103120"/>
            <a:ext cx="9445752" cy="0"/>
          </a:xfrm>
          <a:prstGeom prst="rect">
            <a:avLst/>
          </a:prstGeom>
          <a:noFill/>
          <a:ln/>
        </p:spPr>
        <p:txBody>
          <a:bodyPr wrap="square" rtlCol="0" anchor="ctr"/>
          <a:lstStyle/>
          <a:p>
            <a:pPr algn="ctr" indent="0" marL="0">
              <a:buNone/>
            </a:pPr>
            <a:r>
              <a:rPr lang="en-US" sz="3800" b="1" dirty="0">
                <a:solidFill>
                  <a:srgbClr val="FFFFFF"/>
                </a:solidFill>
                <a:latin typeface="Arial" pitchFamily="34" charset="0"/>
                <a:ea typeface="Arial" pitchFamily="34" charset="-122"/>
                <a:cs typeface="Arial" pitchFamily="34" charset="-120"/>
              </a:rPr>
              <a:t>Colorectal Surgery</a:t>
            </a:r>
            <a:endParaRPr lang="en-US" sz="3800" dirty="0"/>
          </a:p>
        </p:txBody>
      </p:sp>
      <p:sp>
        <p:nvSpPr>
          <p:cNvPr id="6" name="Text 4"/>
          <p:cNvSpPr/>
          <p:nvPr/>
        </p:nvSpPr>
        <p:spPr>
          <a:xfrm>
            <a:off x="1371600" y="2926080"/>
            <a:ext cx="9445752" cy="0"/>
          </a:xfrm>
          <a:prstGeom prst="rect">
            <a:avLst/>
          </a:prstGeom>
          <a:noFill/>
          <a:ln/>
        </p:spPr>
        <p:txBody>
          <a:bodyPr wrap="square" rtlCol="0" anchor="ctr"/>
          <a:lstStyle/>
          <a:p>
            <a:pPr algn="ctr" indent="0" marL="0">
              <a:buNone/>
            </a:pPr>
            <a:r>
              <a:rPr lang="en-US" sz="3800" b="1" dirty="0">
                <a:solidFill>
                  <a:srgbClr val="A8DADC"/>
                </a:solidFill>
                <a:latin typeface="Arial" pitchFamily="34" charset="0"/>
                <a:ea typeface="Arial" pitchFamily="34" charset="-122"/>
                <a:cs typeface="Arial" pitchFamily="34" charset="-120"/>
              </a:rPr>
              <a:t>Weekly Digest</a:t>
            </a:r>
            <a:endParaRPr lang="en-US" sz="3800" dirty="0"/>
          </a:p>
        </p:txBody>
      </p:sp>
      <p:sp>
        <p:nvSpPr>
          <p:cNvPr id="7" name="Text 5"/>
          <p:cNvSpPr/>
          <p:nvPr/>
        </p:nvSpPr>
        <p:spPr>
          <a:xfrm>
            <a:off x="1371600" y="3840480"/>
            <a:ext cx="9445752" cy="0"/>
          </a:xfrm>
          <a:prstGeom prst="rect">
            <a:avLst/>
          </a:prstGeom>
          <a:noFill/>
          <a:ln/>
        </p:spPr>
        <p:txBody>
          <a:bodyPr wrap="square" rtlCol="0" anchor="ctr"/>
          <a:lstStyle/>
          <a:p>
            <a:pPr algn="ctr" indent="0" marL="0">
              <a:buNone/>
            </a:pPr>
            <a:r>
              <a:rPr lang="en-US" sz="2000" dirty="0">
                <a:solidFill>
                  <a:srgbClr val="6B8A8A"/>
                </a:solidFill>
                <a:latin typeface="Microsoft JhengHei" pitchFamily="34" charset="0"/>
                <a:ea typeface="Microsoft JhengHei" pitchFamily="34" charset="-122"/>
                <a:cs typeface="Microsoft JhengHei" pitchFamily="34" charset="-120"/>
              </a:rPr>
              <a:t>大腸直腸外科文獻週報</a:t>
            </a:r>
            <a:endParaRPr lang="en-US" sz="2000" dirty="0"/>
          </a:p>
        </p:txBody>
      </p:sp>
      <p:sp>
        <p:nvSpPr>
          <p:cNvPr id="8" name="Shape 6"/>
          <p:cNvSpPr/>
          <p:nvPr/>
        </p:nvSpPr>
        <p:spPr>
          <a:xfrm>
            <a:off x="4114800" y="4389120"/>
            <a:ext cx="3959352" cy="36576"/>
          </a:xfrm>
          <a:prstGeom prst="rect">
            <a:avLst/>
          </a:prstGeom>
          <a:solidFill>
            <a:srgbClr val="2D8B8B"/>
          </a:solidFill>
          <a:ln/>
        </p:spPr>
      </p:sp>
      <p:sp>
        <p:nvSpPr>
          <p:cNvPr id="9" name="Text 7"/>
          <p:cNvSpPr/>
          <p:nvPr/>
        </p:nvSpPr>
        <p:spPr>
          <a:xfrm>
            <a:off x="1371600" y="4572000"/>
            <a:ext cx="9445752" cy="0"/>
          </a:xfrm>
          <a:prstGeom prst="rect">
            <a:avLst/>
          </a:prstGeom>
          <a:noFill/>
          <a:ln/>
        </p:spPr>
        <p:txBody>
          <a:bodyPr wrap="square" rtlCol="0" anchor="ctr"/>
          <a:lstStyle/>
          <a:p>
            <a:pPr algn="ctr" indent="0" marL="0">
              <a:buNone/>
            </a:pPr>
            <a:r>
              <a:rPr lang="en-US" sz="1600" dirty="0">
                <a:solidFill>
                  <a:srgbClr val="6B8A8A"/>
                </a:solidFill>
              </a:rPr>
              <a:t>2026-04-11 — 2026-04-18</a:t>
            </a:r>
            <a:endParaRPr lang="en-US" sz="1600" dirty="0"/>
          </a:p>
        </p:txBody>
      </p:sp>
      <p:sp>
        <p:nvSpPr>
          <p:cNvPr id="10" name="Text 8"/>
          <p:cNvSpPr/>
          <p:nvPr/>
        </p:nvSpPr>
        <p:spPr>
          <a:xfrm>
            <a:off x="1371600" y="5120640"/>
            <a:ext cx="9445752" cy="0"/>
          </a:xfrm>
          <a:prstGeom prst="rect">
            <a:avLst/>
          </a:prstGeom>
          <a:noFill/>
          <a:ln/>
        </p:spPr>
        <p:txBody>
          <a:bodyPr wrap="square" rtlCol="0" anchor="ctr"/>
          <a:lstStyle/>
          <a:p>
            <a:pPr algn="ctr" indent="0" marL="0">
              <a:buNone/>
            </a:pPr>
            <a:r>
              <a:rPr lang="en-US" sz="1400" dirty="0">
                <a:solidFill>
                  <a:srgbClr val="6B8A8A"/>
                </a:solidFill>
              </a:rPr>
              <a:t>10 Selected Papers</a:t>
            </a:r>
            <a:endParaRPr lang="en-US" sz="1400" dirty="0"/>
          </a:p>
        </p:txBody>
      </p:sp>
      <p:sp>
        <p:nvSpPr>
          <p:cNvPr id="11" name="Shape 9"/>
          <p:cNvSpPr/>
          <p:nvPr/>
        </p:nvSpPr>
        <p:spPr>
          <a:xfrm>
            <a:off x="0" y="6784848"/>
            <a:ext cx="12188952" cy="73152"/>
          </a:xfrm>
          <a:prstGeom prst="rect">
            <a:avLst/>
          </a:prstGeom>
          <a:solidFill>
            <a:srgbClr val="2D8B8B"/>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Text 1"/>
          <p:cNvSpPr/>
          <p:nvPr/>
        </p:nvSpPr>
        <p:spPr>
          <a:xfrm>
            <a:off x="548640" y="274320"/>
            <a:ext cx="3657600" cy="0"/>
          </a:xfrm>
          <a:prstGeom prst="rect">
            <a:avLst/>
          </a:prstGeom>
          <a:noFill/>
          <a:ln/>
        </p:spPr>
        <p:txBody>
          <a:bodyPr wrap="square" rtlCol="0" anchor="ctr"/>
          <a:lstStyle/>
          <a:p>
            <a:pPr indent="0" marL="0">
              <a:buNone/>
            </a:pPr>
            <a:r>
              <a:rPr lang="en-US" sz="1200" b="1" spc="400" kern="0" dirty="0">
                <a:solidFill>
                  <a:srgbClr val="2D8B8B"/>
                </a:solidFill>
                <a:latin typeface="Arial" pitchFamily="34" charset="0"/>
                <a:ea typeface="Arial" pitchFamily="34" charset="-122"/>
                <a:cs typeface="Arial" pitchFamily="34" charset="-120"/>
              </a:rPr>
              <a:t>CONTENTS</a:t>
            </a:r>
            <a:endParaRPr lang="en-US" sz="1200" dirty="0"/>
          </a:p>
        </p:txBody>
      </p:sp>
      <p:sp>
        <p:nvSpPr>
          <p:cNvPr id="4" name="Text 2"/>
          <p:cNvSpPr/>
          <p:nvPr/>
        </p:nvSpPr>
        <p:spPr>
          <a:xfrm>
            <a:off x="548640" y="548640"/>
            <a:ext cx="3657600" cy="0"/>
          </a:xfrm>
          <a:prstGeom prst="rect">
            <a:avLst/>
          </a:prstGeom>
          <a:noFill/>
          <a:ln/>
        </p:spPr>
        <p:txBody>
          <a:bodyPr wrap="square" rtlCol="0" anchor="ctr"/>
          <a:lstStyle/>
          <a:p>
            <a:pPr indent="0" marL="0">
              <a:buNone/>
            </a:pPr>
            <a:r>
              <a:rPr lang="en-US" sz="1200" dirty="0">
                <a:solidFill>
                  <a:srgbClr val="6B8A8A"/>
                </a:solidFill>
                <a:latin typeface="Microsoft JhengHei" pitchFamily="34" charset="0"/>
                <a:ea typeface="Microsoft JhengHei" pitchFamily="34" charset="-122"/>
                <a:cs typeface="Microsoft JhengHei" pitchFamily="34" charset="-120"/>
              </a:rPr>
              <a:t>目錄</a:t>
            </a:r>
            <a:endParaRPr lang="en-US" sz="1200" dirty="0"/>
          </a:p>
        </p:txBody>
      </p:sp>
      <p:sp>
        <p:nvSpPr>
          <p:cNvPr id="5" name="Shape 3"/>
          <p:cNvSpPr/>
          <p:nvPr/>
        </p:nvSpPr>
        <p:spPr>
          <a:xfrm>
            <a:off x="548640" y="914400"/>
            <a:ext cx="4572000" cy="18288"/>
          </a:xfrm>
          <a:prstGeom prst="rect">
            <a:avLst/>
          </a:prstGeom>
          <a:solidFill>
            <a:srgbClr val="C8E0E0"/>
          </a:solidFill>
          <a:ln/>
        </p:spPr>
      </p:sp>
      <p:sp>
        <p:nvSpPr>
          <p:cNvPr id="6" name="Text 4"/>
          <p:cNvSpPr/>
          <p:nvPr/>
        </p:nvSpPr>
        <p:spPr>
          <a:xfrm>
            <a:off x="548640" y="118872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01</a:t>
            </a:r>
            <a:endParaRPr lang="en-US" sz="1400" dirty="0"/>
          </a:p>
        </p:txBody>
      </p:sp>
      <p:sp>
        <p:nvSpPr>
          <p:cNvPr id="7" name="Text 5"/>
          <p:cNvSpPr/>
          <p:nvPr/>
        </p:nvSpPr>
        <p:spPr>
          <a:xfrm>
            <a:off x="1097280" y="118872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ORCHESTRA Hits a Sour Note for Debulking in Metastatic Colorectal Cancer</a:t>
            </a:r>
            <a:endParaRPr lang="en-US" sz="1100" dirty="0"/>
          </a:p>
        </p:txBody>
      </p:sp>
      <p:sp>
        <p:nvSpPr>
          <p:cNvPr id="8" name="Text 6"/>
          <p:cNvSpPr/>
          <p:nvPr/>
        </p:nvSpPr>
        <p:spPr>
          <a:xfrm>
            <a:off x="548640" y="169164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02</a:t>
            </a:r>
            <a:endParaRPr lang="en-US" sz="1400" dirty="0"/>
          </a:p>
        </p:txBody>
      </p:sp>
      <p:sp>
        <p:nvSpPr>
          <p:cNvPr id="9" name="Text 7"/>
          <p:cNvSpPr/>
          <p:nvPr/>
        </p:nvSpPr>
        <p:spPr>
          <a:xfrm>
            <a:off x="1097280" y="169164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Parasutterella excrementihominis exacerbates experimental colitis and colitis-associa…</a:t>
            </a:r>
            <a:endParaRPr lang="en-US" sz="1100" dirty="0"/>
          </a:p>
        </p:txBody>
      </p:sp>
      <p:sp>
        <p:nvSpPr>
          <p:cNvPr id="10" name="Text 8"/>
          <p:cNvSpPr/>
          <p:nvPr/>
        </p:nvSpPr>
        <p:spPr>
          <a:xfrm>
            <a:off x="548640" y="219456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03</a:t>
            </a:r>
            <a:endParaRPr lang="en-US" sz="1400" dirty="0"/>
          </a:p>
        </p:txBody>
      </p:sp>
      <p:sp>
        <p:nvSpPr>
          <p:cNvPr id="11" name="Text 9"/>
          <p:cNvSpPr/>
          <p:nvPr/>
        </p:nvSpPr>
        <p:spPr>
          <a:xfrm>
            <a:off x="1097280" y="219456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Prognostic value of systemic immune-inflammation index for colorectal cancer: a syste…</a:t>
            </a:r>
            <a:endParaRPr lang="en-US" sz="1100" dirty="0"/>
          </a:p>
        </p:txBody>
      </p:sp>
      <p:sp>
        <p:nvSpPr>
          <p:cNvPr id="12" name="Text 10"/>
          <p:cNvSpPr/>
          <p:nvPr/>
        </p:nvSpPr>
        <p:spPr>
          <a:xfrm>
            <a:off x="548640" y="269748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04</a:t>
            </a:r>
            <a:endParaRPr lang="en-US" sz="1400" dirty="0"/>
          </a:p>
        </p:txBody>
      </p:sp>
      <p:sp>
        <p:nvSpPr>
          <p:cNvPr id="13" name="Text 11"/>
          <p:cNvSpPr/>
          <p:nvPr/>
        </p:nvSpPr>
        <p:spPr>
          <a:xfrm>
            <a:off x="1097280" y="269748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Awareness of inflammatory bowel disease-associated colorectal cancer risk and its man…</a:t>
            </a:r>
            <a:endParaRPr lang="en-US" sz="1100" dirty="0"/>
          </a:p>
        </p:txBody>
      </p:sp>
      <p:sp>
        <p:nvSpPr>
          <p:cNvPr id="14" name="Text 12"/>
          <p:cNvSpPr/>
          <p:nvPr/>
        </p:nvSpPr>
        <p:spPr>
          <a:xfrm>
            <a:off x="548640" y="320040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05</a:t>
            </a:r>
            <a:endParaRPr lang="en-US" sz="1400" dirty="0"/>
          </a:p>
        </p:txBody>
      </p:sp>
      <p:sp>
        <p:nvSpPr>
          <p:cNvPr id="15" name="Text 13"/>
          <p:cNvSpPr/>
          <p:nvPr/>
        </p:nvSpPr>
        <p:spPr>
          <a:xfrm>
            <a:off x="1097280" y="320040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Thlaspi arvense attenuates colitis-associated colorectal tumorigenesis through suppre…</a:t>
            </a:r>
            <a:endParaRPr lang="en-US" sz="1100" dirty="0"/>
          </a:p>
        </p:txBody>
      </p:sp>
      <p:sp>
        <p:nvSpPr>
          <p:cNvPr id="16" name="Text 14"/>
          <p:cNvSpPr/>
          <p:nvPr/>
        </p:nvSpPr>
        <p:spPr>
          <a:xfrm>
            <a:off x="548640" y="370332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06</a:t>
            </a:r>
            <a:endParaRPr lang="en-US" sz="1400" dirty="0"/>
          </a:p>
        </p:txBody>
      </p:sp>
      <p:sp>
        <p:nvSpPr>
          <p:cNvPr id="17" name="Text 15"/>
          <p:cNvSpPr/>
          <p:nvPr/>
        </p:nvSpPr>
        <p:spPr>
          <a:xfrm>
            <a:off x="1097280" y="370332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Tumor-Derived Alpha-1 Antitrypsin Promotes Liver Metastasis of Colorectal Cancer Thro…</a:t>
            </a:r>
            <a:endParaRPr lang="en-US" sz="1100" dirty="0"/>
          </a:p>
        </p:txBody>
      </p:sp>
      <p:sp>
        <p:nvSpPr>
          <p:cNvPr id="18" name="Text 16"/>
          <p:cNvSpPr/>
          <p:nvPr/>
        </p:nvSpPr>
        <p:spPr>
          <a:xfrm>
            <a:off x="548640" y="420624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07</a:t>
            </a:r>
            <a:endParaRPr lang="en-US" sz="1400" dirty="0"/>
          </a:p>
        </p:txBody>
      </p:sp>
      <p:sp>
        <p:nvSpPr>
          <p:cNvPr id="19" name="Text 17"/>
          <p:cNvSpPr/>
          <p:nvPr/>
        </p:nvSpPr>
        <p:spPr>
          <a:xfrm>
            <a:off x="1097280" y="420624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Radioiodination of Two Carborane-Based Dual Cyclooxygenase-2/5-Lipoxygenase Inhibitor…</a:t>
            </a:r>
            <a:endParaRPr lang="en-US" sz="1100" dirty="0"/>
          </a:p>
        </p:txBody>
      </p:sp>
      <p:sp>
        <p:nvSpPr>
          <p:cNvPr id="20" name="Text 18"/>
          <p:cNvSpPr/>
          <p:nvPr/>
        </p:nvSpPr>
        <p:spPr>
          <a:xfrm>
            <a:off x="548640" y="470916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08</a:t>
            </a:r>
            <a:endParaRPr lang="en-US" sz="1400" dirty="0"/>
          </a:p>
        </p:txBody>
      </p:sp>
      <p:sp>
        <p:nvSpPr>
          <p:cNvPr id="21" name="Text 19"/>
          <p:cNvSpPr/>
          <p:nvPr/>
        </p:nvSpPr>
        <p:spPr>
          <a:xfrm>
            <a:off x="1097280" y="470916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Sanghuangporus vaninii extract exerts dual anti-tumor effects in colitis-associated c…</a:t>
            </a:r>
            <a:endParaRPr lang="en-US" sz="1100" dirty="0"/>
          </a:p>
        </p:txBody>
      </p:sp>
      <p:sp>
        <p:nvSpPr>
          <p:cNvPr id="22" name="Text 20"/>
          <p:cNvSpPr/>
          <p:nvPr/>
        </p:nvSpPr>
        <p:spPr>
          <a:xfrm>
            <a:off x="548640" y="521208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09</a:t>
            </a:r>
            <a:endParaRPr lang="en-US" sz="1400" dirty="0"/>
          </a:p>
        </p:txBody>
      </p:sp>
      <p:sp>
        <p:nvSpPr>
          <p:cNvPr id="23" name="Text 21"/>
          <p:cNvSpPr/>
          <p:nvPr/>
        </p:nvSpPr>
        <p:spPr>
          <a:xfrm>
            <a:off x="1097280" y="521208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Repurposing PARP inhibitors in molecularly defined subgroups of peritoneal metastatic…</a:t>
            </a:r>
            <a:endParaRPr lang="en-US" sz="1100" dirty="0"/>
          </a:p>
        </p:txBody>
      </p:sp>
      <p:sp>
        <p:nvSpPr>
          <p:cNvPr id="24" name="Text 22"/>
          <p:cNvSpPr/>
          <p:nvPr/>
        </p:nvSpPr>
        <p:spPr>
          <a:xfrm>
            <a:off x="548640" y="5715000"/>
            <a:ext cx="457200" cy="0"/>
          </a:xfrm>
          <a:prstGeom prst="rect">
            <a:avLst/>
          </a:prstGeom>
          <a:noFill/>
          <a:ln/>
        </p:spPr>
        <p:txBody>
          <a:bodyPr wrap="square" rtlCol="0" anchor="ctr"/>
          <a:lstStyle/>
          <a:p>
            <a:pPr indent="0" marL="0">
              <a:buNone/>
            </a:pPr>
            <a:r>
              <a:rPr lang="en-US" sz="1400" b="1" dirty="0">
                <a:solidFill>
                  <a:srgbClr val="2D8B8B"/>
                </a:solidFill>
                <a:latin typeface="Arial" pitchFamily="34" charset="0"/>
                <a:ea typeface="Arial" pitchFamily="34" charset="-122"/>
                <a:cs typeface="Arial" pitchFamily="34" charset="-120"/>
              </a:rPr>
              <a:t>10</a:t>
            </a:r>
            <a:endParaRPr lang="en-US" sz="1400" dirty="0"/>
          </a:p>
        </p:txBody>
      </p:sp>
      <p:sp>
        <p:nvSpPr>
          <p:cNvPr id="25" name="Text 23"/>
          <p:cNvSpPr/>
          <p:nvPr/>
        </p:nvSpPr>
        <p:spPr>
          <a:xfrm>
            <a:off x="1097280" y="5715000"/>
            <a:ext cx="10515600" cy="0"/>
          </a:xfrm>
          <a:prstGeom prst="rect">
            <a:avLst/>
          </a:prstGeom>
          <a:noFill/>
          <a:ln/>
        </p:spPr>
        <p:txBody>
          <a:bodyPr wrap="square" rtlCol="0" anchor="ctr"/>
          <a:lstStyle/>
          <a:p>
            <a:pPr indent="0" marL="0">
              <a:buNone/>
            </a:pPr>
            <a:r>
              <a:rPr lang="en-US" sz="1100" dirty="0">
                <a:solidFill>
                  <a:srgbClr val="1A2332"/>
                </a:solidFill>
                <a:latin typeface="Arial" pitchFamily="34" charset="0"/>
                <a:ea typeface="Arial" pitchFamily="34" charset="-122"/>
                <a:cs typeface="Arial" pitchFamily="34" charset="-120"/>
              </a:rPr>
              <a:t>The Mechanism of Acetyl-L-Carnitine on Colorectal Cancer and Its Metabolomic Study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01</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ORCHESTRA Hits a Sour Note for Debulking in Metastatic Colorectal Cancer</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JAMA  ·  IF 63.1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M Fakih</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ORCHESTRA trial did not demonstrate a significant benefit of debulking surgery in patients with metastatic colorectal cancer.</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Patients with resectable liver metastases showed no improvement in overall survival with surgical intervention.</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findings challenge the current paradigm of aggressive surgical approaches in metastatic colorectal cancer management.</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ORCHESTRA 試驗未顯示在轉移性結直腸癌患者中，減瘤手術有顯著益處。</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有可切除肝轉移的患者在手術介入後整體生存率未見改善。</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這些發現挑戰了目前對轉移性結直腸癌管理中積極手術方法的認知。</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01</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ORCHESTRA Hits a Sour Note for Debulking in Metastatic Colorectal Cancer</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results suggest that debulking surgery may not be beneficial for all patients with metastatic colorectal cancer, particularly those with liver metastases. </a:t>
            </a:r>
            <a:endParaRPr lang="en-US" sz="1000" dirty="0"/>
          </a:p>
          <a:p>
            <a:pPr indent="0" marL="0">
              <a:lnSpc>
                <a:spcPct val="140000"/>
              </a:lnSpc>
              <a:buNone/>
            </a:pPr>
            <a:r>
              <a:rPr lang="en-US" sz="1000" dirty="0">
                <a:solidFill>
                  <a:srgbClr val="1A2332"/>
                </a:solidFill>
              </a:rPr>
              <a:t>ZH: 這些結果表明，減瘤手術對於所有轉移性結直腸癌患者可能並不有利，特別是對於肝轉移患者。</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identifying specific patient populations that may still benefit from surgical intervention. </a:t>
            </a:r>
            <a:endParaRPr lang="en-US" sz="1000" dirty="0"/>
          </a:p>
          <a:p>
            <a:pPr indent="0" marL="0">
              <a:lnSpc>
                <a:spcPct val="140000"/>
              </a:lnSpc>
              <a:buNone/>
            </a:pPr>
            <a:r>
              <a:rPr lang="en-US" sz="1000" dirty="0">
                <a:solidFill>
                  <a:srgbClr val="1A2332"/>
                </a:solidFill>
              </a:rPr>
              <a:t>ZH: 未來的研究應著重於識別仍可能從手術介入中受益的特定患者群體。</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02</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Parasutterella excrementihominis exacerbates experimental colitis and colitis-associated colorectal cancer via pathogenic NETosis activation</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Gut  ·  IF 24.5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H Tan, L Huang, J Wang</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Parasutterella excrementihominis (P. excrementihominis) is shown to exacerbate experimental colitis.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study identifies a link between P. excrementihominis and the activation of pathogenic NETosis.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Colitis-associated colorectal cancer is significantly influenced by the presence of P. excrementihominis.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Parasutterella excrementihominis (P. excrementihominis) 被證實會加重實驗性結腸炎。</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本研究確定了 P. excrementihominis 與致病性 NETosis 活化之間的聯繫。</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結腸炎相關的結直腸癌受到 P. excrementihominis 存在的顯著影響。</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02</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Parasutterella excrementihominis exacerbates experimental colitis and colitis-associated colorectal …</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targeting P. excrementihominis may provide a new therapeutic approach for managing colitis and preventing colorectal cancer. </a:t>
            </a:r>
            <a:endParaRPr lang="en-US" sz="1000" dirty="0"/>
          </a:p>
          <a:p>
            <a:pPr indent="0" marL="0">
              <a:lnSpc>
                <a:spcPct val="140000"/>
              </a:lnSpc>
              <a:buNone/>
            </a:pPr>
            <a:r>
              <a:rPr lang="en-US" sz="1000" dirty="0">
                <a:solidFill>
                  <a:srgbClr val="1A2332"/>
                </a:solidFill>
              </a:rPr>
              <a:t>ZH: 研究結果表明，針對 P. excrementihominis 可能為管理結腸炎和預防結直腸癌提供新的治療方法。</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the mechanisms by which P. excrementihominis activates NETosis and its role in cancer progression. </a:t>
            </a:r>
            <a:endParaRPr lang="en-US" sz="1000" dirty="0"/>
          </a:p>
          <a:p>
            <a:pPr indent="0" marL="0">
              <a:lnSpc>
                <a:spcPct val="140000"/>
              </a:lnSpc>
              <a:buNone/>
            </a:pPr>
            <a:r>
              <a:rPr lang="en-US" sz="1000" dirty="0">
                <a:solidFill>
                  <a:srgbClr val="1A2332"/>
                </a:solidFill>
              </a:rPr>
              <a:t>ZH: 未來的研究應集中於 P. excrementihominis 如何激活 NETosis 及其在癌症進展中的作用機制。</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03</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Prognostic value of systemic immune-inflammation index for colorectal cancer: a systematic review and meta-analysis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Frontiers in Oncology  ·  Meta-Analysis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P Wang, H Jiang</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systemic immune-inflammation index (SII) is identified as a promising prognostic biomarker for colorectal cancer (CRC).</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Higher SII values are associated with poorer overall survival and disease-free survival in CRC patients.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meta-analysis included multiple studies, reinforcing the reliability of SII as a prognostic tool.</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系統免疫炎症指數（SII）被認為是大腸癌（CRC）有前景的預後生物標誌物。</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較高的SII值與CRC患者的整體生存率和無病生存率較差相關。</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這項綜合分析納入了多項研究，增強了SII作為預後工具的可靠性。</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03</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Prognostic value of systemic immune-inflammation index for colorectal cancer: a systematic review an…</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SII could be utilized in clinical practice to stratify CRC patients based on their prognosis. </a:t>
            </a:r>
            <a:endParaRPr lang="en-US" sz="1000" dirty="0"/>
          </a:p>
          <a:p>
            <a:pPr indent="0" marL="0">
              <a:lnSpc>
                <a:spcPct val="140000"/>
              </a:lnSpc>
              <a:buNone/>
            </a:pPr>
            <a:r>
              <a:rPr lang="en-US" sz="1000" dirty="0">
                <a:solidFill>
                  <a:srgbClr val="1A2332"/>
                </a:solidFill>
              </a:rPr>
              <a:t>ZH: 研究結果表明，SII可以在臨床實踐中用來根據預後對CRC患者進行分層。</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validating SII in diverse populations and exploring its role in guiding treatment decisions. </a:t>
            </a:r>
            <a:endParaRPr lang="en-US" sz="1000" dirty="0"/>
          </a:p>
          <a:p>
            <a:pPr indent="0" marL="0">
              <a:lnSpc>
                <a:spcPct val="140000"/>
              </a:lnSpc>
              <a:buNone/>
            </a:pPr>
            <a:r>
              <a:rPr lang="en-US" sz="1000" dirty="0">
                <a:solidFill>
                  <a:srgbClr val="1A2332"/>
                </a:solidFill>
              </a:rPr>
              <a:t>ZH: 未來的研究應著重於在不同人群中驗證SII，並探討其在指導治療決策中的作用。</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04</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Awareness of inflammatory bowel disease-associated colorectal cancer risk and its management in patients with inflammatory bowel disease: a systematic review</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Crohns &amp; Colitis 360  ·  Systematic Review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F Khan, C Norton, W Czuber-Dochan</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Patients with inflammatory bowel disease (IBD) have a heightened risk of developing colorectal cancer.</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There is a significant gap in awareness among IBD patients regarding their cancer risk and management strategies.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Current literature highlights the need for improved education and communication about colorectal cancer risks in IBD.</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炎症性腸病（IBD）患者罹患結腸直腸癌的風險較高。</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IBD患者對於自身癌症風險及管理策略的認知存在顯著差距。</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現有文獻強調需要改善對IBD患者結腸直腸癌風險的教育和溝通。</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04</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Awareness of inflammatory bowel disease-associated colorectal cancer risk and its management in pati…</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It is crucial for healthcare providers to enhance patient education regarding colorectal cancer risks in IBD to improve early detection and management. </a:t>
            </a:r>
            <a:endParaRPr lang="en-US" sz="1000" dirty="0"/>
          </a:p>
          <a:p>
            <a:pPr indent="0" marL="0">
              <a:lnSpc>
                <a:spcPct val="140000"/>
              </a:lnSpc>
              <a:buNone/>
            </a:pPr>
            <a:r>
              <a:rPr lang="en-US" sz="1000" dirty="0">
                <a:solidFill>
                  <a:srgbClr val="1A2332"/>
                </a:solidFill>
              </a:rPr>
              <a:t>ZH: 醫療提供者必須加強對IBD患者關於結腸直腸癌風險的教育，以改善早期檢測和管理。</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developing targeted educational interventions to raise awareness among IBD patients about their cancer risks. </a:t>
            </a:r>
            <a:endParaRPr lang="en-US" sz="1000" dirty="0"/>
          </a:p>
          <a:p>
            <a:pPr indent="0" marL="0">
              <a:lnSpc>
                <a:spcPct val="140000"/>
              </a:lnSpc>
              <a:buNone/>
            </a:pPr>
            <a:r>
              <a:rPr lang="en-US" sz="1000" dirty="0">
                <a:solidFill>
                  <a:srgbClr val="1A2332"/>
                </a:solidFill>
              </a:rPr>
              <a:t>ZH: 未來的研究應著重於開發針對性的教育干預措施，以提高IBD患者對其癌症風險的認識。</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05</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Thlaspi arvense attenuates colitis-associated colorectal tumorigenesis through suppression of neutrophil recruitment via the NOD/NF-&amp;#x3ba;B pathway.</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Chinese medicine  ·  Basic Research  ·  📅 2026-04-18</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Wang Ziwei, Wang Wenkai, Wang Chaowei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Thlaspi arvense (TA) significantly reduces disease severity in a mouse model of colitis-associated colorectal cancer (CAC).</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TA treatment restores mucosal integrity and increases the expression of tight junction proteins ZO-1 and Claudin-1.</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TA suppresses neutrophil recruitment by inhibiting the NOD/NF-κB signaling pathway, leading to decreased levels of neutrophil chemoattractants CXCL1 and CXCL2.</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Thlaspi arvense (TA) 在大腸炎相關結腸直腸癌 (CAC) 的小鼠模型中顯著減少疾病嚴重性。</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TA 治療恢復了黏膜完整性並增加了緊密連接蛋白 ZO-1 和 Claudin-1 的表達。</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TA 通過抑制 NOD/NF-κB 信號通路來抑制中性粒細胞的招募，從而降低中性粒細胞化學吸引因子 CXCL1 和 CXCL2 的水平。</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10.1186/s13020-026-01381-5</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05</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Thlaspi arvense attenuates colitis-associated colorectal tumorigenesis through suppression of neutro…</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This study highlights the potential of Thlaspi arvense as a natural therapeutic agent to mitigate inflammation-driven tumorigenesis in colitis-associated colorectal cancer. </a:t>
            </a:r>
            <a:endParaRPr lang="en-US" sz="1000" dirty="0"/>
          </a:p>
          <a:p>
            <a:pPr indent="0" marL="0">
              <a:lnSpc>
                <a:spcPct val="140000"/>
              </a:lnSpc>
              <a:buNone/>
            </a:pPr>
            <a:r>
              <a:rPr lang="en-US" sz="1000" dirty="0">
                <a:solidFill>
                  <a:srgbClr val="1A2332"/>
                </a:solidFill>
              </a:rPr>
              <a:t>ZH: 本研究強調了 Thlaspi arvense 作為天然治療劑的潛力，以減輕大腸炎相關結腸直腸癌中的炎症驅動腫瘤生成。</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clinical trials to validate the efficacy of Thlaspi arvense in human subjects with colitis-associated colorectal cancer. </a:t>
            </a:r>
            <a:endParaRPr lang="en-US" sz="1000" dirty="0"/>
          </a:p>
          <a:p>
            <a:pPr indent="0" marL="0">
              <a:lnSpc>
                <a:spcPct val="140000"/>
              </a:lnSpc>
              <a:buNone/>
            </a:pPr>
            <a:r>
              <a:rPr lang="en-US" sz="1000" dirty="0">
                <a:solidFill>
                  <a:srgbClr val="1A2332"/>
                </a:solidFill>
              </a:rPr>
              <a:t>ZH: 未來的研究應集中於臨床試驗，以驗證 Thlaspi arvense 在大腸炎相關結腸直腸癌患者中的療效。</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06</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Tumor-Derived Alpha-1 Antitrypsin Promotes Liver Metastasis of Colorectal Cancer Through the Neutrophil Extracellular Traps-CCDC25 Pathway.</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Advanced science (Weinheim, Baden-Wurttemberg, Germany)  ·  Basic Research  ·  📅 2026-04-16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Fei Qian, Li Chunning, Zhan Lei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Alpha-1 antitrypsin (A1AT) promotes liver metastasis in colorectal cancer (CRC) through neutrophil extracellular traps (NETs) and CCDC25.</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A1AT induces the formation of NETs and binds to CCDC25, preventing its degradation and increasing its surface expression.</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A1AT-mediated upregulation of CCDC25 enhances CRC cell migration and invasion via the ILK-RAC1-CDC42 signaling cascade.</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α-1抗胰蛋白酶（A1AT）通過中性粒細胞外陷阱（NETs）和CCDC25促進結直腸癌（CRC）的肝轉移。</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A1AT誘導NETs的形成並與CCDC25結合，防止其降解並增加其表達。</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A1AT介導的CCDC25上調通過ILK-RAC1-CDC42信號通路增強CRC細胞的遷移和侵襲能力。</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10.1002/advs.202520000</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06</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Tumor-Derived Alpha-1 Antitrypsin Promotes Liver Metastasis of Colorectal Cancer Through the Neutrop…</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targeting the A1AT-NET-CCDC25 axis may provide new therapeutic strategies for managing liver metastasis in colorectal cancer patients. </a:t>
            </a:r>
            <a:endParaRPr lang="en-US" sz="1000" dirty="0"/>
          </a:p>
          <a:p>
            <a:pPr indent="0" marL="0">
              <a:lnSpc>
                <a:spcPct val="140000"/>
              </a:lnSpc>
              <a:buNone/>
            </a:pPr>
            <a:r>
              <a:rPr lang="en-US" sz="1000" dirty="0">
                <a:solidFill>
                  <a:srgbClr val="1A2332"/>
                </a:solidFill>
              </a:rPr>
              <a:t>ZH: 研究結果表明，針對A1AT-NET-CCDC25軸可能為管理結直腸癌患者的肝轉移提供新的治療策略。</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studies should focus on developing inhibitors that disrupt the A1AT-NET-CCDC25 pathway to reduce metastatic spread. </a:t>
            </a:r>
            <a:endParaRPr lang="en-US" sz="1000" dirty="0"/>
          </a:p>
          <a:p>
            <a:pPr indent="0" marL="0">
              <a:lnSpc>
                <a:spcPct val="140000"/>
              </a:lnSpc>
              <a:buNone/>
            </a:pPr>
            <a:r>
              <a:rPr lang="en-US" sz="1000" dirty="0">
                <a:solidFill>
                  <a:srgbClr val="1A2332"/>
                </a:solidFill>
              </a:rPr>
              <a:t>ZH: 未來的研究應集中於開發破壞A1AT-NET-CCDC25通路的抑制劑，以減少轉移擴散。</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07</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Radioiodination of Two Carborane-Based Dual Cyclooxygenase-2/5-Lipoxygenase Inhibitors and Their In Vitro and In Vivo Evaluation.</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Chembiochem : a European journal of chemical biology  ·  Basic Research  ·  📅 2026-04-01</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Sch&amp;#xe4;dlich Jonas, Ullrich Martin, Haase-Kohn Cathleen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Isomeric closo-dicarbadodecaborane(12)-based dual COX-2/5-LO inhibitors were successfully radioiodinated.</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Iodinated derivatives showed significantly higher potency against 5-LO compared to COX-2 in vitro.</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Cellular uptake of radiotracers was influenced by 5-LO expression in tumor cells but not in inflammatory cells.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Single-photon emission computed tomography imaging indicated rapid metabolism of the radiotracers in vivo, leading to no tumor retention.</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Further improvements in inhibitory activity and stability are necessary for effective radiotracer development.</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成功對異構體的closo-dicarbadodecaborane(12)基雙COX-2/5-LO抑制劑進行了放射性碘標記。</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碘化衍生物在體外對5-LO的抑制活性顯著高於對COX-2的抑制活性。</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放射性示蹤劑的細胞攝取受腫瘤細胞中5-LO表達的影響，但對炎症細胞則無影響。</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單光子發射計算機斷層成像顯示，放射性示蹤劑在體內迅速代謝，導致無腫瘤保留。</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需要進一步改善抑制活性和穩定性，以開發有效的放射性示蹤劑。</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10.1002/cbic.202600004</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07</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Radioiodination of Two Carborane-Based Dual Cyclooxygenase-2/5-Lipoxygenase Inhibitors and Their In …</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study highlights the potential of COX-2 and 5-LO as molecular targets for radiotracer development in cancer imaging. </a:t>
            </a:r>
            <a:endParaRPr lang="en-US" sz="1000" dirty="0"/>
          </a:p>
          <a:p>
            <a:pPr indent="0" marL="0">
              <a:lnSpc>
                <a:spcPct val="140000"/>
              </a:lnSpc>
              <a:buNone/>
            </a:pPr>
            <a:r>
              <a:rPr lang="en-US" sz="1000" dirty="0">
                <a:solidFill>
                  <a:srgbClr val="1A2332"/>
                </a:solidFill>
              </a:rPr>
              <a:t>ZH: 本研究突顯了COX-2和5-LO作為癌症影像學中放射性示蹤劑開發的分子靶點的潛力。</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enhancing the stability and inhibitory activity of these radiotracers for better clinical applicability. </a:t>
            </a:r>
            <a:endParaRPr lang="en-US" sz="1000" dirty="0"/>
          </a:p>
          <a:p>
            <a:pPr indent="0" marL="0">
              <a:lnSpc>
                <a:spcPct val="140000"/>
              </a:lnSpc>
              <a:buNone/>
            </a:pPr>
            <a:r>
              <a:rPr lang="en-US" sz="1000" dirty="0">
                <a:solidFill>
                  <a:srgbClr val="1A2332"/>
                </a:solidFill>
              </a:rPr>
              <a:t>ZH: 未來的研究應集中於提高這些放射性示蹤劑的穩定性和抑制活性，以提高其臨床應用性。</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08</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Sanghuangporus vaninii extract exerts dual anti-tumor effects in colitis-associated colorectal cancer by direct cytotoxicity and macrophage reprogramming via the PPAR&amp;#x3b3;/NF-&amp;#x3ba;B axis.</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Journal of ethnopharmacology  ·  Basic Research  ·  📅 2026-04-14</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Wang Yuqing, Mao Shangling, Shi Chao et al.</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Sanghuangporus vaninii (SH) extract demonstrates significant anti-tumor effects in colitis-associated colorectal cancer (CAC) models.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SH treatment leads to a dose-dependent reduction in tumor number and improvement in overall health indicators in AOM/DSS-induced CAC mice.</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PPARγ/NF-κB axis is identified as a key pathway through which SH exerts its therapeutic effects by modulating inflammatory responses.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SH enhances macrophage polarization towards an anti-inflammatory M2 phenotype, contributing to tumor suppression.</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In vitro studies confirm that SH inhibits CRC cell proliferation and induces cell cycle arrest.</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桑黃（SH）提取物在結腸炎相關結直腸癌（CAC）模型中顯示出顯著的抗腫瘤效果。</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SH治療在AOM/DSS誘導的CAC小鼠中導致腫瘤數量的劑量依賴性減少，並改善整體健康指標。</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PPARγ/NF-κB軸被確定為SH發揮治療效果的關鍵通路，通過調節炎症反應。</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SH促進巨噬細胞極化向抗炎的M2表型，對腫瘤抑制有貢獻。</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體外研究確認SH抑制CRC細胞增殖並誘導細胞週期停滯。</a:t>
            </a:r>
            <a:endParaRPr lang="en-US" sz="1000" dirty="0"/>
          </a:p>
        </p:txBody>
      </p:sp>
      <p:sp>
        <p:nvSpPr>
          <p:cNvPr id="13" name="Text 11">
            <a:hlinkClick r:id="rId1" tooltip=""/>
          </p:cNvPr>
          <p:cNvSpPr/>
          <p:nvPr/>
        </p:nvSpPr>
        <p:spPr>
          <a:xfrm>
            <a:off x="548640" y="6309360"/>
            <a:ext cx="10058400" cy="0"/>
          </a:xfrm>
          <a:prstGeom prst="rect">
            <a:avLst/>
          </a:prstGeom>
          <a:noFill/>
          <a:ln/>
        </p:spPr>
        <p:txBody>
          <a:bodyPr wrap="square" rtlCol="0" anchor="ctr"/>
          <a:lstStyle/>
          <a:p>
            <a:pPr indent="0" marL="0">
              <a:buNone/>
            </a:pPr>
            <a:r>
              <a:rPr lang="en-US" sz="800" u="sng" dirty="0">
                <a:solidFill>
                  <a:srgbClr val="6B8A8A"/>
                </a:solidFill>
                <a:hlinkClick r:id="rId1" invalidUrl="" action="" tgtFrame="" tooltip="" history="1" highlightClick="0" endSnd="0">
                  <a:extLst>
                    <a:ext uri="{A12FA001-AC4F-418D-AE19-62706E023703}">
                      <ahyp:hlinkClr xmlns:ahyp="http://schemas.microsoft.com/office/drawing/2018/hyperlinkcolor" val="tx"/>
                    </a:ext>
                  </a:extLst>
                </a:hlinkClick>
              </a:rPr>
              <a:t>DOI: 10.1016/j.jep.2026.121657</a:t>
            </a:r>
            <a:endParaRPr lang="en-US" sz="800" dirty="0"/>
          </a:p>
        </p:txBody>
      </p:sp>
      <p:sp>
        <p:nvSpPr>
          <p:cNvPr id="14" name="Shape 12"/>
          <p:cNvSpPr/>
          <p:nvPr/>
        </p:nvSpPr>
        <p:spPr>
          <a:xfrm>
            <a:off x="0" y="6784848"/>
            <a:ext cx="12188952" cy="73152"/>
          </a:xfrm>
          <a:prstGeom prst="rect">
            <a:avLst/>
          </a:prstGeom>
          <a:solidFill>
            <a:srgbClr val="2D8B8B"/>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08</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Sanghuangporus vaninii extract exerts dual anti-tumor effects in colitis-associated colorectal cance…</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Sanghuangporus vaninii could be a promising therapeutic agent for patients with colitis-associated colorectal cancer by targeting inflammatory pathways. </a:t>
            </a:r>
            <a:endParaRPr lang="en-US" sz="1000" dirty="0"/>
          </a:p>
          <a:p>
            <a:pPr indent="0" marL="0">
              <a:lnSpc>
                <a:spcPct val="140000"/>
              </a:lnSpc>
              <a:buNone/>
            </a:pPr>
            <a:r>
              <a:rPr lang="en-US" sz="1000" dirty="0">
                <a:solidFill>
                  <a:srgbClr val="1A2332"/>
                </a:solidFill>
              </a:rPr>
              <a:t>ZH: 研究結果表明，桑黃可能成為結腸炎相關結直腸癌患者的一種有前景的治療藥物，通過針對炎症通路來發揮作用。</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studies should focus on clinical trials to validate the efficacy of SH in human subjects and explore its potential combination with other therapies. </a:t>
            </a:r>
            <a:endParaRPr lang="en-US" sz="1000" dirty="0"/>
          </a:p>
          <a:p>
            <a:pPr indent="0" marL="0">
              <a:lnSpc>
                <a:spcPct val="140000"/>
              </a:lnSpc>
              <a:buNone/>
            </a:pPr>
            <a:r>
              <a:rPr lang="en-US" sz="1000" dirty="0">
                <a:solidFill>
                  <a:srgbClr val="1A2332"/>
                </a:solidFill>
              </a:rPr>
              <a:t>ZH: 未來的研究應著重於臨床試驗，以驗證SH在人體中的療效，並探索其與其他療法的潛在聯合使用。</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09</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Repurposing PARP inhibitors in molecularly defined subgroups of peritoneal metastatic colorectal cancer (pmCRC): Preclinical analysis of patient-derived xenograft …</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Cancer …  ·  Basic Research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M Dahlmann, B Rau, S Gül-Klein</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Peritoneal metastatic colorectal cancer (pmCRC) shows significantly poorer outcomes compared to other metastatic CRC subtypes.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The study identifies specific molecular subgroups within pmCRC that may benefit from repurposed PARP inhibitors.</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Preclinical analysis using patient-derived xenografts demonstrates the efficacy of PARP inhibitors in targeted treatment strategies.</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腹膜轉移性結腸直腸癌（pmCRC）的預後顯著差於其他轉移性結腸直腸癌亞型。</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研究確定了pmCRC中可從重新利用PARP抑制劑中受益的特定分子亞群。</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使用患者衍生的異種移植進行的前臨床分析顯示PARP抑制劑在靶向治療策略中的有效性。</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09</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Repurposing PARP inhibitors in molecularly defined subgroups of peritoneal metastatic colorectal can…</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molecular profiling of pmCRC patients could guide the use of PARP inhibitors, potentially improving treatment outcomes. </a:t>
            </a:r>
            <a:endParaRPr lang="en-US" sz="1000" dirty="0"/>
          </a:p>
          <a:p>
            <a:pPr indent="0" marL="0">
              <a:lnSpc>
                <a:spcPct val="140000"/>
              </a:lnSpc>
              <a:buNone/>
            </a:pPr>
            <a:r>
              <a:rPr lang="en-US" sz="1000" dirty="0">
                <a:solidFill>
                  <a:srgbClr val="1A2332"/>
                </a:solidFill>
              </a:rPr>
              <a:t>ZH: 這些發現表明，對pmCRC患者進行分子分型可能有助於指導PARP抑制劑的使用，從而改善治療效果。</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clinical trials to validate the efficacy of PARP inhibitors in identified pmCRC subgroups. </a:t>
            </a:r>
            <a:endParaRPr lang="en-US" sz="1000" dirty="0"/>
          </a:p>
          <a:p>
            <a:pPr indent="0" marL="0">
              <a:lnSpc>
                <a:spcPct val="140000"/>
              </a:lnSpc>
              <a:buNone/>
            </a:pPr>
            <a:r>
              <a:rPr lang="en-US" sz="1000" dirty="0">
                <a:solidFill>
                  <a:srgbClr val="1A2332"/>
                </a:solidFill>
              </a:rPr>
              <a:t>ZH: 未來的研究應集中於臨床試驗，以驗證PARP抑制劑在已確定的pmCRC亞群中的有效性。</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10</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lnSpc>
                <a:spcPct val="120000"/>
              </a:lnSpc>
              <a:buNone/>
            </a:pPr>
            <a:r>
              <a:rPr lang="en-US" sz="1800" b="1" dirty="0">
                <a:solidFill>
                  <a:srgbClr val="1A2332"/>
                </a:solidFill>
                <a:latin typeface="Arial" pitchFamily="34" charset="0"/>
                <a:ea typeface="Arial" pitchFamily="34" charset="-122"/>
                <a:cs typeface="Arial" pitchFamily="34" charset="-120"/>
              </a:rPr>
              <a:t>The Mechanism of Acetyl-L-Carnitine on Colorectal Cancer and Its Metabolomic Study</a:t>
            </a:r>
            <a:endParaRPr lang="en-US" sz="1800" dirty="0"/>
          </a:p>
        </p:txBody>
      </p:sp>
      <p:sp>
        <p:nvSpPr>
          <p:cNvPr id="6" name="Text 4"/>
          <p:cNvSpPr/>
          <p:nvPr/>
        </p:nvSpPr>
        <p:spPr>
          <a:xfrm>
            <a:off x="548640" y="1188720"/>
            <a:ext cx="10058400" cy="0"/>
          </a:xfrm>
          <a:prstGeom prst="rect">
            <a:avLst/>
          </a:prstGeom>
          <a:noFill/>
          <a:ln/>
        </p:spPr>
        <p:txBody>
          <a:bodyPr wrap="square" rtlCol="0" anchor="ctr"/>
          <a:lstStyle/>
          <a:p>
            <a:pPr indent="0" marL="0">
              <a:buNone/>
            </a:pPr>
            <a:r>
              <a:rPr lang="en-US" sz="1000" dirty="0">
                <a:solidFill>
                  <a:srgbClr val="6B8A8A"/>
                </a:solidFill>
              </a:rPr>
              <a:t>📰 Journal of Pharmaceutical and …  ·  Basic Research  ·  📅 2026</a:t>
            </a:r>
            <a:endParaRPr lang="en-US" sz="1000" dirty="0"/>
          </a:p>
        </p:txBody>
      </p:sp>
      <p:sp>
        <p:nvSpPr>
          <p:cNvPr id="7" name="Text 5"/>
          <p:cNvSpPr/>
          <p:nvPr/>
        </p:nvSpPr>
        <p:spPr>
          <a:xfrm>
            <a:off x="548640" y="1463040"/>
            <a:ext cx="10058400" cy="0"/>
          </a:xfrm>
          <a:prstGeom prst="rect">
            <a:avLst/>
          </a:prstGeom>
          <a:noFill/>
          <a:ln/>
        </p:spPr>
        <p:txBody>
          <a:bodyPr wrap="square" rtlCol="0" anchor="ctr"/>
          <a:lstStyle/>
          <a:p>
            <a:pPr indent="0" marL="0">
              <a:buNone/>
            </a:pPr>
            <a:r>
              <a:rPr lang="en-US" sz="1000" dirty="0">
                <a:solidFill>
                  <a:srgbClr val="6B8A8A"/>
                </a:solidFill>
              </a:rPr>
              <a:t>👥 J Ning, C Cai, X Fan</a:t>
            </a:r>
            <a:endParaRPr lang="en-US" sz="1000" dirty="0"/>
          </a:p>
        </p:txBody>
      </p:sp>
      <p:sp>
        <p:nvSpPr>
          <p:cNvPr id="8" name="Shape 6"/>
          <p:cNvSpPr/>
          <p:nvPr/>
        </p:nvSpPr>
        <p:spPr>
          <a:xfrm>
            <a:off x="548640" y="1783080"/>
            <a:ext cx="10515600" cy="18288"/>
          </a:xfrm>
          <a:prstGeom prst="rect">
            <a:avLst/>
          </a:prstGeom>
          <a:solidFill>
            <a:srgbClr val="C8E0E0"/>
          </a:solidFill>
          <a:ln/>
        </p:spPr>
      </p:sp>
      <p:sp>
        <p:nvSpPr>
          <p:cNvPr id="9" name="Text 7"/>
          <p:cNvSpPr/>
          <p:nvPr/>
        </p:nvSpPr>
        <p:spPr>
          <a:xfrm>
            <a:off x="54864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Arial" pitchFamily="34" charset="0"/>
                <a:ea typeface="Arial" pitchFamily="34" charset="-122"/>
                <a:cs typeface="Arial" pitchFamily="34" charset="-120"/>
              </a:rPr>
              <a:t>KEY FINDINGS</a:t>
            </a:r>
            <a:endParaRPr lang="en-US" sz="1000" dirty="0"/>
          </a:p>
        </p:txBody>
      </p:sp>
      <p:sp>
        <p:nvSpPr>
          <p:cNvPr id="10" name="Text 8"/>
          <p:cNvSpPr/>
          <p:nvPr/>
        </p:nvSpPr>
        <p:spPr>
          <a:xfrm>
            <a:off x="54864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Acetyl-L-Carnitine (ALC) exhibits a significant inhibitory effect on colorectal tumor growth.</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In vivo studies confirmed that ALC effectively suppresses the progression of colorectal cancer.</a:t>
            </a:r>
            <a:endParaRPr lang="en-US" sz="1000" dirty="0"/>
          </a:p>
          <a:p>
            <a:pPr marL="342900" indent="-342900">
              <a:lnSpc>
                <a:spcPct val="140000"/>
              </a:lnSpc>
              <a:buSzPct val="100000"/>
              <a:buChar char="●"/>
            </a:pPr>
            <a:r>
              <a:rPr lang="en-US" sz="1000" dirty="0">
                <a:solidFill>
                  <a:srgbClr val="1A2332"/>
                </a:solidFill>
                <a:latin typeface="Arial" pitchFamily="34" charset="0"/>
                <a:ea typeface="Arial" pitchFamily="34" charset="-122"/>
                <a:cs typeface="Arial" pitchFamily="34" charset="-120"/>
              </a:rPr>
              <a:t>Metabolomic analysis revealed alterations in metabolic pathways associated with ALC treatment.</a:t>
            </a:r>
            <a:endParaRPr lang="en-US" sz="1000" dirty="0"/>
          </a:p>
        </p:txBody>
      </p:sp>
      <p:sp>
        <p:nvSpPr>
          <p:cNvPr id="11" name="Text 9"/>
          <p:cNvSpPr/>
          <p:nvPr/>
        </p:nvSpPr>
        <p:spPr>
          <a:xfrm>
            <a:off x="6217920" y="1965960"/>
            <a:ext cx="5029200" cy="0"/>
          </a:xfrm>
          <a:prstGeom prst="rect">
            <a:avLst/>
          </a:prstGeom>
          <a:noFill/>
          <a:ln/>
        </p:spPr>
        <p:txBody>
          <a:bodyPr wrap="square" rtlCol="0" anchor="ctr"/>
          <a:lstStyle/>
          <a:p>
            <a:pPr indent="0" marL="0">
              <a:buNone/>
            </a:pPr>
            <a:r>
              <a:rPr lang="en-US" sz="1000" b="1" spc="200" kern="0" dirty="0">
                <a:solidFill>
                  <a:srgbClr val="2D8B8B"/>
                </a:solidFill>
                <a:latin typeface="Microsoft JhengHei" pitchFamily="34" charset="0"/>
                <a:ea typeface="Microsoft JhengHei" pitchFamily="34" charset="-122"/>
                <a:cs typeface="Microsoft JhengHei" pitchFamily="34" charset="-120"/>
              </a:rPr>
              <a:t>重點發現</a:t>
            </a:r>
            <a:endParaRPr lang="en-US" sz="1000" dirty="0"/>
          </a:p>
        </p:txBody>
      </p:sp>
      <p:sp>
        <p:nvSpPr>
          <p:cNvPr id="12" name="Text 10"/>
          <p:cNvSpPr/>
          <p:nvPr/>
        </p:nvSpPr>
        <p:spPr>
          <a:xfrm>
            <a:off x="6217920" y="2286000"/>
            <a:ext cx="5303520" cy="0"/>
          </a:xfrm>
          <a:prstGeom prst="rect">
            <a:avLst/>
          </a:prstGeom>
          <a:noFill/>
          <a:ln/>
        </p:spPr>
        <p:txBody>
          <a:bodyPr wrap="square" rtlCol="0" anchor="t"/>
          <a:lstStyle/>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乙酰左旋肉鹼（ALC）對大腸癌腫瘤生長具有顯著的抑制作用。</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體內研究證實ALC有效抑制大腸癌的進展。</a:t>
            </a:r>
            <a:endParaRPr lang="en-US" sz="1000" dirty="0"/>
          </a:p>
          <a:p>
            <a:pPr marL="342900" indent="-342900">
              <a:lnSpc>
                <a:spcPct val="140000"/>
              </a:lnSpc>
              <a:buSzPct val="100000"/>
              <a:buChar char="●"/>
            </a:pPr>
            <a:r>
              <a:rPr lang="en-US" sz="1000" dirty="0">
                <a:solidFill>
                  <a:srgbClr val="1A2332"/>
                </a:solidFill>
                <a:latin typeface="Microsoft JhengHei" pitchFamily="34" charset="0"/>
                <a:ea typeface="Microsoft JhengHei" pitchFamily="34" charset="-122"/>
                <a:cs typeface="Microsoft JhengHei" pitchFamily="34" charset="-120"/>
              </a:rPr>
              <a:t>代謝組學分析顯示ALC治療相關的代謝途徑發生了變化。</a:t>
            </a:r>
            <a:endParaRPr lang="en-US" sz="1000" dirty="0"/>
          </a:p>
        </p:txBody>
      </p:sp>
      <p:sp>
        <p:nvSpPr>
          <p:cNvPr id="13" name="Shape 11"/>
          <p:cNvSpPr/>
          <p:nvPr/>
        </p:nvSpPr>
        <p:spPr>
          <a:xfrm>
            <a:off x="0" y="6784848"/>
            <a:ext cx="12188952" cy="73152"/>
          </a:xfrm>
          <a:prstGeom prst="rect">
            <a:avLst/>
          </a:prstGeom>
          <a:solidFill>
            <a:srgbClr val="2D8B8B"/>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1FAEE"/>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D8B8B"/>
          </a:solidFill>
          <a:ln/>
        </p:spPr>
      </p:sp>
      <p:sp>
        <p:nvSpPr>
          <p:cNvPr id="3" name="Shape 1"/>
          <p:cNvSpPr/>
          <p:nvPr/>
        </p:nvSpPr>
        <p:spPr>
          <a:xfrm>
            <a:off x="10972800" y="0"/>
            <a:ext cx="1216152" cy="548640"/>
          </a:xfrm>
          <a:prstGeom prst="rect">
            <a:avLst/>
          </a:prstGeom>
          <a:solidFill>
            <a:srgbClr val="1A2332"/>
          </a:solidFill>
          <a:ln/>
        </p:spPr>
      </p:sp>
      <p:sp>
        <p:nvSpPr>
          <p:cNvPr id="4" name="Text 2"/>
          <p:cNvSpPr/>
          <p:nvPr/>
        </p:nvSpPr>
        <p:spPr>
          <a:xfrm>
            <a:off x="10972800" y="45720"/>
            <a:ext cx="1216152" cy="0"/>
          </a:xfrm>
          <a:prstGeom prst="rect">
            <a:avLst/>
          </a:prstGeom>
          <a:noFill/>
          <a:ln/>
        </p:spPr>
        <p:txBody>
          <a:bodyPr wrap="square" rtlCol="0" anchor="ctr"/>
          <a:lstStyle/>
          <a:p>
            <a:pPr algn="ctr" indent="0" marL="0">
              <a:buNone/>
            </a:pPr>
            <a:r>
              <a:rPr lang="en-US" sz="2000" b="1" dirty="0">
                <a:solidFill>
                  <a:srgbClr val="A8DADC"/>
                </a:solidFill>
                <a:latin typeface="Arial" pitchFamily="34" charset="0"/>
                <a:ea typeface="Arial" pitchFamily="34" charset="-122"/>
                <a:cs typeface="Arial" pitchFamily="34" charset="-120"/>
              </a:rPr>
              <a:t>10</a:t>
            </a:r>
            <a:endParaRPr lang="en-US" sz="2000" dirty="0"/>
          </a:p>
        </p:txBody>
      </p:sp>
      <p:sp>
        <p:nvSpPr>
          <p:cNvPr id="5" name="Text 3"/>
          <p:cNvSpPr/>
          <p:nvPr/>
        </p:nvSpPr>
        <p:spPr>
          <a:xfrm>
            <a:off x="548640" y="274320"/>
            <a:ext cx="10058400" cy="0"/>
          </a:xfrm>
          <a:prstGeom prst="rect">
            <a:avLst/>
          </a:prstGeom>
          <a:noFill/>
          <a:ln/>
        </p:spPr>
        <p:txBody>
          <a:bodyPr wrap="square" rtlCol="0" anchor="ctr"/>
          <a:lstStyle/>
          <a:p>
            <a:pPr indent="0" marL="0">
              <a:buNone/>
            </a:pPr>
            <a:r>
              <a:rPr lang="en-US" sz="1400" b="1" dirty="0">
                <a:solidFill>
                  <a:srgbClr val="1A2332"/>
                </a:solidFill>
                <a:latin typeface="Arial" pitchFamily="34" charset="0"/>
                <a:ea typeface="Arial" pitchFamily="34" charset="-122"/>
                <a:cs typeface="Arial" pitchFamily="34" charset="-120"/>
              </a:rPr>
              <a:t>The Mechanism of Acetyl-L-Carnitine on Colorectal Cancer and Its Metabolomic Study</a:t>
            </a:r>
            <a:endParaRPr lang="en-US" sz="1400" dirty="0"/>
          </a:p>
        </p:txBody>
      </p:sp>
      <p:sp>
        <p:nvSpPr>
          <p:cNvPr id="6" name="Shape 4"/>
          <p:cNvSpPr/>
          <p:nvPr/>
        </p:nvSpPr>
        <p:spPr>
          <a:xfrm>
            <a:off x="548640" y="822960"/>
            <a:ext cx="10515600" cy="18288"/>
          </a:xfrm>
          <a:prstGeom prst="rect">
            <a:avLst/>
          </a:prstGeom>
          <a:solidFill>
            <a:srgbClr val="C8E0E0"/>
          </a:solidFill>
          <a:ln/>
        </p:spPr>
      </p:sp>
      <p:sp>
        <p:nvSpPr>
          <p:cNvPr id="7" name="Shape 5"/>
          <p:cNvSpPr/>
          <p:nvPr/>
        </p:nvSpPr>
        <p:spPr>
          <a:xfrm>
            <a:off x="45720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8" name="Text 6"/>
          <p:cNvSpPr/>
          <p:nvPr/>
        </p:nvSpPr>
        <p:spPr>
          <a:xfrm>
            <a:off x="640080" y="1097280"/>
            <a:ext cx="5029200" cy="0"/>
          </a:xfrm>
          <a:prstGeom prst="rect">
            <a:avLst/>
          </a:prstGeom>
          <a:noFill/>
          <a:ln/>
        </p:spPr>
        <p:txBody>
          <a:bodyPr wrap="square" rtlCol="0" anchor="ctr"/>
          <a:lstStyle/>
          <a:p>
            <a:pPr indent="0" marL="0">
              <a:buNone/>
            </a:pPr>
            <a:r>
              <a:rPr lang="en-US" sz="1000" b="1" spc="200" kern="0" dirty="0">
                <a:solidFill>
                  <a:srgbClr val="2D8B8B"/>
                </a:solidFill>
              </a:rPr>
              <a:t>💡 CLINICAL INSIGHT</a:t>
            </a:r>
            <a:endParaRPr lang="en-US" sz="1000" dirty="0"/>
          </a:p>
        </p:txBody>
      </p:sp>
      <p:sp>
        <p:nvSpPr>
          <p:cNvPr id="9" name="Text 7"/>
          <p:cNvSpPr/>
          <p:nvPr/>
        </p:nvSpPr>
        <p:spPr>
          <a:xfrm>
            <a:off x="64008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臨床啟示</a:t>
            </a:r>
            <a:endParaRPr lang="en-US" sz="1000" dirty="0"/>
          </a:p>
        </p:txBody>
      </p:sp>
      <p:sp>
        <p:nvSpPr>
          <p:cNvPr id="10" name="Text 8"/>
          <p:cNvSpPr/>
          <p:nvPr/>
        </p:nvSpPr>
        <p:spPr>
          <a:xfrm>
            <a:off x="64008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The findings suggest that ALC could be a potential therapeutic agent for colorectal cancer treatment. </a:t>
            </a:r>
            <a:endParaRPr lang="en-US" sz="1000" dirty="0"/>
          </a:p>
          <a:p>
            <a:pPr indent="0" marL="0">
              <a:lnSpc>
                <a:spcPct val="140000"/>
              </a:lnSpc>
              <a:buNone/>
            </a:pPr>
            <a:r>
              <a:rPr lang="en-US" sz="1000" dirty="0">
                <a:solidFill>
                  <a:srgbClr val="1A2332"/>
                </a:solidFill>
              </a:rPr>
              <a:t>ZH: 這些發現表明ALC可能成為大腸癌治療的潛在療法。</a:t>
            </a:r>
            <a:endParaRPr lang="en-US" sz="1000" dirty="0"/>
          </a:p>
        </p:txBody>
      </p:sp>
      <p:sp>
        <p:nvSpPr>
          <p:cNvPr id="11" name="Shape 9"/>
          <p:cNvSpPr/>
          <p:nvPr/>
        </p:nvSpPr>
        <p:spPr>
          <a:xfrm>
            <a:off x="6217920" y="1005840"/>
            <a:ext cx="5394960" cy="2560320"/>
          </a:xfrm>
          <a:prstGeom prst="rect">
            <a:avLst>
              <a:gd name="adj" fmla="val 2857"/>
            </a:avLst>
          </a:prstGeom>
          <a:solidFill>
            <a:srgbClr val="FFFFFF"/>
          </a:solidFill>
          <a:ln/>
          <a:effectLst>
            <a:outerShdw sx="100000" sy="100000" kx="0" ky="0" algn="bl" rotWithShape="0" blurRad="38100" dist="12700" dir="16200000">
              <a:srgbClr val="00000015">
                <a:alpha val="75000"/>
              </a:srgbClr>
            </a:outerShdw>
          </a:effectLst>
        </p:spPr>
      </p:sp>
      <p:sp>
        <p:nvSpPr>
          <p:cNvPr id="12" name="Text 10"/>
          <p:cNvSpPr/>
          <p:nvPr/>
        </p:nvSpPr>
        <p:spPr>
          <a:xfrm>
            <a:off x="6400800" y="1097280"/>
            <a:ext cx="5029200" cy="0"/>
          </a:xfrm>
          <a:prstGeom prst="rect">
            <a:avLst/>
          </a:prstGeom>
          <a:noFill/>
          <a:ln/>
        </p:spPr>
        <p:txBody>
          <a:bodyPr wrap="square" rtlCol="0" anchor="ctr"/>
          <a:lstStyle/>
          <a:p>
            <a:pPr indent="0" marL="0">
              <a:buNone/>
            </a:pPr>
            <a:r>
              <a:rPr lang="en-US" sz="1000" b="1" spc="200" kern="0" dirty="0">
                <a:solidFill>
                  <a:srgbClr val="2D8B8B"/>
                </a:solidFill>
              </a:rPr>
              <a:t>🔮 FUTURE DIRECTION</a:t>
            </a:r>
            <a:endParaRPr lang="en-US" sz="1000" dirty="0"/>
          </a:p>
        </p:txBody>
      </p:sp>
      <p:sp>
        <p:nvSpPr>
          <p:cNvPr id="13" name="Text 11"/>
          <p:cNvSpPr/>
          <p:nvPr/>
        </p:nvSpPr>
        <p:spPr>
          <a:xfrm>
            <a:off x="6400800" y="1325880"/>
            <a:ext cx="5029200" cy="0"/>
          </a:xfrm>
          <a:prstGeom prst="rect">
            <a:avLst/>
          </a:prstGeom>
          <a:noFill/>
          <a:ln/>
        </p:spPr>
        <p:txBody>
          <a:bodyPr wrap="square" rtlCol="0" anchor="ctr"/>
          <a:lstStyle/>
          <a:p>
            <a:pPr indent="0" marL="0">
              <a:buNone/>
            </a:pPr>
            <a:r>
              <a:rPr lang="en-US" sz="1000" dirty="0">
                <a:solidFill>
                  <a:srgbClr val="6B8A8A"/>
                </a:solidFill>
                <a:latin typeface="Microsoft JhengHei" pitchFamily="34" charset="0"/>
                <a:ea typeface="Microsoft JhengHei" pitchFamily="34" charset="-122"/>
                <a:cs typeface="Microsoft JhengHei" pitchFamily="34" charset="-120"/>
              </a:rPr>
              <a:t>未來方向</a:t>
            </a:r>
            <a:endParaRPr lang="en-US" sz="1000" dirty="0"/>
          </a:p>
        </p:txBody>
      </p:sp>
      <p:sp>
        <p:nvSpPr>
          <p:cNvPr id="14" name="Text 12"/>
          <p:cNvSpPr/>
          <p:nvPr/>
        </p:nvSpPr>
        <p:spPr>
          <a:xfrm>
            <a:off x="6400800" y="1645920"/>
            <a:ext cx="5029200" cy="0"/>
          </a:xfrm>
          <a:prstGeom prst="rect">
            <a:avLst/>
          </a:prstGeom>
          <a:noFill/>
          <a:ln/>
        </p:spPr>
        <p:txBody>
          <a:bodyPr wrap="square" rtlCol="0" anchor="ctr"/>
          <a:lstStyle/>
          <a:p>
            <a:pPr indent="0" marL="0">
              <a:lnSpc>
                <a:spcPct val="140000"/>
              </a:lnSpc>
              <a:buNone/>
            </a:pPr>
            <a:r>
              <a:rPr lang="en-US" sz="1000" dirty="0">
                <a:solidFill>
                  <a:srgbClr val="1A2332"/>
                </a:solidFill>
              </a:rPr>
              <a:t>EN: Future research should focus on elucidating the specific metabolic pathways affected by ALC. </a:t>
            </a:r>
            <a:endParaRPr lang="en-US" sz="1000" dirty="0"/>
          </a:p>
          <a:p>
            <a:pPr indent="0" marL="0">
              <a:lnSpc>
                <a:spcPct val="140000"/>
              </a:lnSpc>
              <a:buNone/>
            </a:pPr>
            <a:r>
              <a:rPr lang="en-US" sz="1000" dirty="0">
                <a:solidFill>
                  <a:srgbClr val="1A2332"/>
                </a:solidFill>
              </a:rPr>
              <a:t>ZH: 未來的研究應著重於闡明ALC影響的具體代謝途徑。</a:t>
            </a:r>
            <a:endParaRPr lang="en-US" sz="1000" dirty="0"/>
          </a:p>
        </p:txBody>
      </p:sp>
      <p:sp>
        <p:nvSpPr>
          <p:cNvPr id="15" name="Shape 13"/>
          <p:cNvSpPr/>
          <p:nvPr/>
        </p:nvSpPr>
        <p:spPr>
          <a:xfrm>
            <a:off x="0" y="6784848"/>
            <a:ext cx="12188952" cy="73152"/>
          </a:xfrm>
          <a:prstGeom prst="rect">
            <a:avLst/>
          </a:prstGeom>
          <a:solidFill>
            <a:srgbClr val="2D8B8B"/>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2D8B8B"/>
          </a:solidFill>
          <a:ln/>
        </p:spPr>
      </p:sp>
      <p:sp>
        <p:nvSpPr>
          <p:cNvPr id="3" name="Text 1"/>
          <p:cNvSpPr/>
          <p:nvPr/>
        </p:nvSpPr>
        <p:spPr>
          <a:xfrm>
            <a:off x="0" y="457200"/>
            <a:ext cx="12192000" cy="0"/>
          </a:xfrm>
          <a:prstGeom prst="rect">
            <a:avLst/>
          </a:prstGeom>
          <a:noFill/>
          <a:ln/>
        </p:spPr>
        <p:txBody>
          <a:bodyPr wrap="square" rtlCol="0" anchor="ctr"/>
          <a:lstStyle/>
          <a:p>
            <a:pPr algn="ctr" indent="0" marL="0">
              <a:buNone/>
            </a:pPr>
            <a:r>
              <a:rPr lang="en-US" sz="3600" dirty="0">
                <a:solidFill>
                  <a:srgbClr val="000000"/>
                </a:solidFill>
              </a:rPr>
              <a:t>💡</a:t>
            </a:r>
            <a:endParaRPr lang="en-US" sz="3600" dirty="0"/>
          </a:p>
        </p:txBody>
      </p:sp>
      <p:sp>
        <p:nvSpPr>
          <p:cNvPr id="4" name="Text 2"/>
          <p:cNvSpPr/>
          <p:nvPr/>
        </p:nvSpPr>
        <p:spPr>
          <a:xfrm>
            <a:off x="914400" y="1097280"/>
            <a:ext cx="10360152" cy="0"/>
          </a:xfrm>
          <a:prstGeom prst="rect">
            <a:avLst/>
          </a:prstGeom>
          <a:noFill/>
          <a:ln/>
        </p:spPr>
        <p:txBody>
          <a:bodyPr wrap="square" rtlCol="0" anchor="ctr"/>
          <a:lstStyle/>
          <a:p>
            <a:pPr algn="ctr" indent="0" marL="0">
              <a:buNone/>
            </a:pPr>
            <a:r>
              <a:rPr lang="en-US" sz="1800" b="1" spc="200" kern="0" dirty="0">
                <a:solidFill>
                  <a:srgbClr val="A8DADC"/>
                </a:solidFill>
                <a:latin typeface="Arial" pitchFamily="34" charset="0"/>
                <a:ea typeface="Arial" pitchFamily="34" charset="-122"/>
                <a:cs typeface="Arial" pitchFamily="34" charset="-120"/>
              </a:rPr>
              <a:t>OVERALL INSIGHTS &amp; FUTURE DIRECTIONS</a:t>
            </a:r>
            <a:endParaRPr lang="en-US" sz="1800" dirty="0"/>
          </a:p>
        </p:txBody>
      </p:sp>
      <p:sp>
        <p:nvSpPr>
          <p:cNvPr id="5" name="Text 3"/>
          <p:cNvSpPr/>
          <p:nvPr/>
        </p:nvSpPr>
        <p:spPr>
          <a:xfrm>
            <a:off x="914400" y="1554480"/>
            <a:ext cx="10360152" cy="0"/>
          </a:xfrm>
          <a:prstGeom prst="rect">
            <a:avLst/>
          </a:prstGeom>
          <a:noFill/>
          <a:ln/>
        </p:spPr>
        <p:txBody>
          <a:bodyPr wrap="square" rtlCol="0" anchor="ctr"/>
          <a:lstStyle/>
          <a:p>
            <a:pPr algn="ctr" indent="0" marL="0">
              <a:buNone/>
            </a:pPr>
            <a:r>
              <a:rPr lang="en-US" sz="1400" dirty="0">
                <a:solidFill>
                  <a:srgbClr val="6B8A8A"/>
                </a:solidFill>
                <a:latin typeface="Microsoft JhengHei" pitchFamily="34" charset="0"/>
                <a:ea typeface="Microsoft JhengHei" pitchFamily="34" charset="-122"/>
                <a:cs typeface="Microsoft JhengHei" pitchFamily="34" charset="-120"/>
              </a:rPr>
              <a:t>綜合啟示與未來研究方向</a:t>
            </a:r>
            <a:endParaRPr lang="en-US" sz="1400" dirty="0"/>
          </a:p>
        </p:txBody>
      </p:sp>
      <p:sp>
        <p:nvSpPr>
          <p:cNvPr id="6" name="Shape 4"/>
          <p:cNvSpPr/>
          <p:nvPr/>
        </p:nvSpPr>
        <p:spPr>
          <a:xfrm>
            <a:off x="4114800" y="1920240"/>
            <a:ext cx="3959352" cy="18288"/>
          </a:xfrm>
          <a:prstGeom prst="rect">
            <a:avLst/>
          </a:prstGeom>
          <a:solidFill>
            <a:srgbClr val="2D8B8B"/>
          </a:solidFill>
          <a:ln/>
        </p:spPr>
      </p:sp>
      <p:sp>
        <p:nvSpPr>
          <p:cNvPr id="7" name="Text 5"/>
          <p:cNvSpPr/>
          <p:nvPr/>
        </p:nvSpPr>
        <p:spPr>
          <a:xfrm>
            <a:off x="914400" y="2194560"/>
            <a:ext cx="10360152" cy="0"/>
          </a:xfrm>
          <a:prstGeom prst="rect">
            <a:avLst/>
          </a:prstGeom>
          <a:noFill/>
          <a:ln/>
        </p:spPr>
        <p:txBody>
          <a:bodyPr wrap="square" rtlCol="0" anchor="ctr"/>
          <a:lstStyle/>
          <a:p>
            <a:pPr indent="0" marL="0">
              <a:lnSpc>
                <a:spcPct val="150000"/>
              </a:lnSpc>
              <a:buNone/>
            </a:pPr>
            <a:r>
              <a:rPr lang="en-US" sz="1000" dirty="0">
                <a:solidFill>
                  <a:srgbClr val="E8F0F2"/>
                </a:solidFill>
              </a:rPr>
              <a:t>### 綜合啟示 (Overall Insights)</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1. **腫瘤微環境與轉移的關聯性**  </a:t>
            </a:r>
            <a:endParaRPr lang="en-US" sz="1000" dirty="0"/>
          </a:p>
          <a:p>
            <a:pPr indent="0" marL="0">
              <a:lnSpc>
                <a:spcPct val="150000"/>
              </a:lnSpc>
              <a:buNone/>
            </a:pPr>
            <a:r>
              <a:rPr lang="en-US" sz="1000" dirty="0">
                <a:solidFill>
                  <a:srgbClr val="E8F0F2"/>
                </a:solidFill>
              </a:rPr>
              <a:t>   The inflammatory tumor microenvironment plays a critical role in promoting metastasis in colorectal cancer, particularly through mechanisms involving neutrophil infiltration.  </a:t>
            </a:r>
            <a:endParaRPr lang="en-US" sz="1000" dirty="0"/>
          </a:p>
          <a:p>
            <a:pPr indent="0" marL="0">
              <a:lnSpc>
                <a:spcPct val="150000"/>
              </a:lnSpc>
              <a:buNone/>
            </a:pPr>
            <a:r>
              <a:rPr lang="en-US" sz="1000" dirty="0">
                <a:solidFill>
                  <a:srgbClr val="E8F0F2"/>
                </a:solidFill>
              </a:rPr>
              <a:t>   腫瘤微環境中的炎症對於促進大腸癌轉移具有關鍵作用，特別是通過中性粒細胞浸潤的機制。</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2. **系統性免疫炎症指數的預後價值**  </a:t>
            </a:r>
            <a:endParaRPr lang="en-US" sz="1000" dirty="0"/>
          </a:p>
          <a:p>
            <a:pPr indent="0" marL="0">
              <a:lnSpc>
                <a:spcPct val="150000"/>
              </a:lnSpc>
              <a:buNone/>
            </a:pPr>
            <a:r>
              <a:rPr lang="en-US" sz="1000" dirty="0">
                <a:solidFill>
                  <a:srgbClr val="E8F0F2"/>
                </a:solidFill>
              </a:rPr>
              <a:t>   The systemic immune-inflammation index (SII) has emerged as a significant prognostic biomarker for colorectal cancer, indicating its potential utility in clinical practice.  </a:t>
            </a:r>
            <a:endParaRPr lang="en-US" sz="1000" dirty="0"/>
          </a:p>
          <a:p>
            <a:pPr indent="0" marL="0">
              <a:lnSpc>
                <a:spcPct val="150000"/>
              </a:lnSpc>
              <a:buNone/>
            </a:pPr>
            <a:r>
              <a:rPr lang="en-US" sz="1000" dirty="0">
                <a:solidFill>
                  <a:srgbClr val="E8F0F2"/>
                </a:solidFill>
              </a:rPr>
              <a:t>   系統性免疫炎症指數（SII）已成為大腸癌的重要預後生物標記，顯示其在臨床實踐中的潛在應用價值。</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3. **炎症性腸病患者的癌症風險認知**  </a:t>
            </a:r>
            <a:endParaRPr lang="en-US" sz="1000" dirty="0"/>
          </a:p>
          <a:p>
            <a:pPr indent="0" marL="0">
              <a:lnSpc>
                <a:spcPct val="150000"/>
              </a:lnSpc>
              <a:buNone/>
            </a:pPr>
            <a:r>
              <a:rPr lang="en-US" sz="1000" dirty="0">
                <a:solidFill>
                  <a:srgbClr val="E8F0F2"/>
                </a:solidFill>
              </a:rPr>
              <a:t>   There is a notable gap in awareness regarding the risk of colorectal cancer among patients with inflammatory bowel disease, highlighting the need for better education and management strategies.  </a:t>
            </a:r>
            <a:endParaRPr lang="en-US" sz="1000" dirty="0"/>
          </a:p>
          <a:p>
            <a:pPr indent="0" marL="0">
              <a:lnSpc>
                <a:spcPct val="150000"/>
              </a:lnSpc>
              <a:buNone/>
            </a:pPr>
            <a:r>
              <a:rPr lang="en-US" sz="1000" dirty="0">
                <a:solidFill>
                  <a:srgbClr val="E8F0F2"/>
                </a:solidFill>
              </a:rPr>
              <a:t>   炎症性腸病患者對大腸癌風險的認知存在明顯不足，突顯了改善教育和管理策略的必要性。</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4. **新療法的潛力**  </a:t>
            </a:r>
            <a:endParaRPr lang="en-US" sz="1000" dirty="0"/>
          </a:p>
          <a:p>
            <a:pPr indent="0" marL="0">
              <a:lnSpc>
                <a:spcPct val="150000"/>
              </a:lnSpc>
              <a:buNone/>
            </a:pPr>
            <a:r>
              <a:rPr lang="en-US" sz="1000" dirty="0">
                <a:solidFill>
                  <a:srgbClr val="E8F0F2"/>
                </a:solidFill>
              </a:rPr>
              <a:t>   Emerging therapeutic strategies targeting inflammation-driven colorectal carcinogenesis, such as the use of specific extracts and inhibitors, show promise in preclinical studies.  </a:t>
            </a:r>
            <a:endParaRPr lang="en-US" sz="1000" dirty="0"/>
          </a:p>
          <a:p>
            <a:pPr indent="0" marL="0">
              <a:lnSpc>
                <a:spcPct val="150000"/>
              </a:lnSpc>
              <a:buNone/>
            </a:pPr>
            <a:r>
              <a:rPr lang="en-US" sz="1000" dirty="0">
                <a:solidFill>
                  <a:srgbClr val="E8F0F2"/>
                </a:solidFill>
              </a:rPr>
              <a:t>   針對炎症驅動的大腸癌發生的新療法，如特定提取物和抑制劑的使用，在前臨床研究中顯示出潛力。</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5. **PARP抑制劑的再利用**  </a:t>
            </a:r>
            <a:endParaRPr lang="en-US" sz="1000" dirty="0"/>
          </a:p>
          <a:p>
            <a:pPr indent="0" marL="0">
              <a:lnSpc>
                <a:spcPct val="150000"/>
              </a:lnSpc>
              <a:buNone/>
            </a:pPr>
            <a:r>
              <a:rPr lang="en-US" sz="1000" dirty="0">
                <a:solidFill>
                  <a:srgbClr val="E8F0F2"/>
                </a:solidFill>
              </a:rPr>
              <a:t>   The repurposing of PARP inhibitors for molecularly defined subgroups of peritoneal metastatic colorectal cancer could provide new avenues for treatment in this challenging patient population.  </a:t>
            </a:r>
            <a:endParaRPr lang="en-US" sz="1000" dirty="0"/>
          </a:p>
          <a:p>
            <a:pPr indent="0" marL="0">
              <a:lnSpc>
                <a:spcPct val="150000"/>
              </a:lnSpc>
              <a:buNone/>
            </a:pPr>
            <a:r>
              <a:rPr lang="en-US" sz="1000" dirty="0">
                <a:solidFill>
                  <a:srgbClr val="E8F0F2"/>
                </a:solidFill>
              </a:rPr>
              <a:t>   將PARP抑制劑再利用於分子特徵定義的腹膜轉移性大腸癌亞組，可能為這一挑戰性患者群體提供新的治療途徑。</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 未來研究方向 (Future Research Directions)</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1. **深入探討腫瘤微環境的角色**  </a:t>
            </a:r>
            <a:endParaRPr lang="en-US" sz="1000" dirty="0"/>
          </a:p>
          <a:p>
            <a:pPr indent="0" marL="0">
              <a:lnSpc>
                <a:spcPct val="150000"/>
              </a:lnSpc>
              <a:buNone/>
            </a:pPr>
            <a:r>
              <a:rPr lang="en-US" sz="1000" dirty="0">
                <a:solidFill>
                  <a:srgbClr val="E8F0F2"/>
                </a:solidFill>
              </a:rPr>
              <a:t>   Future studies should focus on elucidating the specific mechanisms by which the tumor microenvironment influences metastatic behavior in colorectal cancer.  </a:t>
            </a:r>
            <a:endParaRPr lang="en-US" sz="1000" dirty="0"/>
          </a:p>
          <a:p>
            <a:pPr indent="0" marL="0">
              <a:lnSpc>
                <a:spcPct val="150000"/>
              </a:lnSpc>
              <a:buNone/>
            </a:pPr>
            <a:r>
              <a:rPr lang="en-US" sz="1000" dirty="0">
                <a:solidFill>
                  <a:srgbClr val="E8F0F2"/>
                </a:solidFill>
              </a:rPr>
              <a:t>   未來的研究應集中於闡明腫瘤微環境如何影響大腸癌的轉移行為的具體機制。</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2. **擴大系統性免疫炎症指數的應用研究**  </a:t>
            </a:r>
            <a:endParaRPr lang="en-US" sz="1000" dirty="0"/>
          </a:p>
          <a:p>
            <a:pPr indent="0" marL="0">
              <a:lnSpc>
                <a:spcPct val="150000"/>
              </a:lnSpc>
              <a:buNone/>
            </a:pPr>
            <a:r>
              <a:rPr lang="en-US" sz="1000" dirty="0">
                <a:solidFill>
                  <a:srgbClr val="E8F0F2"/>
                </a:solidFill>
              </a:rPr>
              <a:t>   Expanding research on the application of the systemic immune-inflammation index across diverse patient populations may enhance its prognostic utility.  </a:t>
            </a:r>
            <a:endParaRPr lang="en-US" sz="1000" dirty="0"/>
          </a:p>
          <a:p>
            <a:pPr indent="0" marL="0">
              <a:lnSpc>
                <a:spcPct val="150000"/>
              </a:lnSpc>
              <a:buNone/>
            </a:pPr>
            <a:r>
              <a:rPr lang="en-US" sz="1000" dirty="0">
                <a:solidFill>
                  <a:srgbClr val="E8F0F2"/>
                </a:solidFill>
              </a:rPr>
              <a:t>   擴大系統性免疫炎症指數在不同患者群體中的應用研究，可能會增強其預後價值。</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3. **提高患者對癌症風險的認知**  </a:t>
            </a:r>
            <a:endParaRPr lang="en-US" sz="1000" dirty="0"/>
          </a:p>
          <a:p>
            <a:pPr indent="0" marL="0">
              <a:lnSpc>
                <a:spcPct val="150000"/>
              </a:lnSpc>
              <a:buNone/>
            </a:pPr>
            <a:r>
              <a:rPr lang="en-US" sz="1000" dirty="0">
                <a:solidFill>
                  <a:srgbClr val="E8F0F2"/>
                </a:solidFill>
              </a:rPr>
              <a:t>   Interventions aimed at improving awareness and understanding of colorectal cancer risks among patients with inflammatory bowel disease should be developed and tested.  </a:t>
            </a:r>
            <a:endParaRPr lang="en-US" sz="1000" dirty="0"/>
          </a:p>
          <a:p>
            <a:pPr indent="0" marL="0">
              <a:lnSpc>
                <a:spcPct val="150000"/>
              </a:lnSpc>
              <a:buNone/>
            </a:pPr>
            <a:r>
              <a:rPr lang="en-US" sz="1000" dirty="0">
                <a:solidFill>
                  <a:srgbClr val="E8F0F2"/>
                </a:solidFill>
              </a:rPr>
              <a:t>   應開發和測試旨在提高炎症性腸病患者對大腸癌風險認知的干預措施。</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4. **探索新療法的臨床試驗**  </a:t>
            </a:r>
            <a:endParaRPr lang="en-US" sz="1000" dirty="0"/>
          </a:p>
          <a:p>
            <a:pPr indent="0" marL="0">
              <a:lnSpc>
                <a:spcPct val="150000"/>
              </a:lnSpc>
              <a:buNone/>
            </a:pPr>
            <a:r>
              <a:rPr lang="en-US" sz="1000" dirty="0">
                <a:solidFill>
                  <a:srgbClr val="E8F0F2"/>
                </a:solidFill>
              </a:rPr>
              <a:t>   Clinical trials evaluating the efficacy and safety of emerging therapies targeting inflammation in colorectal cancer are warranted to validate their therapeutic potential.  </a:t>
            </a:r>
            <a:endParaRPr lang="en-US" sz="1000" dirty="0"/>
          </a:p>
          <a:p>
            <a:pPr indent="0" marL="0">
              <a:lnSpc>
                <a:spcPct val="150000"/>
              </a:lnSpc>
              <a:buNone/>
            </a:pPr>
            <a:r>
              <a:rPr lang="en-US" sz="1000" dirty="0">
                <a:solidFill>
                  <a:srgbClr val="E8F0F2"/>
                </a:solidFill>
              </a:rPr>
              <a:t>   需要進行臨床試驗以評估針對大腸癌炎症的新療法的有效性和安全性，以驗證其治療潛力。</a:t>
            </a:r>
            <a:endParaRPr lang="en-US" sz="1000" dirty="0"/>
          </a:p>
          <a:p>
            <a:pPr indent="0" marL="0">
              <a:lnSpc>
                <a:spcPct val="150000"/>
              </a:lnSpc>
              <a:buNone/>
            </a:pPr>
            <a:endParaRPr lang="en-US" sz="1000" dirty="0"/>
          </a:p>
          <a:p>
            <a:pPr indent="0" marL="0">
              <a:lnSpc>
                <a:spcPct val="150000"/>
              </a:lnSpc>
              <a:buNone/>
            </a:pPr>
            <a:r>
              <a:rPr lang="en-US" sz="1000" dirty="0">
                <a:solidFill>
                  <a:srgbClr val="E8F0F2"/>
                </a:solidFill>
              </a:rPr>
              <a:t>5. **PARP抑制劑的分子標記研究**  </a:t>
            </a:r>
            <a:endParaRPr lang="en-US" sz="1000" dirty="0"/>
          </a:p>
          <a:p>
            <a:pPr indent="0" marL="0">
              <a:lnSpc>
                <a:spcPct val="150000"/>
              </a:lnSpc>
              <a:buNone/>
            </a:pPr>
            <a:r>
              <a:rPr lang="en-US" sz="1000" dirty="0">
                <a:solidFill>
                  <a:srgbClr val="E8F0F2"/>
                </a:solidFill>
              </a:rPr>
              <a:t>   Investigating molecular markers that predict response to PARP inhibitors in peritoneal metastatic colorectal cancer could refine patient selection for targeted therapies.  </a:t>
            </a:r>
            <a:endParaRPr lang="en-US" sz="1000" dirty="0"/>
          </a:p>
          <a:p>
            <a:pPr indent="0" marL="0">
              <a:lnSpc>
                <a:spcPct val="150000"/>
              </a:lnSpc>
              <a:buNone/>
            </a:pPr>
            <a:r>
              <a:rPr lang="en-US" sz="1000" dirty="0">
                <a:solidFill>
                  <a:srgbClr val="E8F0F2"/>
                </a:solidFill>
              </a:rPr>
              <a:t>   研究預測腹膜轉移性大腸癌對PARP抑制劑反應的分子標記，可能會精細化針對性治療的患者選擇。</a:t>
            </a:r>
            <a:endParaRPr lang="en-US" sz="1000" dirty="0"/>
          </a:p>
        </p:txBody>
      </p:sp>
      <p:sp>
        <p:nvSpPr>
          <p:cNvPr id="8" name="Shape 6"/>
          <p:cNvSpPr/>
          <p:nvPr/>
        </p:nvSpPr>
        <p:spPr>
          <a:xfrm>
            <a:off x="0" y="6784848"/>
            <a:ext cx="12188952" cy="73152"/>
          </a:xfrm>
          <a:prstGeom prst="rect">
            <a:avLst/>
          </a:prstGeom>
          <a:solidFill>
            <a:srgbClr val="2D8B8B"/>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2D8B8B"/>
          </a:solidFill>
          <a:ln/>
        </p:spPr>
      </p:sp>
      <p:sp>
        <p:nvSpPr>
          <p:cNvPr id="3" name="Shape 1"/>
          <p:cNvSpPr/>
          <p:nvPr/>
        </p:nvSpPr>
        <p:spPr>
          <a:xfrm>
            <a:off x="4114800" y="2286000"/>
            <a:ext cx="3959352" cy="36576"/>
          </a:xfrm>
          <a:prstGeom prst="rect">
            <a:avLst/>
          </a:prstGeom>
          <a:solidFill>
            <a:srgbClr val="2D8B8B"/>
          </a:solidFill>
          <a:ln/>
        </p:spPr>
      </p:sp>
      <p:sp>
        <p:nvSpPr>
          <p:cNvPr id="4" name="Text 2"/>
          <p:cNvSpPr/>
          <p:nvPr/>
        </p:nvSpPr>
        <p:spPr>
          <a:xfrm>
            <a:off x="914400" y="2560320"/>
            <a:ext cx="10360152" cy="0"/>
          </a:xfrm>
          <a:prstGeom prst="rect">
            <a:avLst/>
          </a:prstGeom>
          <a:noFill/>
          <a:ln/>
        </p:spPr>
        <p:txBody>
          <a:bodyPr wrap="square"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5" name="Text 3"/>
          <p:cNvSpPr/>
          <p:nvPr/>
        </p:nvSpPr>
        <p:spPr>
          <a:xfrm>
            <a:off x="914400" y="3383280"/>
            <a:ext cx="10360152" cy="0"/>
          </a:xfrm>
          <a:prstGeom prst="rect">
            <a:avLst/>
          </a:prstGeom>
          <a:noFill/>
          <a:ln/>
        </p:spPr>
        <p:txBody>
          <a:bodyPr wrap="square" rtlCol="0" anchor="ctr"/>
          <a:lstStyle/>
          <a:p>
            <a:pPr algn="ctr" indent="0" marL="0">
              <a:buNone/>
            </a:pPr>
            <a:r>
              <a:rPr lang="en-US" sz="2800" dirty="0">
                <a:solidFill>
                  <a:srgbClr val="A8DADC"/>
                </a:solidFill>
                <a:latin typeface="Microsoft JhengHei" pitchFamily="34" charset="0"/>
                <a:ea typeface="Microsoft JhengHei" pitchFamily="34" charset="-122"/>
                <a:cs typeface="Microsoft JhengHei" pitchFamily="34" charset="-120"/>
              </a:rPr>
              <a:t>謝謝</a:t>
            </a:r>
            <a:endParaRPr lang="en-US" sz="2800" dirty="0"/>
          </a:p>
        </p:txBody>
      </p:sp>
      <p:sp>
        <p:nvSpPr>
          <p:cNvPr id="6" name="Shape 4"/>
          <p:cNvSpPr/>
          <p:nvPr/>
        </p:nvSpPr>
        <p:spPr>
          <a:xfrm>
            <a:off x="4114800" y="4023360"/>
            <a:ext cx="3959352" cy="36576"/>
          </a:xfrm>
          <a:prstGeom prst="rect">
            <a:avLst/>
          </a:prstGeom>
          <a:solidFill>
            <a:srgbClr val="2D8B8B"/>
          </a:solidFill>
          <a:ln/>
        </p:spPr>
      </p:sp>
      <p:sp>
        <p:nvSpPr>
          <p:cNvPr id="7" name="Text 5"/>
          <p:cNvSpPr/>
          <p:nvPr/>
        </p:nvSpPr>
        <p:spPr>
          <a:xfrm>
            <a:off x="914400" y="4297680"/>
            <a:ext cx="10360152" cy="0"/>
          </a:xfrm>
          <a:prstGeom prst="rect">
            <a:avLst/>
          </a:prstGeom>
          <a:noFill/>
          <a:ln/>
        </p:spPr>
        <p:txBody>
          <a:bodyPr wrap="square" rtlCol="0" anchor="ctr"/>
          <a:lstStyle/>
          <a:p>
            <a:pPr algn="ctr" indent="0" marL="0">
              <a:buNone/>
            </a:pPr>
            <a:r>
              <a:rPr lang="en-US" sz="1400" dirty="0">
                <a:solidFill>
                  <a:srgbClr val="6B8A8A"/>
                </a:solidFill>
              </a:rPr>
              <a:t>Colorectal Surgery Weekly Digest</a:t>
            </a:r>
            <a:endParaRPr lang="en-US" sz="1400" dirty="0"/>
          </a:p>
        </p:txBody>
      </p:sp>
      <p:sp>
        <p:nvSpPr>
          <p:cNvPr id="8" name="Text 6"/>
          <p:cNvSpPr/>
          <p:nvPr/>
        </p:nvSpPr>
        <p:spPr>
          <a:xfrm>
            <a:off x="914400" y="4846320"/>
            <a:ext cx="10360152" cy="0"/>
          </a:xfrm>
          <a:prstGeom prst="rect">
            <a:avLst/>
          </a:prstGeom>
          <a:noFill/>
          <a:ln/>
        </p:spPr>
        <p:txBody>
          <a:bodyPr wrap="square" rtlCol="0" anchor="ctr"/>
          <a:lstStyle/>
          <a:p>
            <a:pPr algn="ctr" indent="0" marL="0">
              <a:buNone/>
            </a:pPr>
            <a:r>
              <a:rPr lang="en-US" sz="1000" dirty="0">
                <a:solidFill>
                  <a:srgbClr val="6B8A8A"/>
                </a:solidFill>
              </a:rPr>
              <a:t>Sources: PubMed, Google Scholar · Translations: AI-assisted</a:t>
            </a:r>
            <a:endParaRPr lang="en-US" sz="1000" dirty="0"/>
          </a:p>
        </p:txBody>
      </p:sp>
      <p:sp>
        <p:nvSpPr>
          <p:cNvPr id="9" name="Shape 7"/>
          <p:cNvSpPr/>
          <p:nvPr/>
        </p:nvSpPr>
        <p:spPr>
          <a:xfrm>
            <a:off x="0" y="6784848"/>
            <a:ext cx="12188952" cy="73152"/>
          </a:xfrm>
          <a:prstGeom prst="rect">
            <a:avLst/>
          </a:prstGeom>
          <a:solidFill>
            <a:srgbClr val="2D8B8B"/>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Weekly Literature Review</dc:subject>
  <dc:creator>Colorectal Weekly Digest</dc:creator>
  <cp:lastModifiedBy>Colorectal Weekly Digest</cp:lastModifiedBy>
  <cp:revision>1</cp:revision>
  <dcterms:created xsi:type="dcterms:W3CDTF">2026-04-18T13:44:17Z</dcterms:created>
  <dcterms:modified xsi:type="dcterms:W3CDTF">2026-04-18T13:44:17Z</dcterms:modified>
</cp:coreProperties>
</file>