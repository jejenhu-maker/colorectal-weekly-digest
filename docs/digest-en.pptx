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hyperlink" Target="https://www.frontiersin.org/journals/oncology/articles/10.3389/fonc.2026.1616016/full" TargetMode="External"/><Relationship Id="rId2" Type="http://schemas.openxmlformats.org/officeDocument/2006/relationships/hyperlink" Target="https://www.frontiersin.org/journals/oncology/articles/10.3389/fonc.2026.1616016/full" TargetMode="External"/><Relationship Id="rId3" Type="http://schemas.openxmlformats.org/officeDocument/2006/relationships/slideLayout" Target="../slideLayouts/slideLayout1.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hyperlink" Target="https://www.sciencedirect.com/science/article/pii/S221074012600063X" TargetMode="External"/><Relationship Id="rId2" Type="http://schemas.openxmlformats.org/officeDocument/2006/relationships/hyperlink" Target="https://www.sciencedirect.com/science/article/pii/S221074012600063X" TargetMode="External"/><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hyperlink" Target="https://link.springer.com/article/10.1007/s12094-026-04225-8" TargetMode="External"/><Relationship Id="rId2" Type="http://schemas.openxmlformats.org/officeDocument/2006/relationships/hyperlink" Target="https://link.springer.com/article/10.1007/s12094-026-04225-8" TargetMode="External"/><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hyperlink" Target="https://doi.org/10.1016/j.ijbiomac.2026.154170" TargetMode="External"/><Relationship Id="rId2" Type="http://schemas.openxmlformats.org/officeDocument/2006/relationships/hyperlink" Target="https://doi.org/10.1016/j.ijbiomac.2026.154170" TargetMode="External"/><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hyperlink" Target="https://doi.org/10.1038/s41598-026-61397-7" TargetMode="External"/><Relationship Id="rId2" Type="http://schemas.openxmlformats.org/officeDocument/2006/relationships/hyperlink" Target="https://doi.org/10.1038/s41598-026-61397-7" TargetMode="External"/><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hyperlink" Target="https://doi.org/10.1111/omi.70038" TargetMode="External"/><Relationship Id="rId2" Type="http://schemas.openxmlformats.org/officeDocument/2006/relationships/hyperlink" Target="https://doi.org/10.1111/omi.70038" TargetMode="External"/><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hyperlink" Target="https://doi.org/10.1016/j.xcrm.2026.102930" TargetMode="External"/><Relationship Id="rId2" Type="http://schemas.openxmlformats.org/officeDocument/2006/relationships/hyperlink" Target="https://doi.org/10.1016/j.xcrm.2026.102930" TargetMode="External"/><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hyperlink" Target="https://www.mdpi.com/2072-6694/18/4/576" TargetMode="External"/><Relationship Id="rId2" Type="http://schemas.openxmlformats.org/officeDocument/2006/relationships/hyperlink" Target="https://www.mdpi.com/2072-6694/18/4/576" TargetMode="External"/><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hyperlink" Target="https://doi.org/10.1016/j.isci.2026.116785" TargetMode="External"/><Relationship Id="rId2" Type="http://schemas.openxmlformats.org/officeDocument/2006/relationships/hyperlink" Target="https://doi.org/10.1016/j.isci.2026.116785" TargetMode="External"/><Relationship Id="rId3" Type="http://schemas.openxmlformats.org/officeDocument/2006/relationships/slideLayout" Target="../slideLayouts/slideLayout1.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hyperlink" Target="https://doi.org/10.1038/s41401-026-01899-2" TargetMode="External"/><Relationship Id="rId2" Type="http://schemas.openxmlformats.org/officeDocument/2006/relationships/hyperlink" Target="https://doi.org/10.1038/s41401-026-01899-2" TargetMode="External"/><Relationship Id="rId3" Type="http://schemas.openxmlformats.org/officeDocument/2006/relationships/slideLayout" Target="../slideLayouts/slideLayout1.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A1A2E"/>
        </a:solidFill>
      </p:bgPr>
    </p:bg>
    <p:spTree>
      <p:nvGrpSpPr>
        <p:cNvPr id="1" name=""/>
        <p:cNvGrpSpPr/>
        <p:nvPr/>
      </p:nvGrpSpPr>
      <p:grpSpPr>
        <a:xfrm>
          <a:off x="0" y="0"/>
          <a:ext cx="0" cy="0"/>
          <a:chOff x="0" y="0"/>
          <a:chExt cx="0" cy="0"/>
        </a:xfrm>
      </p:grpSpPr>
      <p:sp>
        <p:nvSpPr>
          <p:cNvPr id="2" name="Text 0"/>
          <p:cNvSpPr/>
          <p:nvPr/>
        </p:nvSpPr>
        <p:spPr>
          <a:xfrm>
            <a:off x="731520" y="457200"/>
            <a:ext cx="5486400" cy="0"/>
          </a:xfrm>
          <a:prstGeom prst="rect">
            <a:avLst/>
          </a:prstGeom>
          <a:noFill/>
          <a:ln/>
        </p:spPr>
        <p:txBody>
          <a:bodyPr wrap="square" lIns="0" tIns="0" rIns="0" bIns="0" rtlCol="0" anchor="ctr"/>
          <a:lstStyle/>
          <a:p>
            <a:pPr indent="0" marL="0">
              <a:buNone/>
            </a:pPr>
            <a:r>
              <a:rPr lang="en-US" sz="900" b="1" spc="600" kern="0" dirty="0">
                <a:solidFill>
                  <a:srgbClr val="888888"/>
                </a:solidFill>
              </a:rPr>
              <a:t>WEEKLY DIGEST</a:t>
            </a:r>
            <a:endParaRPr lang="en-US" sz="900" dirty="0"/>
          </a:p>
        </p:txBody>
      </p:sp>
      <p:sp>
        <p:nvSpPr>
          <p:cNvPr id="3" name="Text 1"/>
          <p:cNvSpPr/>
          <p:nvPr/>
        </p:nvSpPr>
        <p:spPr>
          <a:xfrm>
            <a:off x="731520" y="1371600"/>
            <a:ext cx="10058400" cy="0"/>
          </a:xfrm>
          <a:prstGeom prst="rect">
            <a:avLst/>
          </a:prstGeom>
          <a:noFill/>
          <a:ln/>
        </p:spPr>
        <p:txBody>
          <a:bodyPr wrap="square" rtlCol="0" anchor="ctr"/>
          <a:lstStyle/>
          <a:p>
            <a:pPr indent="0" marL="0">
              <a:lnSpc>
                <a:spcPct val="95000"/>
              </a:lnSpc>
              <a:buNone/>
            </a:pPr>
            <a:r>
              <a:rPr lang="en-US" sz="4800" b="1" dirty="0">
                <a:solidFill>
                  <a:srgbClr val="FFFFFF"/>
                </a:solidFill>
                <a:latin typeface="Arial" pitchFamily="34" charset="0"/>
                <a:ea typeface="Arial" pitchFamily="34" charset="-122"/>
                <a:cs typeface="Arial" pitchFamily="34" charset="-120"/>
              </a:rPr>
              <a:t>Colorectal</a:t>
            </a:r>
            <a:endParaRPr lang="en-US" sz="4800" dirty="0"/>
          </a:p>
          <a:p>
            <a:pPr indent="0" marL="0">
              <a:lnSpc>
                <a:spcPct val="95000"/>
              </a:lnSpc>
              <a:buNone/>
            </a:pPr>
            <a:r>
              <a:rPr lang="en-US" sz="4800" b="1" dirty="0">
                <a:solidFill>
                  <a:srgbClr val="FFFFFF"/>
                </a:solidFill>
                <a:latin typeface="Arial" pitchFamily="34" charset="0"/>
                <a:ea typeface="Arial" pitchFamily="34" charset="-122"/>
                <a:cs typeface="Arial" pitchFamily="34" charset="-120"/>
              </a:rPr>
              <a:t>Surgery</a:t>
            </a:r>
            <a:endParaRPr lang="en-US" sz="4800" dirty="0"/>
          </a:p>
        </p:txBody>
      </p:sp>
      <p:sp>
        <p:nvSpPr>
          <p:cNvPr id="4" name="Text 2"/>
          <p:cNvSpPr/>
          <p:nvPr/>
        </p:nvSpPr>
        <p:spPr>
          <a:xfrm>
            <a:off x="731520" y="5029200"/>
            <a:ext cx="5486400" cy="0"/>
          </a:xfrm>
          <a:prstGeom prst="rect">
            <a:avLst/>
          </a:prstGeom>
          <a:noFill/>
          <a:ln/>
        </p:spPr>
        <p:txBody>
          <a:bodyPr wrap="square" lIns="0" tIns="0" rIns="0" bIns="0" rtlCol="0" anchor="ctr"/>
          <a:lstStyle/>
          <a:p>
            <a:pPr indent="0" marL="0">
              <a:buNone/>
            </a:pPr>
            <a:r>
              <a:rPr lang="en-US" sz="1400" dirty="0">
                <a:solidFill>
                  <a:srgbClr val="888888"/>
                </a:solidFill>
              </a:rPr>
              <a:t>2026-08-17 — 2026-08-24</a:t>
            </a:r>
            <a:endParaRPr lang="en-US" sz="1400" dirty="0"/>
          </a:p>
        </p:txBody>
      </p:sp>
      <p:sp>
        <p:nvSpPr>
          <p:cNvPr id="5" name="Text 3"/>
          <p:cNvSpPr/>
          <p:nvPr/>
        </p:nvSpPr>
        <p:spPr>
          <a:xfrm>
            <a:off x="731520" y="5486400"/>
            <a:ext cx="5486400" cy="0"/>
          </a:xfrm>
          <a:prstGeom prst="rect">
            <a:avLst/>
          </a:prstGeom>
          <a:noFill/>
          <a:ln/>
        </p:spPr>
        <p:txBody>
          <a:bodyPr wrap="square" lIns="0" tIns="0" rIns="0" bIns="0" rtlCol="0" anchor="ctr"/>
          <a:lstStyle/>
          <a:p>
            <a:pPr indent="0" marL="0">
              <a:buNone/>
            </a:pPr>
            <a:r>
              <a:rPr lang="en-US" sz="1200" b="1" spc="200" kern="0" dirty="0">
                <a:solidFill>
                  <a:srgbClr val="2563EB"/>
                </a:solidFill>
              </a:rPr>
              <a:t>10 Selected Papers</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1520" y="365760"/>
            <a:ext cx="3657600" cy="0"/>
          </a:xfrm>
          <a:prstGeom prst="rect">
            <a:avLst/>
          </a:prstGeom>
          <a:noFill/>
          <a:ln/>
        </p:spPr>
        <p:txBody>
          <a:bodyPr wrap="square" lIns="0" tIns="0" rIns="0" bIns="0" rtlCol="0" anchor="ctr"/>
          <a:lstStyle/>
          <a:p>
            <a:pPr indent="0" marL="0">
              <a:buNone/>
            </a:pPr>
            <a:r>
              <a:rPr lang="en-US" sz="1000" b="1" spc="400" kern="0" dirty="0">
                <a:solidFill>
                  <a:srgbClr val="888888"/>
                </a:solidFill>
              </a:rPr>
              <a:t>CONTENTS</a:t>
            </a:r>
            <a:endParaRPr lang="en-US" sz="1000" dirty="0"/>
          </a:p>
        </p:txBody>
      </p:sp>
      <p:sp>
        <p:nvSpPr>
          <p:cNvPr id="3" name="Text 1"/>
          <p:cNvSpPr/>
          <p:nvPr/>
        </p:nvSpPr>
        <p:spPr>
          <a:xfrm>
            <a:off x="731520" y="1005840"/>
            <a:ext cx="10058400" cy="0"/>
          </a:xfrm>
          <a:prstGeom prst="rect">
            <a:avLst/>
          </a:prstGeom>
          <a:noFill/>
          <a:ln/>
        </p:spPr>
        <p:txBody>
          <a:bodyPr wrap="square" rtlCol="0" anchor="ctr"/>
          <a:lstStyle/>
          <a:p>
            <a:pPr indent="0" marL="0">
              <a:lnSpc>
                <a:spcPct val="180000"/>
              </a:lnSpc>
              <a:buNone/>
            </a:pPr>
            <a:r>
              <a:rPr lang="en-US" sz="1400" b="1" dirty="0">
                <a:solidFill>
                  <a:srgbClr val="2563EB"/>
                </a:solidFill>
                <a:latin typeface="Arial" pitchFamily="34" charset="0"/>
                <a:ea typeface="Arial" pitchFamily="34" charset="-122"/>
                <a:cs typeface="Arial" pitchFamily="34" charset="-120"/>
              </a:rPr>
              <a:t>01  </a:t>
            </a:r>
            <a:pPr indent="0" marL="0">
              <a:lnSpc>
                <a:spcPct val="180000"/>
              </a:lnSpc>
              <a:buNone/>
            </a:pPr>
            <a:r>
              <a:rPr lang="en-US" sz="1100" dirty="0">
                <a:solidFill>
                  <a:srgbClr val="333333"/>
                </a:solidFill>
                <a:latin typeface="Arial" pitchFamily="34" charset="0"/>
                <a:ea typeface="Arial" pitchFamily="34" charset="-122"/>
                <a:cs typeface="Arial" pitchFamily="34" charset="-120"/>
              </a:rPr>
              <a:t>Prognostic value of systemic immune-inflammation index for colorectal cancer: a …</a:t>
            </a:r>
            <a:endParaRPr lang="en-US" sz="1400" dirty="0"/>
          </a:p>
          <a:p>
            <a:pPr indent="0" marL="0">
              <a:lnSpc>
                <a:spcPct val="180000"/>
              </a:lnSpc>
              <a:buNone/>
            </a:pPr>
            <a:r>
              <a:rPr lang="en-US" sz="1400" b="1" dirty="0">
                <a:solidFill>
                  <a:srgbClr val="2563EB"/>
                </a:solidFill>
                <a:latin typeface="Arial" pitchFamily="34" charset="0"/>
                <a:ea typeface="Arial" pitchFamily="34" charset="-122"/>
                <a:cs typeface="Arial" pitchFamily="34" charset="-120"/>
              </a:rPr>
              <a:t>02  </a:t>
            </a:r>
            <a:pPr indent="0" marL="0">
              <a:lnSpc>
                <a:spcPct val="180000"/>
              </a:lnSpc>
              <a:buNone/>
            </a:pPr>
            <a:r>
              <a:rPr lang="en-US" sz="1100" dirty="0">
                <a:solidFill>
                  <a:srgbClr val="333333"/>
                </a:solidFill>
                <a:latin typeface="Arial" pitchFamily="34" charset="0"/>
                <a:ea typeface="Arial" pitchFamily="34" charset="-122"/>
                <a:cs typeface="Arial" pitchFamily="34" charset="-120"/>
              </a:rPr>
              <a:t>Predictive utility of the C-reactive protein-albumin-lymphocyte (CALLY) index in…</a:t>
            </a:r>
            <a:endParaRPr lang="en-US" sz="1400" dirty="0"/>
          </a:p>
          <a:p>
            <a:pPr indent="0" marL="0">
              <a:lnSpc>
                <a:spcPct val="180000"/>
              </a:lnSpc>
              <a:buNone/>
            </a:pPr>
            <a:r>
              <a:rPr lang="en-US" sz="1400" b="1" dirty="0">
                <a:solidFill>
                  <a:srgbClr val="2563EB"/>
                </a:solidFill>
                <a:latin typeface="Arial" pitchFamily="34" charset="0"/>
                <a:ea typeface="Arial" pitchFamily="34" charset="-122"/>
                <a:cs typeface="Arial" pitchFamily="34" charset="-120"/>
              </a:rPr>
              <a:t>03  </a:t>
            </a:r>
            <a:pPr indent="0" marL="0">
              <a:lnSpc>
                <a:spcPct val="180000"/>
              </a:lnSpc>
              <a:buNone/>
            </a:pPr>
            <a:r>
              <a:rPr lang="en-US" sz="1100" dirty="0">
                <a:solidFill>
                  <a:srgbClr val="333333"/>
                </a:solidFill>
                <a:latin typeface="Arial" pitchFamily="34" charset="0"/>
                <a:ea typeface="Arial" pitchFamily="34" charset="-122"/>
                <a:cs typeface="Arial" pitchFamily="34" charset="-120"/>
              </a:rPr>
              <a:t>Iron, inflammation, and intestinal tumors: the crucial triad in colorectal cance…</a:t>
            </a:r>
            <a:endParaRPr lang="en-US" sz="1400" dirty="0"/>
          </a:p>
          <a:p>
            <a:pPr indent="0" marL="0">
              <a:lnSpc>
                <a:spcPct val="180000"/>
              </a:lnSpc>
              <a:buNone/>
            </a:pPr>
            <a:r>
              <a:rPr lang="en-US" sz="1400" b="1" dirty="0">
                <a:solidFill>
                  <a:srgbClr val="2563EB"/>
                </a:solidFill>
                <a:latin typeface="Arial" pitchFamily="34" charset="0"/>
                <a:ea typeface="Arial" pitchFamily="34" charset="-122"/>
                <a:cs typeface="Arial" pitchFamily="34" charset="-120"/>
              </a:rPr>
              <a:t>04  </a:t>
            </a:r>
            <a:pPr indent="0" marL="0">
              <a:lnSpc>
                <a:spcPct val="180000"/>
              </a:lnSpc>
              <a:buNone/>
            </a:pPr>
            <a:r>
              <a:rPr lang="en-US" sz="1100" dirty="0">
                <a:solidFill>
                  <a:srgbClr val="333333"/>
                </a:solidFill>
                <a:latin typeface="Arial" pitchFamily="34" charset="0"/>
                <a:ea typeface="Arial" pitchFamily="34" charset="-122"/>
                <a:cs typeface="Arial" pitchFamily="34" charset="-120"/>
              </a:rPr>
              <a:t>Platelet membrane cloaked pectin and iron oxide based hybrid nanoparticles for t…</a:t>
            </a:r>
            <a:endParaRPr lang="en-US" sz="1400" dirty="0"/>
          </a:p>
          <a:p>
            <a:pPr indent="0" marL="0">
              <a:lnSpc>
                <a:spcPct val="180000"/>
              </a:lnSpc>
              <a:buNone/>
            </a:pPr>
            <a:r>
              <a:rPr lang="en-US" sz="1400" b="1" dirty="0">
                <a:solidFill>
                  <a:srgbClr val="2563EB"/>
                </a:solidFill>
                <a:latin typeface="Arial" pitchFamily="34" charset="0"/>
                <a:ea typeface="Arial" pitchFamily="34" charset="-122"/>
                <a:cs typeface="Arial" pitchFamily="34" charset="-120"/>
              </a:rPr>
              <a:t>05  </a:t>
            </a:r>
            <a:pPr indent="0" marL="0">
              <a:lnSpc>
                <a:spcPct val="180000"/>
              </a:lnSpc>
              <a:buNone/>
            </a:pPr>
            <a:r>
              <a:rPr lang="en-US" sz="1100" dirty="0">
                <a:solidFill>
                  <a:srgbClr val="333333"/>
                </a:solidFill>
                <a:latin typeface="Arial" pitchFamily="34" charset="0"/>
                <a:ea typeface="Arial" pitchFamily="34" charset="-122"/>
                <a:cs typeface="Arial" pitchFamily="34" charset="-120"/>
              </a:rPr>
              <a:t>In vitro biological potential of green-synthesized nanoparticles from the Egypti…</a:t>
            </a:r>
            <a:endParaRPr lang="en-US" sz="1400" dirty="0"/>
          </a:p>
          <a:p>
            <a:pPr indent="0" marL="0">
              <a:lnSpc>
                <a:spcPct val="180000"/>
              </a:lnSpc>
              <a:buNone/>
            </a:pPr>
            <a:r>
              <a:rPr lang="en-US" sz="1400" b="1" dirty="0">
                <a:solidFill>
                  <a:srgbClr val="2563EB"/>
                </a:solidFill>
                <a:latin typeface="Arial" pitchFamily="34" charset="0"/>
                <a:ea typeface="Arial" pitchFamily="34" charset="-122"/>
                <a:cs typeface="Arial" pitchFamily="34" charset="-120"/>
              </a:rPr>
              <a:t>06  </a:t>
            </a:r>
            <a:pPr indent="0" marL="0">
              <a:lnSpc>
                <a:spcPct val="180000"/>
              </a:lnSpc>
              <a:buNone/>
            </a:pPr>
            <a:r>
              <a:rPr lang="en-US" sz="1100" dirty="0">
                <a:solidFill>
                  <a:srgbClr val="333333"/>
                </a:solidFill>
                <a:latin typeface="Arial" pitchFamily="34" charset="0"/>
                <a:ea typeface="Arial" pitchFamily="34" charset="-122"/>
                <a:cs typeface="Arial" pitchFamily="34" charset="-120"/>
              </a:rPr>
              <a:t>Host-Microbe Mechanisms of Fusobacterium nucleatum in Colorectal Cancer.</a:t>
            </a:r>
            <a:endParaRPr lang="en-US" sz="1400" dirty="0"/>
          </a:p>
          <a:p>
            <a:pPr indent="0" marL="0">
              <a:lnSpc>
                <a:spcPct val="180000"/>
              </a:lnSpc>
              <a:buNone/>
            </a:pPr>
            <a:r>
              <a:rPr lang="en-US" sz="1400" b="1" dirty="0">
                <a:solidFill>
                  <a:srgbClr val="2563EB"/>
                </a:solidFill>
                <a:latin typeface="Arial" pitchFamily="34" charset="0"/>
                <a:ea typeface="Arial" pitchFamily="34" charset="-122"/>
                <a:cs typeface="Arial" pitchFamily="34" charset="-120"/>
              </a:rPr>
              <a:t>07  </a:t>
            </a:r>
            <a:pPr indent="0" marL="0">
              <a:lnSpc>
                <a:spcPct val="180000"/>
              </a:lnSpc>
              <a:buNone/>
            </a:pPr>
            <a:r>
              <a:rPr lang="en-US" sz="1100" dirty="0">
                <a:solidFill>
                  <a:srgbClr val="333333"/>
                </a:solidFill>
                <a:latin typeface="Arial" pitchFamily="34" charset="0"/>
                <a:ea typeface="Arial" pitchFamily="34" charset="-122"/>
                <a:cs typeface="Arial" pitchFamily="34" charset="-120"/>
              </a:rPr>
              <a:t>Evolution of SPP1+ cavity macrophage-mediated immunotherapy resistance in perito…</a:t>
            </a:r>
            <a:endParaRPr lang="en-US" sz="1400" dirty="0"/>
          </a:p>
          <a:p>
            <a:pPr indent="0" marL="0">
              <a:lnSpc>
                <a:spcPct val="180000"/>
              </a:lnSpc>
              <a:buNone/>
            </a:pPr>
            <a:r>
              <a:rPr lang="en-US" sz="1400" b="1" dirty="0">
                <a:solidFill>
                  <a:srgbClr val="2563EB"/>
                </a:solidFill>
                <a:latin typeface="Arial" pitchFamily="34" charset="0"/>
                <a:ea typeface="Arial" pitchFamily="34" charset="-122"/>
                <a:cs typeface="Arial" pitchFamily="34" charset="-120"/>
              </a:rPr>
              <a:t>08  </a:t>
            </a:r>
            <a:pPr indent="0" marL="0">
              <a:lnSpc>
                <a:spcPct val="180000"/>
              </a:lnSpc>
              <a:buNone/>
            </a:pPr>
            <a:r>
              <a:rPr lang="en-US" sz="1100" dirty="0">
                <a:solidFill>
                  <a:srgbClr val="333333"/>
                </a:solidFill>
                <a:latin typeface="Arial" pitchFamily="34" charset="0"/>
                <a:ea typeface="Arial" pitchFamily="34" charset="-122"/>
                <a:cs typeface="Arial" pitchFamily="34" charset="-120"/>
              </a:rPr>
              <a:t>The barrier–microbiota–inflammation axis in colorectal cancer: Mechanisms and em…</a:t>
            </a:r>
            <a:endParaRPr lang="en-US" sz="1400" dirty="0"/>
          </a:p>
          <a:p>
            <a:pPr indent="0" marL="0">
              <a:lnSpc>
                <a:spcPct val="180000"/>
              </a:lnSpc>
              <a:buNone/>
            </a:pPr>
            <a:r>
              <a:rPr lang="en-US" sz="1400" b="1" dirty="0">
                <a:solidFill>
                  <a:srgbClr val="2563EB"/>
                </a:solidFill>
                <a:latin typeface="Arial" pitchFamily="34" charset="0"/>
                <a:ea typeface="Arial" pitchFamily="34" charset="-122"/>
                <a:cs typeface="Arial" pitchFamily="34" charset="-120"/>
              </a:rPr>
              <a:t>09  </a:t>
            </a:r>
            <a:pPr indent="0" marL="0">
              <a:lnSpc>
                <a:spcPct val="180000"/>
              </a:lnSpc>
              <a:buNone/>
            </a:pPr>
            <a:r>
              <a:rPr lang="en-US" sz="1100" dirty="0">
                <a:solidFill>
                  <a:srgbClr val="333333"/>
                </a:solidFill>
                <a:latin typeface="Arial" pitchFamily="34" charset="0"/>
                <a:ea typeface="Arial" pitchFamily="34" charset="-122"/>
                <a:cs typeface="Arial" pitchFamily="34" charset="-120"/>
              </a:rPr>
              <a:t>LRMDA promotes intestinal mucosal barrier integrity and limits colitis and colon…</a:t>
            </a:r>
            <a:endParaRPr lang="en-US" sz="1400" dirty="0"/>
          </a:p>
          <a:p>
            <a:pPr indent="0" marL="0">
              <a:lnSpc>
                <a:spcPct val="180000"/>
              </a:lnSpc>
              <a:buNone/>
            </a:pPr>
            <a:r>
              <a:rPr lang="en-US" sz="1400" b="1" dirty="0">
                <a:solidFill>
                  <a:srgbClr val="2563EB"/>
                </a:solidFill>
                <a:latin typeface="Arial" pitchFamily="34" charset="0"/>
                <a:ea typeface="Arial" pitchFamily="34" charset="-122"/>
                <a:cs typeface="Arial" pitchFamily="34" charset="-120"/>
              </a:rPr>
              <a:t>10  </a:t>
            </a:r>
            <a:pPr indent="0" marL="0">
              <a:lnSpc>
                <a:spcPct val="180000"/>
              </a:lnSpc>
              <a:buNone/>
            </a:pPr>
            <a:r>
              <a:rPr lang="en-US" sz="1100" dirty="0">
                <a:solidFill>
                  <a:srgbClr val="333333"/>
                </a:solidFill>
                <a:latin typeface="Arial" pitchFamily="34" charset="0"/>
                <a:ea typeface="Arial" pitchFamily="34" charset="-122"/>
                <a:cs typeface="Arial" pitchFamily="34" charset="-120"/>
              </a:rPr>
              <a:t>Tumor-driven arginine depletion induces T-cell metabolism reprogramming to suppr…</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1520" y="320040"/>
            <a:ext cx="5486400" cy="0"/>
          </a:xfrm>
          <a:prstGeom prst="rect">
            <a:avLst/>
          </a:prstGeom>
          <a:noFill/>
          <a:ln/>
        </p:spPr>
        <p:txBody>
          <a:bodyPr wrap="square" lIns="0" tIns="0" rIns="0" bIns="0" rtlCol="0" anchor="ctr"/>
          <a:lstStyle/>
          <a:p>
            <a:pPr indent="0" marL="0">
              <a:buNone/>
            </a:pPr>
            <a:r>
              <a:rPr lang="en-US" sz="900" b="1" spc="300" kern="0" dirty="0">
                <a:solidFill>
                  <a:srgbClr val="888888"/>
                </a:solidFill>
              </a:rPr>
              <a:t>01  KEY FINDINGS</a:t>
            </a:r>
            <a:endParaRPr lang="en-US" sz="900" dirty="0"/>
          </a:p>
        </p:txBody>
      </p:sp>
      <p:sp>
        <p:nvSpPr>
          <p:cNvPr id="3" name="Text 1"/>
          <p:cNvSpPr/>
          <p:nvPr/>
        </p:nvSpPr>
        <p:spPr>
          <a:xfrm>
            <a:off x="9144000" y="91440"/>
            <a:ext cx="2560320" cy="0"/>
          </a:xfrm>
          <a:prstGeom prst="rect">
            <a:avLst/>
          </a:prstGeom>
          <a:noFill/>
          <a:ln/>
        </p:spPr>
        <p:txBody>
          <a:bodyPr wrap="square" lIns="0" tIns="0" rIns="0" bIns="0" rtlCol="0" anchor="ctr"/>
          <a:lstStyle/>
          <a:p>
            <a:pPr algn="r" indent="0" marL="0">
              <a:buNone/>
            </a:pPr>
            <a:r>
              <a:rPr lang="en-US" sz="5200" b="1" dirty="0">
                <a:solidFill>
                  <a:srgbClr val="E2E8F0"/>
                </a:solidFill>
              </a:rPr>
              <a:t>01</a:t>
            </a:r>
            <a:endParaRPr lang="en-US" sz="5200" dirty="0"/>
          </a:p>
        </p:txBody>
      </p:sp>
      <p:sp>
        <p:nvSpPr>
          <p:cNvPr id="4" name="Text 2">
            <a:hlinkClick r:id="rId1" tooltip=""/>
          </p:cNvPr>
          <p:cNvSpPr/>
          <p:nvPr/>
        </p:nvSpPr>
        <p:spPr>
          <a:xfrm>
            <a:off x="731520" y="731520"/>
            <a:ext cx="10058400" cy="0"/>
          </a:xfrm>
          <a:prstGeom prst="rect">
            <a:avLst/>
          </a:prstGeom>
          <a:noFill/>
          <a:ln/>
        </p:spPr>
        <p:txBody>
          <a:bodyPr wrap="square" lIns="0" tIns="0" rIns="0" bIns="0" rtlCol="0" anchor="ctr"/>
          <a:lstStyle/>
          <a:p>
            <a:pPr indent="0" marL="0">
              <a:lnSpc>
                <a:spcPct val="115000"/>
              </a:lnSpc>
              <a:buNone/>
            </a:pPr>
            <a:r>
              <a:rPr lang="en-US" sz="2400" b="1" u="sng" dirty="0">
                <a:solidFill>
                  <a:srgbClr val="111111"/>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Prognostic value of systemic immune-inflammation index for colorectal cancer: a systematic review and meta-analysis</a:t>
            </a:r>
            <a:endParaRPr lang="en-US" sz="2400" dirty="0"/>
          </a:p>
        </p:txBody>
      </p:sp>
      <p:sp>
        <p:nvSpPr>
          <p:cNvPr id="5" name="Text 3"/>
          <p:cNvSpPr/>
          <p:nvPr/>
        </p:nvSpPr>
        <p:spPr>
          <a:xfrm>
            <a:off x="731520" y="1828800"/>
            <a:ext cx="10058400" cy="0"/>
          </a:xfrm>
          <a:prstGeom prst="rect">
            <a:avLst/>
          </a:prstGeom>
          <a:noFill/>
          <a:ln/>
        </p:spPr>
        <p:txBody>
          <a:bodyPr wrap="square" lIns="0" tIns="0" rIns="0" bIns="0" rtlCol="0" anchor="ctr"/>
          <a:lstStyle/>
          <a:p>
            <a:pPr indent="0" marL="0">
              <a:buNone/>
            </a:pPr>
            <a:r>
              <a:rPr lang="en-US" sz="1000" dirty="0">
                <a:solidFill>
                  <a:srgbClr val="888888"/>
                </a:solidFill>
              </a:rPr>
              <a:t>Frontiers in Oncology  ·  Meta-Analysis</a:t>
            </a:r>
            <a:endParaRPr lang="en-US" sz="1000" dirty="0"/>
          </a:p>
        </p:txBody>
      </p:sp>
      <p:sp>
        <p:nvSpPr>
          <p:cNvPr id="6" name="Text 4"/>
          <p:cNvSpPr/>
          <p:nvPr/>
        </p:nvSpPr>
        <p:spPr>
          <a:xfrm>
            <a:off x="731520" y="2377440"/>
            <a:ext cx="10058400" cy="0"/>
          </a:xfrm>
          <a:prstGeom prst="rect">
            <a:avLst/>
          </a:prstGeom>
          <a:noFill/>
          <a:ln/>
        </p:spPr>
        <p:txBody>
          <a:bodyPr wrap="square" rtlCol="0" anchor="t"/>
          <a:lstStyle/>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Systemic immune-inflammation index (SII) evaluated</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SII shows prognostic potential in CRC</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Inconsistent findings across studies</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Meta-analysis conducted for clarity</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SII may guide treatment decisions</a:t>
            </a:r>
            <a:endParaRPr lang="en-US" sz="1800" dirty="0"/>
          </a:p>
        </p:txBody>
      </p:sp>
      <p:sp>
        <p:nvSpPr>
          <p:cNvPr id="7" name="Text 5"/>
          <p:cNvSpPr/>
          <p:nvPr/>
        </p:nvSpPr>
        <p:spPr>
          <a:xfrm>
            <a:off x="731520" y="5852160"/>
            <a:ext cx="10058400" cy="0"/>
          </a:xfrm>
          <a:prstGeom prst="rect">
            <a:avLst/>
          </a:prstGeom>
          <a:noFill/>
          <a:ln/>
        </p:spPr>
        <p:txBody>
          <a:bodyPr wrap="square" lIns="0" tIns="0" rIns="0" bIns="0" rtlCol="0" anchor="ctr"/>
          <a:lstStyle/>
          <a:p>
            <a:pPr indent="0" marL="0">
              <a:buNone/>
            </a:pPr>
            <a:r>
              <a:rPr lang="en-US" sz="800" dirty="0">
                <a:solidFill>
                  <a:srgbClr val="888888"/>
                </a:solidFill>
              </a:rPr>
              <a:t>P Wang, H Jiang. Frontiers in Oncology. 2026</a:t>
            </a:r>
            <a:endParaRPr lang="en-US" sz="800" dirty="0"/>
          </a:p>
        </p:txBody>
      </p:sp>
      <p:sp>
        <p:nvSpPr>
          <p:cNvPr id="8" name="Text 6">
            <a:hlinkClick r:id="rId2" tooltip=""/>
          </p:cNvPr>
          <p:cNvSpPr/>
          <p:nvPr/>
        </p:nvSpPr>
        <p:spPr>
          <a:xfrm>
            <a:off x="731520" y="6217920"/>
            <a:ext cx="3657600" cy="0"/>
          </a:xfrm>
          <a:prstGeom prst="rect">
            <a:avLst/>
          </a:prstGeom>
          <a:noFill/>
          <a:ln/>
        </p:spPr>
        <p:txBody>
          <a:bodyPr wrap="square" lIns="0" tIns="0" rIns="0" bIns="0" rtlCol="0" anchor="ctr"/>
          <a:lstStyle/>
          <a:p>
            <a:pPr indent="0" marL="0">
              <a:buNone/>
            </a:pPr>
            <a:r>
              <a:rPr lang="en-US" sz="1000" b="1" u="sng" dirty="0">
                <a:solidFill>
                  <a:srgbClr val="2563EB"/>
                </a:solidFill>
                <a:hlinkClick r:id="rId2" invalidUrl="" action="" tgtFrame="" tooltip="" history="1" highlightClick="0" endSnd="0">
                  <a:extLst>
                    <a:ext uri="{A12FA001-AC4F-418D-AE19-62706E023703}">
                      <ahyp:hlinkClr xmlns:ahyp="http://schemas.microsoft.com/office/drawing/2018/hyperlinkcolor" val="tx"/>
                    </a:ext>
                  </a:extLst>
                </a:hlinkClick>
              </a:rPr>
              <a:t>📎 View Paper →</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1520" y="320040"/>
            <a:ext cx="5486400" cy="0"/>
          </a:xfrm>
          <a:prstGeom prst="rect">
            <a:avLst/>
          </a:prstGeom>
          <a:noFill/>
          <a:ln/>
        </p:spPr>
        <p:txBody>
          <a:bodyPr wrap="square" lIns="0" tIns="0" rIns="0" bIns="0" rtlCol="0" anchor="ctr"/>
          <a:lstStyle/>
          <a:p>
            <a:pPr indent="0" marL="0">
              <a:buNone/>
            </a:pPr>
            <a:r>
              <a:rPr lang="en-US" sz="900" b="1" spc="300" kern="0" dirty="0">
                <a:solidFill>
                  <a:srgbClr val="888888"/>
                </a:solidFill>
              </a:rPr>
              <a:t>02  KEY FINDINGS</a:t>
            </a:r>
            <a:endParaRPr lang="en-US" sz="900" dirty="0"/>
          </a:p>
        </p:txBody>
      </p:sp>
      <p:sp>
        <p:nvSpPr>
          <p:cNvPr id="3" name="Text 1"/>
          <p:cNvSpPr/>
          <p:nvPr/>
        </p:nvSpPr>
        <p:spPr>
          <a:xfrm>
            <a:off x="9144000" y="91440"/>
            <a:ext cx="2560320" cy="0"/>
          </a:xfrm>
          <a:prstGeom prst="rect">
            <a:avLst/>
          </a:prstGeom>
          <a:noFill/>
          <a:ln/>
        </p:spPr>
        <p:txBody>
          <a:bodyPr wrap="square" lIns="0" tIns="0" rIns="0" bIns="0" rtlCol="0" anchor="ctr"/>
          <a:lstStyle/>
          <a:p>
            <a:pPr algn="r" indent="0" marL="0">
              <a:buNone/>
            </a:pPr>
            <a:r>
              <a:rPr lang="en-US" sz="5200" b="1" dirty="0">
                <a:solidFill>
                  <a:srgbClr val="E2E8F0"/>
                </a:solidFill>
              </a:rPr>
              <a:t>02</a:t>
            </a:r>
            <a:endParaRPr lang="en-US" sz="5200" dirty="0"/>
          </a:p>
        </p:txBody>
      </p:sp>
      <p:sp>
        <p:nvSpPr>
          <p:cNvPr id="4" name="Text 2">
            <a:hlinkClick r:id="rId1" tooltip=""/>
          </p:cNvPr>
          <p:cNvSpPr/>
          <p:nvPr/>
        </p:nvSpPr>
        <p:spPr>
          <a:xfrm>
            <a:off x="731520" y="731520"/>
            <a:ext cx="10058400" cy="0"/>
          </a:xfrm>
          <a:prstGeom prst="rect">
            <a:avLst/>
          </a:prstGeom>
          <a:noFill/>
          <a:ln/>
        </p:spPr>
        <p:txBody>
          <a:bodyPr wrap="square" lIns="0" tIns="0" rIns="0" bIns="0" rtlCol="0" anchor="ctr"/>
          <a:lstStyle/>
          <a:p>
            <a:pPr indent="0" marL="0">
              <a:lnSpc>
                <a:spcPct val="115000"/>
              </a:lnSpc>
              <a:buNone/>
            </a:pPr>
            <a:r>
              <a:rPr lang="en-US" sz="2400" b="1" u="sng" dirty="0">
                <a:solidFill>
                  <a:srgbClr val="111111"/>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Predictive utility of the C-reactive protein-albumin-lymphocyte (CALLY) index in Colorectal cancer: A meta-analysis</a:t>
            </a:r>
            <a:endParaRPr lang="en-US" sz="2400" dirty="0"/>
          </a:p>
        </p:txBody>
      </p:sp>
      <p:sp>
        <p:nvSpPr>
          <p:cNvPr id="5" name="Text 3"/>
          <p:cNvSpPr/>
          <p:nvPr/>
        </p:nvSpPr>
        <p:spPr>
          <a:xfrm>
            <a:off x="731520" y="1828800"/>
            <a:ext cx="10058400" cy="0"/>
          </a:xfrm>
          <a:prstGeom prst="rect">
            <a:avLst/>
          </a:prstGeom>
          <a:noFill/>
          <a:ln/>
        </p:spPr>
        <p:txBody>
          <a:bodyPr wrap="square" lIns="0" tIns="0" rIns="0" bIns="0" rtlCol="0" anchor="ctr"/>
          <a:lstStyle/>
          <a:p>
            <a:pPr indent="0" marL="0">
              <a:buNone/>
            </a:pPr>
            <a:r>
              <a:rPr lang="en-US" sz="1000" dirty="0">
                <a:solidFill>
                  <a:srgbClr val="888888"/>
                </a:solidFill>
              </a:rPr>
              <a:t>Clinics and Research in Hepatology and …  ·  Meta-Analysis</a:t>
            </a:r>
            <a:endParaRPr lang="en-US" sz="1000" dirty="0"/>
          </a:p>
        </p:txBody>
      </p:sp>
      <p:sp>
        <p:nvSpPr>
          <p:cNvPr id="6" name="Text 4"/>
          <p:cNvSpPr/>
          <p:nvPr/>
        </p:nvSpPr>
        <p:spPr>
          <a:xfrm>
            <a:off x="731520" y="2377440"/>
            <a:ext cx="10058400" cy="0"/>
          </a:xfrm>
          <a:prstGeom prst="rect">
            <a:avLst/>
          </a:prstGeom>
          <a:noFill/>
          <a:ln/>
        </p:spPr>
        <p:txBody>
          <a:bodyPr wrap="square" rtlCol="0" anchor="t"/>
          <a:lstStyle/>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CALLY index predicts colorectal cancer outcomes.</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Inflammation and immune function are crucial.</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Meta-analysis confirms CALLY's predictive value.</a:t>
            </a:r>
            <a:endParaRPr lang="en-US" sz="1800" dirty="0"/>
          </a:p>
        </p:txBody>
      </p:sp>
      <p:sp>
        <p:nvSpPr>
          <p:cNvPr id="7" name="Text 5"/>
          <p:cNvSpPr/>
          <p:nvPr/>
        </p:nvSpPr>
        <p:spPr>
          <a:xfrm>
            <a:off x="731520" y="5852160"/>
            <a:ext cx="10058400" cy="0"/>
          </a:xfrm>
          <a:prstGeom prst="rect">
            <a:avLst/>
          </a:prstGeom>
          <a:noFill/>
          <a:ln/>
        </p:spPr>
        <p:txBody>
          <a:bodyPr wrap="square" lIns="0" tIns="0" rIns="0" bIns="0" rtlCol="0" anchor="ctr"/>
          <a:lstStyle/>
          <a:p>
            <a:pPr indent="0" marL="0">
              <a:buNone/>
            </a:pPr>
            <a:r>
              <a:rPr lang="en-US" sz="800" dirty="0">
                <a:solidFill>
                  <a:srgbClr val="888888"/>
                </a:solidFill>
              </a:rPr>
              <a:t>X Li, T Chu, W Chen. Clinics and Research in Hepatology and …. 2026</a:t>
            </a:r>
            <a:endParaRPr lang="en-US" sz="800" dirty="0"/>
          </a:p>
        </p:txBody>
      </p:sp>
      <p:sp>
        <p:nvSpPr>
          <p:cNvPr id="8" name="Text 6">
            <a:hlinkClick r:id="rId2" tooltip=""/>
          </p:cNvPr>
          <p:cNvSpPr/>
          <p:nvPr/>
        </p:nvSpPr>
        <p:spPr>
          <a:xfrm>
            <a:off x="731520" y="6217920"/>
            <a:ext cx="3657600" cy="0"/>
          </a:xfrm>
          <a:prstGeom prst="rect">
            <a:avLst/>
          </a:prstGeom>
          <a:noFill/>
          <a:ln/>
        </p:spPr>
        <p:txBody>
          <a:bodyPr wrap="square" lIns="0" tIns="0" rIns="0" bIns="0" rtlCol="0" anchor="ctr"/>
          <a:lstStyle/>
          <a:p>
            <a:pPr indent="0" marL="0">
              <a:buNone/>
            </a:pPr>
            <a:r>
              <a:rPr lang="en-US" sz="1000" b="1" u="sng" dirty="0">
                <a:solidFill>
                  <a:srgbClr val="2563EB"/>
                </a:solidFill>
                <a:hlinkClick r:id="rId2" invalidUrl="" action="" tgtFrame="" tooltip="" history="1" highlightClick="0" endSnd="0">
                  <a:extLst>
                    <a:ext uri="{A12FA001-AC4F-418D-AE19-62706E023703}">
                      <ahyp:hlinkClr xmlns:ahyp="http://schemas.microsoft.com/office/drawing/2018/hyperlinkcolor" val="tx"/>
                    </a:ext>
                  </a:extLst>
                </a:hlinkClick>
              </a:rPr>
              <a:t>📎 View Paper →</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1520" y="320040"/>
            <a:ext cx="5486400" cy="0"/>
          </a:xfrm>
          <a:prstGeom prst="rect">
            <a:avLst/>
          </a:prstGeom>
          <a:noFill/>
          <a:ln/>
        </p:spPr>
        <p:txBody>
          <a:bodyPr wrap="square" lIns="0" tIns="0" rIns="0" bIns="0" rtlCol="0" anchor="ctr"/>
          <a:lstStyle/>
          <a:p>
            <a:pPr indent="0" marL="0">
              <a:buNone/>
            </a:pPr>
            <a:r>
              <a:rPr lang="en-US" sz="900" b="1" spc="300" kern="0" dirty="0">
                <a:solidFill>
                  <a:srgbClr val="888888"/>
                </a:solidFill>
              </a:rPr>
              <a:t>03  KEY FINDINGS</a:t>
            </a:r>
            <a:endParaRPr lang="en-US" sz="900" dirty="0"/>
          </a:p>
        </p:txBody>
      </p:sp>
      <p:sp>
        <p:nvSpPr>
          <p:cNvPr id="3" name="Text 1"/>
          <p:cNvSpPr/>
          <p:nvPr/>
        </p:nvSpPr>
        <p:spPr>
          <a:xfrm>
            <a:off x="9144000" y="91440"/>
            <a:ext cx="2560320" cy="0"/>
          </a:xfrm>
          <a:prstGeom prst="rect">
            <a:avLst/>
          </a:prstGeom>
          <a:noFill/>
          <a:ln/>
        </p:spPr>
        <p:txBody>
          <a:bodyPr wrap="square" lIns="0" tIns="0" rIns="0" bIns="0" rtlCol="0" anchor="ctr"/>
          <a:lstStyle/>
          <a:p>
            <a:pPr algn="r" indent="0" marL="0">
              <a:buNone/>
            </a:pPr>
            <a:r>
              <a:rPr lang="en-US" sz="5200" b="1" dirty="0">
                <a:solidFill>
                  <a:srgbClr val="E2E8F0"/>
                </a:solidFill>
              </a:rPr>
              <a:t>03</a:t>
            </a:r>
            <a:endParaRPr lang="en-US" sz="5200" dirty="0"/>
          </a:p>
        </p:txBody>
      </p:sp>
      <p:sp>
        <p:nvSpPr>
          <p:cNvPr id="4" name="Text 2">
            <a:hlinkClick r:id="rId1" tooltip=""/>
          </p:cNvPr>
          <p:cNvSpPr/>
          <p:nvPr/>
        </p:nvSpPr>
        <p:spPr>
          <a:xfrm>
            <a:off x="731520" y="731520"/>
            <a:ext cx="10058400" cy="0"/>
          </a:xfrm>
          <a:prstGeom prst="rect">
            <a:avLst/>
          </a:prstGeom>
          <a:noFill/>
          <a:ln/>
        </p:spPr>
        <p:txBody>
          <a:bodyPr wrap="square" lIns="0" tIns="0" rIns="0" bIns="0" rtlCol="0" anchor="ctr"/>
          <a:lstStyle/>
          <a:p>
            <a:pPr indent="0" marL="0">
              <a:lnSpc>
                <a:spcPct val="115000"/>
              </a:lnSpc>
              <a:buNone/>
            </a:pPr>
            <a:r>
              <a:rPr lang="en-US" sz="2400" b="1" u="sng" dirty="0">
                <a:solidFill>
                  <a:srgbClr val="111111"/>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Iron, inflammation, and intestinal tumors: the crucial triad in colorectal cancer progression and therapy</a:t>
            </a:r>
            <a:endParaRPr lang="en-US" sz="2400" dirty="0"/>
          </a:p>
        </p:txBody>
      </p:sp>
      <p:sp>
        <p:nvSpPr>
          <p:cNvPr id="5" name="Text 3"/>
          <p:cNvSpPr/>
          <p:nvPr/>
        </p:nvSpPr>
        <p:spPr>
          <a:xfrm>
            <a:off x="731520" y="1828800"/>
            <a:ext cx="10058400" cy="0"/>
          </a:xfrm>
          <a:prstGeom prst="rect">
            <a:avLst/>
          </a:prstGeom>
          <a:noFill/>
          <a:ln/>
        </p:spPr>
        <p:txBody>
          <a:bodyPr wrap="square" lIns="0" tIns="0" rIns="0" bIns="0" rtlCol="0" anchor="ctr"/>
          <a:lstStyle/>
          <a:p>
            <a:pPr indent="0" marL="0">
              <a:buNone/>
            </a:pPr>
            <a:r>
              <a:rPr lang="en-US" sz="1000" dirty="0">
                <a:solidFill>
                  <a:srgbClr val="888888"/>
                </a:solidFill>
              </a:rPr>
              <a:t>Clinical and …  ·  Prospective Study</a:t>
            </a:r>
            <a:endParaRPr lang="en-US" sz="1000" dirty="0"/>
          </a:p>
        </p:txBody>
      </p:sp>
      <p:sp>
        <p:nvSpPr>
          <p:cNvPr id="6" name="Text 4"/>
          <p:cNvSpPr/>
          <p:nvPr/>
        </p:nvSpPr>
        <p:spPr>
          <a:xfrm>
            <a:off x="731520" y="2377440"/>
            <a:ext cx="10058400" cy="0"/>
          </a:xfrm>
          <a:prstGeom prst="rect">
            <a:avLst/>
          </a:prstGeom>
          <a:noFill/>
          <a:ln/>
        </p:spPr>
        <p:txBody>
          <a:bodyPr wrap="square" rtlCol="0" anchor="t"/>
          <a:lstStyle/>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Iron intake linked to CRC risk</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Inflammation plays a significant role</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Heme iron increases tumor progression</a:t>
            </a:r>
            <a:endParaRPr lang="en-US" sz="1800" dirty="0"/>
          </a:p>
        </p:txBody>
      </p:sp>
      <p:sp>
        <p:nvSpPr>
          <p:cNvPr id="7" name="Text 5"/>
          <p:cNvSpPr/>
          <p:nvPr/>
        </p:nvSpPr>
        <p:spPr>
          <a:xfrm>
            <a:off x="731520" y="5852160"/>
            <a:ext cx="10058400" cy="0"/>
          </a:xfrm>
          <a:prstGeom prst="rect">
            <a:avLst/>
          </a:prstGeom>
          <a:noFill/>
          <a:ln/>
        </p:spPr>
        <p:txBody>
          <a:bodyPr wrap="square" lIns="0" tIns="0" rIns="0" bIns="0" rtlCol="0" anchor="ctr"/>
          <a:lstStyle/>
          <a:p>
            <a:pPr indent="0" marL="0">
              <a:buNone/>
            </a:pPr>
            <a:r>
              <a:rPr lang="en-US" sz="800" dirty="0">
                <a:solidFill>
                  <a:srgbClr val="888888"/>
                </a:solidFill>
              </a:rPr>
              <a:t>M Abediasl, M Siavash, SS Esfahani. Clinical and …. 2026</a:t>
            </a:r>
            <a:endParaRPr lang="en-US" sz="800" dirty="0"/>
          </a:p>
        </p:txBody>
      </p:sp>
      <p:sp>
        <p:nvSpPr>
          <p:cNvPr id="8" name="Text 6">
            <a:hlinkClick r:id="rId2" tooltip=""/>
          </p:cNvPr>
          <p:cNvSpPr/>
          <p:nvPr/>
        </p:nvSpPr>
        <p:spPr>
          <a:xfrm>
            <a:off x="731520" y="6217920"/>
            <a:ext cx="3657600" cy="0"/>
          </a:xfrm>
          <a:prstGeom prst="rect">
            <a:avLst/>
          </a:prstGeom>
          <a:noFill/>
          <a:ln/>
        </p:spPr>
        <p:txBody>
          <a:bodyPr wrap="square" lIns="0" tIns="0" rIns="0" bIns="0" rtlCol="0" anchor="ctr"/>
          <a:lstStyle/>
          <a:p>
            <a:pPr indent="0" marL="0">
              <a:buNone/>
            </a:pPr>
            <a:r>
              <a:rPr lang="en-US" sz="1000" b="1" u="sng" dirty="0">
                <a:solidFill>
                  <a:srgbClr val="2563EB"/>
                </a:solidFill>
                <a:hlinkClick r:id="rId2" invalidUrl="" action="" tgtFrame="" tooltip="" history="1" highlightClick="0" endSnd="0">
                  <a:extLst>
                    <a:ext uri="{A12FA001-AC4F-418D-AE19-62706E023703}">
                      <ahyp:hlinkClr xmlns:ahyp="http://schemas.microsoft.com/office/drawing/2018/hyperlinkcolor" val="tx"/>
                    </a:ext>
                  </a:extLst>
                </a:hlinkClick>
              </a:rPr>
              <a:t>📎 View Paper →</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1520" y="320040"/>
            <a:ext cx="5486400" cy="0"/>
          </a:xfrm>
          <a:prstGeom prst="rect">
            <a:avLst/>
          </a:prstGeom>
          <a:noFill/>
          <a:ln/>
        </p:spPr>
        <p:txBody>
          <a:bodyPr wrap="square" lIns="0" tIns="0" rIns="0" bIns="0" rtlCol="0" anchor="ctr"/>
          <a:lstStyle/>
          <a:p>
            <a:pPr indent="0" marL="0">
              <a:buNone/>
            </a:pPr>
            <a:r>
              <a:rPr lang="en-US" sz="900" b="1" spc="300" kern="0" dirty="0">
                <a:solidFill>
                  <a:srgbClr val="888888"/>
                </a:solidFill>
              </a:rPr>
              <a:t>04  KEY FINDINGS</a:t>
            </a:r>
            <a:endParaRPr lang="en-US" sz="900" dirty="0"/>
          </a:p>
        </p:txBody>
      </p:sp>
      <p:sp>
        <p:nvSpPr>
          <p:cNvPr id="3" name="Text 1"/>
          <p:cNvSpPr/>
          <p:nvPr/>
        </p:nvSpPr>
        <p:spPr>
          <a:xfrm>
            <a:off x="9144000" y="91440"/>
            <a:ext cx="2560320" cy="0"/>
          </a:xfrm>
          <a:prstGeom prst="rect">
            <a:avLst/>
          </a:prstGeom>
          <a:noFill/>
          <a:ln/>
        </p:spPr>
        <p:txBody>
          <a:bodyPr wrap="square" lIns="0" tIns="0" rIns="0" bIns="0" rtlCol="0" anchor="ctr"/>
          <a:lstStyle/>
          <a:p>
            <a:pPr algn="r" indent="0" marL="0">
              <a:buNone/>
            </a:pPr>
            <a:r>
              <a:rPr lang="en-US" sz="5200" b="1" dirty="0">
                <a:solidFill>
                  <a:srgbClr val="E2E8F0"/>
                </a:solidFill>
              </a:rPr>
              <a:t>04</a:t>
            </a:r>
            <a:endParaRPr lang="en-US" sz="5200" dirty="0"/>
          </a:p>
        </p:txBody>
      </p:sp>
      <p:sp>
        <p:nvSpPr>
          <p:cNvPr id="4" name="Text 2">
            <a:hlinkClick r:id="rId1" tooltip=""/>
          </p:cNvPr>
          <p:cNvSpPr/>
          <p:nvPr/>
        </p:nvSpPr>
        <p:spPr>
          <a:xfrm>
            <a:off x="731520" y="731520"/>
            <a:ext cx="10058400" cy="0"/>
          </a:xfrm>
          <a:prstGeom prst="rect">
            <a:avLst/>
          </a:prstGeom>
          <a:noFill/>
          <a:ln/>
        </p:spPr>
        <p:txBody>
          <a:bodyPr wrap="square" lIns="0" tIns="0" rIns="0" bIns="0" rtlCol="0" anchor="ctr"/>
          <a:lstStyle/>
          <a:p>
            <a:pPr indent="0" marL="0">
              <a:lnSpc>
                <a:spcPct val="115000"/>
              </a:lnSpc>
              <a:buNone/>
            </a:pPr>
            <a:r>
              <a:rPr lang="en-US" sz="2400" b="1" u="sng" dirty="0">
                <a:solidFill>
                  <a:srgbClr val="111111"/>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Platelet membrane cloaked pectin and iron oxide based hybrid nanoparticles for the treatment of colorectal cancer and associated anemia.</a:t>
            </a:r>
            <a:endParaRPr lang="en-US" sz="2400" dirty="0"/>
          </a:p>
        </p:txBody>
      </p:sp>
      <p:sp>
        <p:nvSpPr>
          <p:cNvPr id="5" name="Text 3"/>
          <p:cNvSpPr/>
          <p:nvPr/>
        </p:nvSpPr>
        <p:spPr>
          <a:xfrm>
            <a:off x="731520" y="1828800"/>
            <a:ext cx="10058400" cy="0"/>
          </a:xfrm>
          <a:prstGeom prst="rect">
            <a:avLst/>
          </a:prstGeom>
          <a:noFill/>
          <a:ln/>
        </p:spPr>
        <p:txBody>
          <a:bodyPr wrap="square" lIns="0" tIns="0" rIns="0" bIns="0" rtlCol="0" anchor="ctr"/>
          <a:lstStyle/>
          <a:p>
            <a:pPr indent="0" marL="0">
              <a:buNone/>
            </a:pPr>
            <a:r>
              <a:rPr lang="en-US" sz="1000" dirty="0">
                <a:solidFill>
                  <a:srgbClr val="888888"/>
                </a:solidFill>
              </a:rPr>
              <a:t>International journal of biological macromolecules  ·  Basic Research</a:t>
            </a:r>
            <a:endParaRPr lang="en-US" sz="1000" dirty="0"/>
          </a:p>
        </p:txBody>
      </p:sp>
      <p:sp>
        <p:nvSpPr>
          <p:cNvPr id="6" name="Text 4"/>
          <p:cNvSpPr/>
          <p:nvPr/>
        </p:nvSpPr>
        <p:spPr>
          <a:xfrm>
            <a:off x="731520" y="2377440"/>
            <a:ext cx="10058400" cy="0"/>
          </a:xfrm>
          <a:prstGeom prst="rect">
            <a:avLst/>
          </a:prstGeom>
          <a:noFill/>
          <a:ln/>
        </p:spPr>
        <p:txBody>
          <a:bodyPr wrap="square" rtlCol="0" anchor="t"/>
          <a:lstStyle/>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Developed hybrid nanoparticles for CRC treatment</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Gemcitabine encapsulated in pectin nanoparticles</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Platelet membranes enhance tumor targeting</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Simultaneous chemotherapy and iron supplementation</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Demonstrated significant tumor inhibition and survival</a:t>
            </a:r>
            <a:endParaRPr lang="en-US" sz="1800" dirty="0"/>
          </a:p>
        </p:txBody>
      </p:sp>
      <p:sp>
        <p:nvSpPr>
          <p:cNvPr id="7" name="Text 5"/>
          <p:cNvSpPr/>
          <p:nvPr/>
        </p:nvSpPr>
        <p:spPr>
          <a:xfrm>
            <a:off x="731520" y="5852160"/>
            <a:ext cx="10058400" cy="0"/>
          </a:xfrm>
          <a:prstGeom prst="rect">
            <a:avLst/>
          </a:prstGeom>
          <a:noFill/>
          <a:ln/>
        </p:spPr>
        <p:txBody>
          <a:bodyPr wrap="square" lIns="0" tIns="0" rIns="0" bIns="0" rtlCol="0" anchor="ctr"/>
          <a:lstStyle/>
          <a:p>
            <a:pPr indent="0" marL="0">
              <a:buNone/>
            </a:pPr>
            <a:r>
              <a:rPr lang="en-US" sz="800" dirty="0">
                <a:solidFill>
                  <a:srgbClr val="888888"/>
                </a:solidFill>
              </a:rPr>
              <a:t>Mirza Rashna, Rehman Asim Ur, Javed Aqeedat et al.. International journal of biological macromolecules. 2026-08-22 DOI: 10.1016/j.ijbiomac.2026.154170</a:t>
            </a:r>
            <a:endParaRPr lang="en-US" sz="800" dirty="0"/>
          </a:p>
        </p:txBody>
      </p:sp>
      <p:sp>
        <p:nvSpPr>
          <p:cNvPr id="8" name="Text 6">
            <a:hlinkClick r:id="rId2" tooltip=""/>
          </p:cNvPr>
          <p:cNvSpPr/>
          <p:nvPr/>
        </p:nvSpPr>
        <p:spPr>
          <a:xfrm>
            <a:off x="731520" y="6217920"/>
            <a:ext cx="3657600" cy="0"/>
          </a:xfrm>
          <a:prstGeom prst="rect">
            <a:avLst/>
          </a:prstGeom>
          <a:noFill/>
          <a:ln/>
        </p:spPr>
        <p:txBody>
          <a:bodyPr wrap="square" lIns="0" tIns="0" rIns="0" bIns="0" rtlCol="0" anchor="ctr"/>
          <a:lstStyle/>
          <a:p>
            <a:pPr indent="0" marL="0">
              <a:buNone/>
            </a:pPr>
            <a:r>
              <a:rPr lang="en-US" sz="1000" b="1" u="sng" dirty="0">
                <a:solidFill>
                  <a:srgbClr val="2563EB"/>
                </a:solidFill>
                <a:hlinkClick r:id="rId2" invalidUrl="" action="" tgtFrame="" tooltip="" history="1" highlightClick="0" endSnd="0">
                  <a:extLst>
                    <a:ext uri="{A12FA001-AC4F-418D-AE19-62706E023703}">
                      <ahyp:hlinkClr xmlns:ahyp="http://schemas.microsoft.com/office/drawing/2018/hyperlinkcolor" val="tx"/>
                    </a:ext>
                  </a:extLst>
                </a:hlinkClick>
              </a:rPr>
              <a:t>📎 View Paper →</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1520" y="320040"/>
            <a:ext cx="5486400" cy="0"/>
          </a:xfrm>
          <a:prstGeom prst="rect">
            <a:avLst/>
          </a:prstGeom>
          <a:noFill/>
          <a:ln/>
        </p:spPr>
        <p:txBody>
          <a:bodyPr wrap="square" lIns="0" tIns="0" rIns="0" bIns="0" rtlCol="0" anchor="ctr"/>
          <a:lstStyle/>
          <a:p>
            <a:pPr indent="0" marL="0">
              <a:buNone/>
            </a:pPr>
            <a:r>
              <a:rPr lang="en-US" sz="900" b="1" spc="300" kern="0" dirty="0">
                <a:solidFill>
                  <a:srgbClr val="888888"/>
                </a:solidFill>
              </a:rPr>
              <a:t>05  KEY FINDINGS</a:t>
            </a:r>
            <a:endParaRPr lang="en-US" sz="900" dirty="0"/>
          </a:p>
        </p:txBody>
      </p:sp>
      <p:sp>
        <p:nvSpPr>
          <p:cNvPr id="3" name="Text 1"/>
          <p:cNvSpPr/>
          <p:nvPr/>
        </p:nvSpPr>
        <p:spPr>
          <a:xfrm>
            <a:off x="9144000" y="91440"/>
            <a:ext cx="2560320" cy="0"/>
          </a:xfrm>
          <a:prstGeom prst="rect">
            <a:avLst/>
          </a:prstGeom>
          <a:noFill/>
          <a:ln/>
        </p:spPr>
        <p:txBody>
          <a:bodyPr wrap="square" lIns="0" tIns="0" rIns="0" bIns="0" rtlCol="0" anchor="ctr"/>
          <a:lstStyle/>
          <a:p>
            <a:pPr algn="r" indent="0" marL="0">
              <a:buNone/>
            </a:pPr>
            <a:r>
              <a:rPr lang="en-US" sz="5200" b="1" dirty="0">
                <a:solidFill>
                  <a:srgbClr val="E2E8F0"/>
                </a:solidFill>
              </a:rPr>
              <a:t>05</a:t>
            </a:r>
            <a:endParaRPr lang="en-US" sz="5200" dirty="0"/>
          </a:p>
        </p:txBody>
      </p:sp>
      <p:sp>
        <p:nvSpPr>
          <p:cNvPr id="4" name="Text 2">
            <a:hlinkClick r:id="rId1" tooltip=""/>
          </p:cNvPr>
          <p:cNvSpPr/>
          <p:nvPr/>
        </p:nvSpPr>
        <p:spPr>
          <a:xfrm>
            <a:off x="731520" y="731520"/>
            <a:ext cx="10058400" cy="0"/>
          </a:xfrm>
          <a:prstGeom prst="rect">
            <a:avLst/>
          </a:prstGeom>
          <a:noFill/>
          <a:ln/>
        </p:spPr>
        <p:txBody>
          <a:bodyPr wrap="square" lIns="0" tIns="0" rIns="0" bIns="0" rtlCol="0" anchor="ctr"/>
          <a:lstStyle/>
          <a:p>
            <a:pPr indent="0" marL="0">
              <a:lnSpc>
                <a:spcPct val="115000"/>
              </a:lnSpc>
              <a:buNone/>
            </a:pPr>
            <a:r>
              <a:rPr lang="en-US" sz="2400" b="1" u="sng" dirty="0">
                <a:solidFill>
                  <a:srgbClr val="111111"/>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In vitro biological potential of green-synthesized nanoparticles from the Egyptian edible bivalve Paratapes undulatus (Born, 1778).</a:t>
            </a:r>
            <a:endParaRPr lang="en-US" sz="2400" dirty="0"/>
          </a:p>
        </p:txBody>
      </p:sp>
      <p:sp>
        <p:nvSpPr>
          <p:cNvPr id="5" name="Text 3"/>
          <p:cNvSpPr/>
          <p:nvPr/>
        </p:nvSpPr>
        <p:spPr>
          <a:xfrm>
            <a:off x="731520" y="1828800"/>
            <a:ext cx="10058400" cy="0"/>
          </a:xfrm>
          <a:prstGeom prst="rect">
            <a:avLst/>
          </a:prstGeom>
          <a:noFill/>
          <a:ln/>
        </p:spPr>
        <p:txBody>
          <a:bodyPr wrap="square" lIns="0" tIns="0" rIns="0" bIns="0" rtlCol="0" anchor="ctr"/>
          <a:lstStyle/>
          <a:p>
            <a:pPr indent="0" marL="0">
              <a:buNone/>
            </a:pPr>
            <a:r>
              <a:rPr lang="en-US" sz="1000" dirty="0">
                <a:solidFill>
                  <a:srgbClr val="888888"/>
                </a:solidFill>
              </a:rPr>
              <a:t>Scientific reports  ·  Basic Research</a:t>
            </a:r>
            <a:endParaRPr lang="en-US" sz="1000" dirty="0"/>
          </a:p>
        </p:txBody>
      </p:sp>
      <p:sp>
        <p:nvSpPr>
          <p:cNvPr id="6" name="Text 4"/>
          <p:cNvSpPr/>
          <p:nvPr/>
        </p:nvSpPr>
        <p:spPr>
          <a:xfrm>
            <a:off x="731520" y="2377440"/>
            <a:ext cx="10058400" cy="0"/>
          </a:xfrm>
          <a:prstGeom prst="rect">
            <a:avLst/>
          </a:prstGeom>
          <a:noFill/>
          <a:ln/>
        </p:spPr>
        <p:txBody>
          <a:bodyPr wrap="square" rtlCol="0" anchor="t"/>
          <a:lstStyle/>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Study on Paratapes undulatus extract</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Characterization of green-synthesized nanoparticles</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Enhanced anticancer activity of Pu-SeNPs</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Potential for bio-based nanomedicines</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Inconsistent efficacy against HepG-2 cells</a:t>
            </a:r>
            <a:endParaRPr lang="en-US" sz="1800" dirty="0"/>
          </a:p>
        </p:txBody>
      </p:sp>
      <p:sp>
        <p:nvSpPr>
          <p:cNvPr id="7" name="Text 5"/>
          <p:cNvSpPr/>
          <p:nvPr/>
        </p:nvSpPr>
        <p:spPr>
          <a:xfrm>
            <a:off x="731520" y="5852160"/>
            <a:ext cx="10058400" cy="0"/>
          </a:xfrm>
          <a:prstGeom prst="rect">
            <a:avLst/>
          </a:prstGeom>
          <a:noFill/>
          <a:ln/>
        </p:spPr>
        <p:txBody>
          <a:bodyPr wrap="square" lIns="0" tIns="0" rIns="0" bIns="0" rtlCol="0" anchor="ctr"/>
          <a:lstStyle/>
          <a:p>
            <a:pPr indent="0" marL="0">
              <a:buNone/>
            </a:pPr>
            <a:r>
              <a:rPr lang="en-US" sz="800" dirty="0">
                <a:solidFill>
                  <a:srgbClr val="888888"/>
                </a:solidFill>
              </a:rPr>
              <a:t>El Makawy Aida I, Zayed Khaled M, Mabrouk Dalia M et al.. Scientific reports. 2026-08-20 DOI: 10.1038/s41598-026-61397-7</a:t>
            </a:r>
            <a:endParaRPr lang="en-US" sz="800" dirty="0"/>
          </a:p>
        </p:txBody>
      </p:sp>
      <p:sp>
        <p:nvSpPr>
          <p:cNvPr id="8" name="Text 6">
            <a:hlinkClick r:id="rId2" tooltip=""/>
          </p:cNvPr>
          <p:cNvSpPr/>
          <p:nvPr/>
        </p:nvSpPr>
        <p:spPr>
          <a:xfrm>
            <a:off x="731520" y="6217920"/>
            <a:ext cx="3657600" cy="0"/>
          </a:xfrm>
          <a:prstGeom prst="rect">
            <a:avLst/>
          </a:prstGeom>
          <a:noFill/>
          <a:ln/>
        </p:spPr>
        <p:txBody>
          <a:bodyPr wrap="square" lIns="0" tIns="0" rIns="0" bIns="0" rtlCol="0" anchor="ctr"/>
          <a:lstStyle/>
          <a:p>
            <a:pPr indent="0" marL="0">
              <a:buNone/>
            </a:pPr>
            <a:r>
              <a:rPr lang="en-US" sz="1000" b="1" u="sng" dirty="0">
                <a:solidFill>
                  <a:srgbClr val="2563EB"/>
                </a:solidFill>
                <a:hlinkClick r:id="rId2" invalidUrl="" action="" tgtFrame="" tooltip="" history="1" highlightClick="0" endSnd="0">
                  <a:extLst>
                    <a:ext uri="{A12FA001-AC4F-418D-AE19-62706E023703}">
                      <ahyp:hlinkClr xmlns:ahyp="http://schemas.microsoft.com/office/drawing/2018/hyperlinkcolor" val="tx"/>
                    </a:ext>
                  </a:extLst>
                </a:hlinkClick>
              </a:rPr>
              <a:t>📎 View Paper →</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1520" y="320040"/>
            <a:ext cx="5486400" cy="0"/>
          </a:xfrm>
          <a:prstGeom prst="rect">
            <a:avLst/>
          </a:prstGeom>
          <a:noFill/>
          <a:ln/>
        </p:spPr>
        <p:txBody>
          <a:bodyPr wrap="square" lIns="0" tIns="0" rIns="0" bIns="0" rtlCol="0" anchor="ctr"/>
          <a:lstStyle/>
          <a:p>
            <a:pPr indent="0" marL="0">
              <a:buNone/>
            </a:pPr>
            <a:r>
              <a:rPr lang="en-US" sz="900" b="1" spc="300" kern="0" dirty="0">
                <a:solidFill>
                  <a:srgbClr val="888888"/>
                </a:solidFill>
              </a:rPr>
              <a:t>06  KEY FINDINGS</a:t>
            </a:r>
            <a:endParaRPr lang="en-US" sz="900" dirty="0"/>
          </a:p>
        </p:txBody>
      </p:sp>
      <p:sp>
        <p:nvSpPr>
          <p:cNvPr id="3" name="Text 1"/>
          <p:cNvSpPr/>
          <p:nvPr/>
        </p:nvSpPr>
        <p:spPr>
          <a:xfrm>
            <a:off x="9144000" y="91440"/>
            <a:ext cx="2560320" cy="0"/>
          </a:xfrm>
          <a:prstGeom prst="rect">
            <a:avLst/>
          </a:prstGeom>
          <a:noFill/>
          <a:ln/>
        </p:spPr>
        <p:txBody>
          <a:bodyPr wrap="square" lIns="0" tIns="0" rIns="0" bIns="0" rtlCol="0" anchor="ctr"/>
          <a:lstStyle/>
          <a:p>
            <a:pPr algn="r" indent="0" marL="0">
              <a:buNone/>
            </a:pPr>
            <a:r>
              <a:rPr lang="en-US" sz="5200" b="1" dirty="0">
                <a:solidFill>
                  <a:srgbClr val="E2E8F0"/>
                </a:solidFill>
              </a:rPr>
              <a:t>06</a:t>
            </a:r>
            <a:endParaRPr lang="en-US" sz="5200" dirty="0"/>
          </a:p>
        </p:txBody>
      </p:sp>
      <p:sp>
        <p:nvSpPr>
          <p:cNvPr id="4" name="Text 2">
            <a:hlinkClick r:id="rId1" tooltip=""/>
          </p:cNvPr>
          <p:cNvSpPr/>
          <p:nvPr/>
        </p:nvSpPr>
        <p:spPr>
          <a:xfrm>
            <a:off x="731520" y="731520"/>
            <a:ext cx="10058400" cy="0"/>
          </a:xfrm>
          <a:prstGeom prst="rect">
            <a:avLst/>
          </a:prstGeom>
          <a:noFill/>
          <a:ln/>
        </p:spPr>
        <p:txBody>
          <a:bodyPr wrap="square" lIns="0" tIns="0" rIns="0" bIns="0" rtlCol="0" anchor="ctr"/>
          <a:lstStyle/>
          <a:p>
            <a:pPr indent="0" marL="0">
              <a:lnSpc>
                <a:spcPct val="115000"/>
              </a:lnSpc>
              <a:buNone/>
            </a:pPr>
            <a:r>
              <a:rPr lang="en-US" sz="2400" b="1" u="sng" dirty="0">
                <a:solidFill>
                  <a:srgbClr val="111111"/>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Host-Microbe Mechanisms of Fusobacterium nucleatum in Colorectal Cancer.</a:t>
            </a:r>
            <a:endParaRPr lang="en-US" sz="2400" dirty="0"/>
          </a:p>
        </p:txBody>
      </p:sp>
      <p:sp>
        <p:nvSpPr>
          <p:cNvPr id="5" name="Text 3"/>
          <p:cNvSpPr/>
          <p:nvPr/>
        </p:nvSpPr>
        <p:spPr>
          <a:xfrm>
            <a:off x="731520" y="1828800"/>
            <a:ext cx="10058400" cy="0"/>
          </a:xfrm>
          <a:prstGeom prst="rect">
            <a:avLst/>
          </a:prstGeom>
          <a:noFill/>
          <a:ln/>
        </p:spPr>
        <p:txBody>
          <a:bodyPr wrap="square" lIns="0" tIns="0" rIns="0" bIns="0" rtlCol="0" anchor="ctr"/>
          <a:lstStyle/>
          <a:p>
            <a:pPr indent="0" marL="0">
              <a:buNone/>
            </a:pPr>
            <a:r>
              <a:rPr lang="en-US" sz="1000" dirty="0">
                <a:solidFill>
                  <a:srgbClr val="888888"/>
                </a:solidFill>
              </a:rPr>
              <a:t>Molecular oral microbiology  ·  Basic Research</a:t>
            </a:r>
            <a:endParaRPr lang="en-US" sz="1000" dirty="0"/>
          </a:p>
        </p:txBody>
      </p:sp>
      <p:sp>
        <p:nvSpPr>
          <p:cNvPr id="6" name="Text 4"/>
          <p:cNvSpPr/>
          <p:nvPr/>
        </p:nvSpPr>
        <p:spPr>
          <a:xfrm>
            <a:off x="731520" y="2377440"/>
            <a:ext cx="10058400" cy="0"/>
          </a:xfrm>
          <a:prstGeom prst="rect">
            <a:avLst/>
          </a:prstGeom>
          <a:noFill/>
          <a:ln/>
        </p:spPr>
        <p:txBody>
          <a:bodyPr wrap="square" rtlCol="0" anchor="t"/>
          <a:lstStyle/>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Fusobacterium nucleatum linked to CRC progression.</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Modulates immune and inflammatory pathways.</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Reshapes tumor microenvironment significantly.</a:t>
            </a:r>
            <a:endParaRPr lang="en-US" sz="1800" dirty="0"/>
          </a:p>
        </p:txBody>
      </p:sp>
      <p:sp>
        <p:nvSpPr>
          <p:cNvPr id="7" name="Text 5"/>
          <p:cNvSpPr/>
          <p:nvPr/>
        </p:nvSpPr>
        <p:spPr>
          <a:xfrm>
            <a:off x="731520" y="5852160"/>
            <a:ext cx="10058400" cy="0"/>
          </a:xfrm>
          <a:prstGeom prst="rect">
            <a:avLst/>
          </a:prstGeom>
          <a:noFill/>
          <a:ln/>
        </p:spPr>
        <p:txBody>
          <a:bodyPr wrap="square" lIns="0" tIns="0" rIns="0" bIns="0" rtlCol="0" anchor="ctr"/>
          <a:lstStyle/>
          <a:p>
            <a:pPr indent="0" marL="0">
              <a:buNone/>
            </a:pPr>
            <a:r>
              <a:rPr lang="en-US" sz="800" dirty="0">
                <a:solidFill>
                  <a:srgbClr val="888888"/>
                </a:solidFill>
              </a:rPr>
              <a:t>Leite Hadda Lyzandra Austr&amp;#xed;aco, Lopes Fernanda Ferreira. Molecular oral microbiology. 2026-08-19 DOI: 10.1111/omi.70038</a:t>
            </a:r>
            <a:endParaRPr lang="en-US" sz="800" dirty="0"/>
          </a:p>
        </p:txBody>
      </p:sp>
      <p:sp>
        <p:nvSpPr>
          <p:cNvPr id="8" name="Text 6">
            <a:hlinkClick r:id="rId2" tooltip=""/>
          </p:cNvPr>
          <p:cNvSpPr/>
          <p:nvPr/>
        </p:nvSpPr>
        <p:spPr>
          <a:xfrm>
            <a:off x="731520" y="6217920"/>
            <a:ext cx="3657600" cy="0"/>
          </a:xfrm>
          <a:prstGeom prst="rect">
            <a:avLst/>
          </a:prstGeom>
          <a:noFill/>
          <a:ln/>
        </p:spPr>
        <p:txBody>
          <a:bodyPr wrap="square" lIns="0" tIns="0" rIns="0" bIns="0" rtlCol="0" anchor="ctr"/>
          <a:lstStyle/>
          <a:p>
            <a:pPr indent="0" marL="0">
              <a:buNone/>
            </a:pPr>
            <a:r>
              <a:rPr lang="en-US" sz="1000" b="1" u="sng" dirty="0">
                <a:solidFill>
                  <a:srgbClr val="2563EB"/>
                </a:solidFill>
                <a:hlinkClick r:id="rId2" invalidUrl="" action="" tgtFrame="" tooltip="" history="1" highlightClick="0" endSnd="0">
                  <a:extLst>
                    <a:ext uri="{A12FA001-AC4F-418D-AE19-62706E023703}">
                      <ahyp:hlinkClr xmlns:ahyp="http://schemas.microsoft.com/office/drawing/2018/hyperlinkcolor" val="tx"/>
                    </a:ext>
                  </a:extLst>
                </a:hlinkClick>
              </a:rPr>
              <a:t>📎 View Paper →</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1520" y="320040"/>
            <a:ext cx="5486400" cy="0"/>
          </a:xfrm>
          <a:prstGeom prst="rect">
            <a:avLst/>
          </a:prstGeom>
          <a:noFill/>
          <a:ln/>
        </p:spPr>
        <p:txBody>
          <a:bodyPr wrap="square" lIns="0" tIns="0" rIns="0" bIns="0" rtlCol="0" anchor="ctr"/>
          <a:lstStyle/>
          <a:p>
            <a:pPr indent="0" marL="0">
              <a:buNone/>
            </a:pPr>
            <a:r>
              <a:rPr lang="en-US" sz="900" b="1" spc="300" kern="0" dirty="0">
                <a:solidFill>
                  <a:srgbClr val="888888"/>
                </a:solidFill>
              </a:rPr>
              <a:t>07  KEY FINDINGS</a:t>
            </a:r>
            <a:endParaRPr lang="en-US" sz="900" dirty="0"/>
          </a:p>
        </p:txBody>
      </p:sp>
      <p:sp>
        <p:nvSpPr>
          <p:cNvPr id="3" name="Text 1"/>
          <p:cNvSpPr/>
          <p:nvPr/>
        </p:nvSpPr>
        <p:spPr>
          <a:xfrm>
            <a:off x="9144000" y="91440"/>
            <a:ext cx="2560320" cy="0"/>
          </a:xfrm>
          <a:prstGeom prst="rect">
            <a:avLst/>
          </a:prstGeom>
          <a:noFill/>
          <a:ln/>
        </p:spPr>
        <p:txBody>
          <a:bodyPr wrap="square" lIns="0" tIns="0" rIns="0" bIns="0" rtlCol="0" anchor="ctr"/>
          <a:lstStyle/>
          <a:p>
            <a:pPr algn="r" indent="0" marL="0">
              <a:buNone/>
            </a:pPr>
            <a:r>
              <a:rPr lang="en-US" sz="5200" b="1" dirty="0">
                <a:solidFill>
                  <a:srgbClr val="E2E8F0"/>
                </a:solidFill>
              </a:rPr>
              <a:t>07</a:t>
            </a:r>
            <a:endParaRPr lang="en-US" sz="5200" dirty="0"/>
          </a:p>
        </p:txBody>
      </p:sp>
      <p:sp>
        <p:nvSpPr>
          <p:cNvPr id="4" name="Text 2">
            <a:hlinkClick r:id="rId1" tooltip=""/>
          </p:cNvPr>
          <p:cNvSpPr/>
          <p:nvPr/>
        </p:nvSpPr>
        <p:spPr>
          <a:xfrm>
            <a:off x="731520" y="731520"/>
            <a:ext cx="10058400" cy="0"/>
          </a:xfrm>
          <a:prstGeom prst="rect">
            <a:avLst/>
          </a:prstGeom>
          <a:noFill/>
          <a:ln/>
        </p:spPr>
        <p:txBody>
          <a:bodyPr wrap="square" lIns="0" tIns="0" rIns="0" bIns="0" rtlCol="0" anchor="ctr"/>
          <a:lstStyle/>
          <a:p>
            <a:pPr indent="0" marL="0">
              <a:lnSpc>
                <a:spcPct val="115000"/>
              </a:lnSpc>
              <a:buNone/>
            </a:pPr>
            <a:r>
              <a:rPr lang="en-US" sz="2400" b="1" u="sng" dirty="0">
                <a:solidFill>
                  <a:srgbClr val="111111"/>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Evolution of SPP1+ cavity macrophage-mediated immunotherapy resistance in peritoneal metastasis of colorectal cancer.</a:t>
            </a:r>
            <a:endParaRPr lang="en-US" sz="2400" dirty="0"/>
          </a:p>
        </p:txBody>
      </p:sp>
      <p:sp>
        <p:nvSpPr>
          <p:cNvPr id="5" name="Text 3"/>
          <p:cNvSpPr/>
          <p:nvPr/>
        </p:nvSpPr>
        <p:spPr>
          <a:xfrm>
            <a:off x="731520" y="1828800"/>
            <a:ext cx="10058400" cy="0"/>
          </a:xfrm>
          <a:prstGeom prst="rect">
            <a:avLst/>
          </a:prstGeom>
          <a:noFill/>
          <a:ln/>
        </p:spPr>
        <p:txBody>
          <a:bodyPr wrap="square" lIns="0" tIns="0" rIns="0" bIns="0" rtlCol="0" anchor="ctr"/>
          <a:lstStyle/>
          <a:p>
            <a:pPr indent="0" marL="0">
              <a:buNone/>
            </a:pPr>
            <a:r>
              <a:rPr lang="en-US" sz="1000" dirty="0">
                <a:solidFill>
                  <a:srgbClr val="888888"/>
                </a:solidFill>
              </a:rPr>
              <a:t>Cell reports. Medicine  ·  Basic Research</a:t>
            </a:r>
            <a:endParaRPr lang="en-US" sz="1000" dirty="0"/>
          </a:p>
        </p:txBody>
      </p:sp>
      <p:sp>
        <p:nvSpPr>
          <p:cNvPr id="6" name="Text 4"/>
          <p:cNvSpPr/>
          <p:nvPr/>
        </p:nvSpPr>
        <p:spPr>
          <a:xfrm>
            <a:off x="731520" y="2377440"/>
            <a:ext cx="10058400" cy="0"/>
          </a:xfrm>
          <a:prstGeom prst="rect">
            <a:avLst/>
          </a:prstGeom>
          <a:noFill/>
          <a:ln/>
        </p:spPr>
        <p:txBody>
          <a:bodyPr wrap="square" rtlCol="0" anchor="t"/>
          <a:lstStyle/>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SPP1+ macrophages drive CD8+ T cell dysfunction.</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SPP1 enrichment linked to therapy resistance.</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Knockout enhances T cell infiltration and efficacy.</a:t>
            </a:r>
            <a:endParaRPr lang="en-US" sz="1800" dirty="0"/>
          </a:p>
        </p:txBody>
      </p:sp>
      <p:sp>
        <p:nvSpPr>
          <p:cNvPr id="7" name="Text 5"/>
          <p:cNvSpPr/>
          <p:nvPr/>
        </p:nvSpPr>
        <p:spPr>
          <a:xfrm>
            <a:off x="731520" y="5852160"/>
            <a:ext cx="10058400" cy="0"/>
          </a:xfrm>
          <a:prstGeom prst="rect">
            <a:avLst/>
          </a:prstGeom>
          <a:noFill/>
          <a:ln/>
        </p:spPr>
        <p:txBody>
          <a:bodyPr wrap="square" lIns="0" tIns="0" rIns="0" bIns="0" rtlCol="0" anchor="ctr"/>
          <a:lstStyle/>
          <a:p>
            <a:pPr indent="0" marL="0">
              <a:buNone/>
            </a:pPr>
            <a:r>
              <a:rPr lang="en-US" sz="800" dirty="0">
                <a:solidFill>
                  <a:srgbClr val="888888"/>
                </a:solidFill>
              </a:rPr>
              <a:t>Dai Xiaomeng, Lai Chunyu, Hong Libing et al.. Cell reports. Medicine. 2026-08-18 DOI: 10.1016/j.xcrm.2026.102930</a:t>
            </a:r>
            <a:endParaRPr lang="en-US" sz="800" dirty="0"/>
          </a:p>
        </p:txBody>
      </p:sp>
      <p:sp>
        <p:nvSpPr>
          <p:cNvPr id="8" name="Text 6">
            <a:hlinkClick r:id="rId2" tooltip=""/>
          </p:cNvPr>
          <p:cNvSpPr/>
          <p:nvPr/>
        </p:nvSpPr>
        <p:spPr>
          <a:xfrm>
            <a:off x="731520" y="6217920"/>
            <a:ext cx="3657600" cy="0"/>
          </a:xfrm>
          <a:prstGeom prst="rect">
            <a:avLst/>
          </a:prstGeom>
          <a:noFill/>
          <a:ln/>
        </p:spPr>
        <p:txBody>
          <a:bodyPr wrap="square" lIns="0" tIns="0" rIns="0" bIns="0" rtlCol="0" anchor="ctr"/>
          <a:lstStyle/>
          <a:p>
            <a:pPr indent="0" marL="0">
              <a:buNone/>
            </a:pPr>
            <a:r>
              <a:rPr lang="en-US" sz="1000" b="1" u="sng" dirty="0">
                <a:solidFill>
                  <a:srgbClr val="2563EB"/>
                </a:solidFill>
                <a:hlinkClick r:id="rId2" invalidUrl="" action="" tgtFrame="" tooltip="" history="1" highlightClick="0" endSnd="0">
                  <a:extLst>
                    <a:ext uri="{A12FA001-AC4F-418D-AE19-62706E023703}">
                      <ahyp:hlinkClr xmlns:ahyp="http://schemas.microsoft.com/office/drawing/2018/hyperlinkcolor" val="tx"/>
                    </a:ext>
                  </a:extLst>
                </a:hlinkClick>
              </a:rPr>
              <a:t>📎 View Paper →</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1520" y="320040"/>
            <a:ext cx="5486400" cy="0"/>
          </a:xfrm>
          <a:prstGeom prst="rect">
            <a:avLst/>
          </a:prstGeom>
          <a:noFill/>
          <a:ln/>
        </p:spPr>
        <p:txBody>
          <a:bodyPr wrap="square" lIns="0" tIns="0" rIns="0" bIns="0" rtlCol="0" anchor="ctr"/>
          <a:lstStyle/>
          <a:p>
            <a:pPr indent="0" marL="0">
              <a:buNone/>
            </a:pPr>
            <a:r>
              <a:rPr lang="en-US" sz="900" b="1" spc="300" kern="0" dirty="0">
                <a:solidFill>
                  <a:srgbClr val="888888"/>
                </a:solidFill>
              </a:rPr>
              <a:t>08  KEY FINDINGS</a:t>
            </a:r>
            <a:endParaRPr lang="en-US" sz="900" dirty="0"/>
          </a:p>
        </p:txBody>
      </p:sp>
      <p:sp>
        <p:nvSpPr>
          <p:cNvPr id="3" name="Text 1"/>
          <p:cNvSpPr/>
          <p:nvPr/>
        </p:nvSpPr>
        <p:spPr>
          <a:xfrm>
            <a:off x="9144000" y="91440"/>
            <a:ext cx="2560320" cy="0"/>
          </a:xfrm>
          <a:prstGeom prst="rect">
            <a:avLst/>
          </a:prstGeom>
          <a:noFill/>
          <a:ln/>
        </p:spPr>
        <p:txBody>
          <a:bodyPr wrap="square" lIns="0" tIns="0" rIns="0" bIns="0" rtlCol="0" anchor="ctr"/>
          <a:lstStyle/>
          <a:p>
            <a:pPr algn="r" indent="0" marL="0">
              <a:buNone/>
            </a:pPr>
            <a:r>
              <a:rPr lang="en-US" sz="5200" b="1" dirty="0">
                <a:solidFill>
                  <a:srgbClr val="E2E8F0"/>
                </a:solidFill>
              </a:rPr>
              <a:t>08</a:t>
            </a:r>
            <a:endParaRPr lang="en-US" sz="5200" dirty="0"/>
          </a:p>
        </p:txBody>
      </p:sp>
      <p:sp>
        <p:nvSpPr>
          <p:cNvPr id="4" name="Text 2">
            <a:hlinkClick r:id="rId1" tooltip=""/>
          </p:cNvPr>
          <p:cNvSpPr/>
          <p:nvPr/>
        </p:nvSpPr>
        <p:spPr>
          <a:xfrm>
            <a:off x="731520" y="731520"/>
            <a:ext cx="10058400" cy="0"/>
          </a:xfrm>
          <a:prstGeom prst="rect">
            <a:avLst/>
          </a:prstGeom>
          <a:noFill/>
          <a:ln/>
        </p:spPr>
        <p:txBody>
          <a:bodyPr wrap="square" lIns="0" tIns="0" rIns="0" bIns="0" rtlCol="0" anchor="ctr"/>
          <a:lstStyle/>
          <a:p>
            <a:pPr indent="0" marL="0">
              <a:lnSpc>
                <a:spcPct val="115000"/>
              </a:lnSpc>
              <a:buNone/>
            </a:pPr>
            <a:r>
              <a:rPr lang="en-US" sz="2400" b="1" u="sng" dirty="0">
                <a:solidFill>
                  <a:srgbClr val="111111"/>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The barrier–microbiota–inflammation axis in colorectal cancer: Mechanisms and emerging diagnostic &amp; therapeutic strategies</a:t>
            </a:r>
            <a:endParaRPr lang="en-US" sz="2400" dirty="0"/>
          </a:p>
        </p:txBody>
      </p:sp>
      <p:sp>
        <p:nvSpPr>
          <p:cNvPr id="5" name="Text 3"/>
          <p:cNvSpPr/>
          <p:nvPr/>
        </p:nvSpPr>
        <p:spPr>
          <a:xfrm>
            <a:off x="731520" y="1828800"/>
            <a:ext cx="10058400" cy="0"/>
          </a:xfrm>
          <a:prstGeom prst="rect">
            <a:avLst/>
          </a:prstGeom>
          <a:noFill/>
          <a:ln/>
        </p:spPr>
        <p:txBody>
          <a:bodyPr wrap="square" lIns="0" tIns="0" rIns="0" bIns="0" rtlCol="0" anchor="ctr"/>
          <a:lstStyle/>
          <a:p>
            <a:pPr indent="0" marL="0">
              <a:buNone/>
            </a:pPr>
            <a:r>
              <a:rPr lang="en-US" sz="1000" dirty="0">
                <a:solidFill>
                  <a:srgbClr val="888888"/>
                </a:solidFill>
              </a:rPr>
              <a:t>Cancers  ·  Basic Research</a:t>
            </a:r>
            <a:endParaRPr lang="en-US" sz="1000" dirty="0"/>
          </a:p>
        </p:txBody>
      </p:sp>
      <p:sp>
        <p:nvSpPr>
          <p:cNvPr id="6" name="Text 4"/>
          <p:cNvSpPr/>
          <p:nvPr/>
        </p:nvSpPr>
        <p:spPr>
          <a:xfrm>
            <a:off x="731520" y="2377440"/>
            <a:ext cx="10058400" cy="0"/>
          </a:xfrm>
          <a:prstGeom prst="rect">
            <a:avLst/>
          </a:prstGeom>
          <a:noFill/>
          <a:ln/>
        </p:spPr>
        <p:txBody>
          <a:bodyPr wrap="square" rtlCol="0" anchor="t"/>
          <a:lstStyle/>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LPS triggers pro-inflammatory cytokines secretion</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Downregulates tight junction proteins in epithelium</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Promotes epithelial cell migration and invasion</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Identifies microbiota's role in colorectal cancer</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Emerging diagnostic and therapeutic strategies</a:t>
            </a:r>
            <a:endParaRPr lang="en-US" sz="1800" dirty="0"/>
          </a:p>
        </p:txBody>
      </p:sp>
      <p:sp>
        <p:nvSpPr>
          <p:cNvPr id="7" name="Text 5"/>
          <p:cNvSpPr/>
          <p:nvPr/>
        </p:nvSpPr>
        <p:spPr>
          <a:xfrm>
            <a:off x="731520" y="5852160"/>
            <a:ext cx="10058400" cy="0"/>
          </a:xfrm>
          <a:prstGeom prst="rect">
            <a:avLst/>
          </a:prstGeom>
          <a:noFill/>
          <a:ln/>
        </p:spPr>
        <p:txBody>
          <a:bodyPr wrap="square" lIns="0" tIns="0" rIns="0" bIns="0" rtlCol="0" anchor="ctr"/>
          <a:lstStyle/>
          <a:p>
            <a:pPr indent="0" marL="0">
              <a:buNone/>
            </a:pPr>
            <a:r>
              <a:rPr lang="en-US" sz="800" dirty="0">
                <a:solidFill>
                  <a:srgbClr val="888888"/>
                </a:solidFill>
              </a:rPr>
              <a:t>X Dong, J Yang, L He. Cancers. 2026</a:t>
            </a:r>
            <a:endParaRPr lang="en-US" sz="800" dirty="0"/>
          </a:p>
        </p:txBody>
      </p:sp>
      <p:sp>
        <p:nvSpPr>
          <p:cNvPr id="8" name="Text 6">
            <a:hlinkClick r:id="rId2" tooltip=""/>
          </p:cNvPr>
          <p:cNvSpPr/>
          <p:nvPr/>
        </p:nvSpPr>
        <p:spPr>
          <a:xfrm>
            <a:off x="731520" y="6217920"/>
            <a:ext cx="3657600" cy="0"/>
          </a:xfrm>
          <a:prstGeom prst="rect">
            <a:avLst/>
          </a:prstGeom>
          <a:noFill/>
          <a:ln/>
        </p:spPr>
        <p:txBody>
          <a:bodyPr wrap="square" lIns="0" tIns="0" rIns="0" bIns="0" rtlCol="0" anchor="ctr"/>
          <a:lstStyle/>
          <a:p>
            <a:pPr indent="0" marL="0">
              <a:buNone/>
            </a:pPr>
            <a:r>
              <a:rPr lang="en-US" sz="1000" b="1" u="sng" dirty="0">
                <a:solidFill>
                  <a:srgbClr val="2563EB"/>
                </a:solidFill>
                <a:hlinkClick r:id="rId2" invalidUrl="" action="" tgtFrame="" tooltip="" history="1" highlightClick="0" endSnd="0">
                  <a:extLst>
                    <a:ext uri="{A12FA001-AC4F-418D-AE19-62706E023703}">
                      <ahyp:hlinkClr xmlns:ahyp="http://schemas.microsoft.com/office/drawing/2018/hyperlinkcolor" val="tx"/>
                    </a:ext>
                  </a:extLst>
                </a:hlinkClick>
              </a:rPr>
              <a:t>📎 View Paper →</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1520" y="320040"/>
            <a:ext cx="5486400" cy="0"/>
          </a:xfrm>
          <a:prstGeom prst="rect">
            <a:avLst/>
          </a:prstGeom>
          <a:noFill/>
          <a:ln/>
        </p:spPr>
        <p:txBody>
          <a:bodyPr wrap="square" lIns="0" tIns="0" rIns="0" bIns="0" rtlCol="0" anchor="ctr"/>
          <a:lstStyle/>
          <a:p>
            <a:pPr indent="0" marL="0">
              <a:buNone/>
            </a:pPr>
            <a:r>
              <a:rPr lang="en-US" sz="900" b="1" spc="300" kern="0" dirty="0">
                <a:solidFill>
                  <a:srgbClr val="888888"/>
                </a:solidFill>
              </a:rPr>
              <a:t>09  KEY FINDINGS</a:t>
            </a:r>
            <a:endParaRPr lang="en-US" sz="900" dirty="0"/>
          </a:p>
        </p:txBody>
      </p:sp>
      <p:sp>
        <p:nvSpPr>
          <p:cNvPr id="3" name="Text 1"/>
          <p:cNvSpPr/>
          <p:nvPr/>
        </p:nvSpPr>
        <p:spPr>
          <a:xfrm>
            <a:off x="9144000" y="91440"/>
            <a:ext cx="2560320" cy="0"/>
          </a:xfrm>
          <a:prstGeom prst="rect">
            <a:avLst/>
          </a:prstGeom>
          <a:noFill/>
          <a:ln/>
        </p:spPr>
        <p:txBody>
          <a:bodyPr wrap="square" lIns="0" tIns="0" rIns="0" bIns="0" rtlCol="0" anchor="ctr"/>
          <a:lstStyle/>
          <a:p>
            <a:pPr algn="r" indent="0" marL="0">
              <a:buNone/>
            </a:pPr>
            <a:r>
              <a:rPr lang="en-US" sz="5200" b="1" dirty="0">
                <a:solidFill>
                  <a:srgbClr val="E2E8F0"/>
                </a:solidFill>
              </a:rPr>
              <a:t>09</a:t>
            </a:r>
            <a:endParaRPr lang="en-US" sz="5200" dirty="0"/>
          </a:p>
        </p:txBody>
      </p:sp>
      <p:sp>
        <p:nvSpPr>
          <p:cNvPr id="4" name="Text 2">
            <a:hlinkClick r:id="rId1" tooltip=""/>
          </p:cNvPr>
          <p:cNvSpPr/>
          <p:nvPr/>
        </p:nvSpPr>
        <p:spPr>
          <a:xfrm>
            <a:off x="731520" y="731520"/>
            <a:ext cx="10058400" cy="0"/>
          </a:xfrm>
          <a:prstGeom prst="rect">
            <a:avLst/>
          </a:prstGeom>
          <a:noFill/>
          <a:ln/>
        </p:spPr>
        <p:txBody>
          <a:bodyPr wrap="square" lIns="0" tIns="0" rIns="0" bIns="0" rtlCol="0" anchor="ctr"/>
          <a:lstStyle/>
          <a:p>
            <a:pPr indent="0" marL="0">
              <a:lnSpc>
                <a:spcPct val="115000"/>
              </a:lnSpc>
              <a:buNone/>
            </a:pPr>
            <a:r>
              <a:rPr lang="en-US" sz="2400" b="1" u="sng" dirty="0">
                <a:solidFill>
                  <a:srgbClr val="111111"/>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LRMDA promotes intestinal mucosal barrier integrity and limits colitis and colon cancer.</a:t>
            </a:r>
            <a:endParaRPr lang="en-US" sz="2400" dirty="0"/>
          </a:p>
        </p:txBody>
      </p:sp>
      <p:sp>
        <p:nvSpPr>
          <p:cNvPr id="5" name="Text 3"/>
          <p:cNvSpPr/>
          <p:nvPr/>
        </p:nvSpPr>
        <p:spPr>
          <a:xfrm>
            <a:off x="731520" y="1828800"/>
            <a:ext cx="10058400" cy="0"/>
          </a:xfrm>
          <a:prstGeom prst="rect">
            <a:avLst/>
          </a:prstGeom>
          <a:noFill/>
          <a:ln/>
        </p:spPr>
        <p:txBody>
          <a:bodyPr wrap="square" lIns="0" tIns="0" rIns="0" bIns="0" rtlCol="0" anchor="ctr"/>
          <a:lstStyle/>
          <a:p>
            <a:pPr indent="0" marL="0">
              <a:buNone/>
            </a:pPr>
            <a:r>
              <a:rPr lang="en-US" sz="1000" dirty="0">
                <a:solidFill>
                  <a:srgbClr val="888888"/>
                </a:solidFill>
              </a:rPr>
              <a:t>iScience</a:t>
            </a:r>
            <a:endParaRPr lang="en-US" sz="1000" dirty="0"/>
          </a:p>
        </p:txBody>
      </p:sp>
      <p:sp>
        <p:nvSpPr>
          <p:cNvPr id="6" name="Text 4"/>
          <p:cNvSpPr/>
          <p:nvPr/>
        </p:nvSpPr>
        <p:spPr>
          <a:xfrm>
            <a:off x="731520" y="2377440"/>
            <a:ext cx="10058400" cy="0"/>
          </a:xfrm>
          <a:prstGeom prst="rect">
            <a:avLst/>
          </a:prstGeom>
          <a:noFill/>
          <a:ln/>
        </p:spPr>
        <p:txBody>
          <a:bodyPr wrap="square" rtlCol="0" anchor="t"/>
          <a:lstStyle/>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LRMDA downregulated in IBD tissues.</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Genetic ablation worsens colitis symptoms.</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LRMDA deficiency linked to tumorigenesis.</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Impaired mucin expression and barrier integrity.</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Supports goblet cell mucin transport.</a:t>
            </a:r>
            <a:endParaRPr lang="en-US" sz="1800" dirty="0"/>
          </a:p>
        </p:txBody>
      </p:sp>
      <p:sp>
        <p:nvSpPr>
          <p:cNvPr id="7" name="Text 5"/>
          <p:cNvSpPr/>
          <p:nvPr/>
        </p:nvSpPr>
        <p:spPr>
          <a:xfrm>
            <a:off x="731520" y="5852160"/>
            <a:ext cx="10058400" cy="0"/>
          </a:xfrm>
          <a:prstGeom prst="rect">
            <a:avLst/>
          </a:prstGeom>
          <a:noFill/>
          <a:ln/>
        </p:spPr>
        <p:txBody>
          <a:bodyPr wrap="square" lIns="0" tIns="0" rIns="0" bIns="0" rtlCol="0" anchor="ctr"/>
          <a:lstStyle/>
          <a:p>
            <a:pPr indent="0" marL="0">
              <a:buNone/>
            </a:pPr>
            <a:r>
              <a:rPr lang="en-US" sz="800" dirty="0">
                <a:solidFill>
                  <a:srgbClr val="888888"/>
                </a:solidFill>
              </a:rPr>
              <a:t>Yang Liping, Guo Yuyao, Xiao Bikun et al.. iScience. 2026-07-26 DOI: 10.1016/j.isci.2026.116785</a:t>
            </a:r>
            <a:endParaRPr lang="en-US" sz="800" dirty="0"/>
          </a:p>
        </p:txBody>
      </p:sp>
      <p:sp>
        <p:nvSpPr>
          <p:cNvPr id="8" name="Text 6">
            <a:hlinkClick r:id="rId2" tooltip=""/>
          </p:cNvPr>
          <p:cNvSpPr/>
          <p:nvPr/>
        </p:nvSpPr>
        <p:spPr>
          <a:xfrm>
            <a:off x="731520" y="6217920"/>
            <a:ext cx="3657600" cy="0"/>
          </a:xfrm>
          <a:prstGeom prst="rect">
            <a:avLst/>
          </a:prstGeom>
          <a:noFill/>
          <a:ln/>
        </p:spPr>
        <p:txBody>
          <a:bodyPr wrap="square" lIns="0" tIns="0" rIns="0" bIns="0" rtlCol="0" anchor="ctr"/>
          <a:lstStyle/>
          <a:p>
            <a:pPr indent="0" marL="0">
              <a:buNone/>
            </a:pPr>
            <a:r>
              <a:rPr lang="en-US" sz="1000" b="1" u="sng" dirty="0">
                <a:solidFill>
                  <a:srgbClr val="2563EB"/>
                </a:solidFill>
                <a:hlinkClick r:id="rId2" invalidUrl="" action="" tgtFrame="" tooltip="" history="1" highlightClick="0" endSnd="0">
                  <a:extLst>
                    <a:ext uri="{A12FA001-AC4F-418D-AE19-62706E023703}">
                      <ahyp:hlinkClr xmlns:ahyp="http://schemas.microsoft.com/office/drawing/2018/hyperlinkcolor" val="tx"/>
                    </a:ext>
                  </a:extLst>
                </a:hlinkClick>
              </a:rPr>
              <a:t>📎 View Paper →</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1520" y="320040"/>
            <a:ext cx="5486400" cy="0"/>
          </a:xfrm>
          <a:prstGeom prst="rect">
            <a:avLst/>
          </a:prstGeom>
          <a:noFill/>
          <a:ln/>
        </p:spPr>
        <p:txBody>
          <a:bodyPr wrap="square" lIns="0" tIns="0" rIns="0" bIns="0" rtlCol="0" anchor="ctr"/>
          <a:lstStyle/>
          <a:p>
            <a:pPr indent="0" marL="0">
              <a:buNone/>
            </a:pPr>
            <a:r>
              <a:rPr lang="en-US" sz="900" b="1" spc="300" kern="0" dirty="0">
                <a:solidFill>
                  <a:srgbClr val="888888"/>
                </a:solidFill>
              </a:rPr>
              <a:t>10  KEY FINDINGS</a:t>
            </a:r>
            <a:endParaRPr lang="en-US" sz="900" dirty="0"/>
          </a:p>
        </p:txBody>
      </p:sp>
      <p:sp>
        <p:nvSpPr>
          <p:cNvPr id="3" name="Text 1"/>
          <p:cNvSpPr/>
          <p:nvPr/>
        </p:nvSpPr>
        <p:spPr>
          <a:xfrm>
            <a:off x="9144000" y="91440"/>
            <a:ext cx="2560320" cy="0"/>
          </a:xfrm>
          <a:prstGeom prst="rect">
            <a:avLst/>
          </a:prstGeom>
          <a:noFill/>
          <a:ln/>
        </p:spPr>
        <p:txBody>
          <a:bodyPr wrap="square" lIns="0" tIns="0" rIns="0" bIns="0" rtlCol="0" anchor="ctr"/>
          <a:lstStyle/>
          <a:p>
            <a:pPr algn="r" indent="0" marL="0">
              <a:buNone/>
            </a:pPr>
            <a:r>
              <a:rPr lang="en-US" sz="5200" b="1" dirty="0">
                <a:solidFill>
                  <a:srgbClr val="E2E8F0"/>
                </a:solidFill>
              </a:rPr>
              <a:t>10</a:t>
            </a:r>
            <a:endParaRPr lang="en-US" sz="5200" dirty="0"/>
          </a:p>
        </p:txBody>
      </p:sp>
      <p:sp>
        <p:nvSpPr>
          <p:cNvPr id="4" name="Text 2">
            <a:hlinkClick r:id="rId1" tooltip=""/>
          </p:cNvPr>
          <p:cNvSpPr/>
          <p:nvPr/>
        </p:nvSpPr>
        <p:spPr>
          <a:xfrm>
            <a:off x="731520" y="731520"/>
            <a:ext cx="10058400" cy="0"/>
          </a:xfrm>
          <a:prstGeom prst="rect">
            <a:avLst/>
          </a:prstGeom>
          <a:noFill/>
          <a:ln/>
        </p:spPr>
        <p:txBody>
          <a:bodyPr wrap="square" lIns="0" tIns="0" rIns="0" bIns="0" rtlCol="0" anchor="ctr"/>
          <a:lstStyle/>
          <a:p>
            <a:pPr indent="0" marL="0">
              <a:lnSpc>
                <a:spcPct val="115000"/>
              </a:lnSpc>
              <a:buNone/>
            </a:pPr>
            <a:r>
              <a:rPr lang="en-US" sz="2400" b="1" u="sng" dirty="0">
                <a:solidFill>
                  <a:srgbClr val="111111"/>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Tumor-driven arginine depletion induces T-cell metabolism reprogramming to suppress atherosclerosis in colorectal cancer.</a:t>
            </a:r>
            <a:endParaRPr lang="en-US" sz="2400" dirty="0"/>
          </a:p>
        </p:txBody>
      </p:sp>
      <p:sp>
        <p:nvSpPr>
          <p:cNvPr id="5" name="Text 3"/>
          <p:cNvSpPr/>
          <p:nvPr/>
        </p:nvSpPr>
        <p:spPr>
          <a:xfrm>
            <a:off x="731520" y="1828800"/>
            <a:ext cx="10058400" cy="0"/>
          </a:xfrm>
          <a:prstGeom prst="rect">
            <a:avLst/>
          </a:prstGeom>
          <a:noFill/>
          <a:ln/>
        </p:spPr>
        <p:txBody>
          <a:bodyPr wrap="square" lIns="0" tIns="0" rIns="0" bIns="0" rtlCol="0" anchor="ctr"/>
          <a:lstStyle/>
          <a:p>
            <a:pPr indent="0" marL="0">
              <a:buNone/>
            </a:pPr>
            <a:r>
              <a:rPr lang="en-US" sz="1000" dirty="0">
                <a:solidFill>
                  <a:srgbClr val="888888"/>
                </a:solidFill>
              </a:rPr>
              <a:t>Acta pharmacologica Sinica</a:t>
            </a:r>
            <a:endParaRPr lang="en-US" sz="1000" dirty="0"/>
          </a:p>
        </p:txBody>
      </p:sp>
      <p:sp>
        <p:nvSpPr>
          <p:cNvPr id="6" name="Text 4"/>
          <p:cNvSpPr/>
          <p:nvPr/>
        </p:nvSpPr>
        <p:spPr>
          <a:xfrm>
            <a:off x="731520" y="2377440"/>
            <a:ext cx="10058400" cy="0"/>
          </a:xfrm>
          <a:prstGeom prst="rect">
            <a:avLst/>
          </a:prstGeom>
          <a:noFill/>
          <a:ln/>
        </p:spPr>
        <p:txBody>
          <a:bodyPr wrap="square" rtlCol="0" anchor="t"/>
          <a:lstStyle/>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Colorectal cancer affects atherosclerosis development.</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Tumors deplete arginine, altering T-cell metabolism.</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Dietary arginine restores T-cell activation.</a:t>
            </a:r>
            <a:endParaRPr lang="en-US" sz="1800" dirty="0"/>
          </a:p>
        </p:txBody>
      </p:sp>
      <p:sp>
        <p:nvSpPr>
          <p:cNvPr id="7" name="Text 5"/>
          <p:cNvSpPr/>
          <p:nvPr/>
        </p:nvSpPr>
        <p:spPr>
          <a:xfrm>
            <a:off x="731520" y="5852160"/>
            <a:ext cx="10058400" cy="0"/>
          </a:xfrm>
          <a:prstGeom prst="rect">
            <a:avLst/>
          </a:prstGeom>
          <a:noFill/>
          <a:ln/>
        </p:spPr>
        <p:txBody>
          <a:bodyPr wrap="square" lIns="0" tIns="0" rIns="0" bIns="0" rtlCol="0" anchor="ctr"/>
          <a:lstStyle/>
          <a:p>
            <a:pPr indent="0" marL="0">
              <a:buNone/>
            </a:pPr>
            <a:r>
              <a:rPr lang="en-US" sz="800" dirty="0">
                <a:solidFill>
                  <a:srgbClr val="888888"/>
                </a:solidFill>
              </a:rPr>
              <a:t>Ni Wen-Jun, Sun He-Yang, Chen Meng-Lei et al.. Acta pharmacologica Sinica. 2026-08-18 DOI: 10.1038/s41401-026-01899-2</a:t>
            </a:r>
            <a:endParaRPr lang="en-US" sz="800" dirty="0"/>
          </a:p>
        </p:txBody>
      </p:sp>
      <p:sp>
        <p:nvSpPr>
          <p:cNvPr id="8" name="Text 6">
            <a:hlinkClick r:id="rId2" tooltip=""/>
          </p:cNvPr>
          <p:cNvSpPr/>
          <p:nvPr/>
        </p:nvSpPr>
        <p:spPr>
          <a:xfrm>
            <a:off x="731520" y="6217920"/>
            <a:ext cx="3657600" cy="0"/>
          </a:xfrm>
          <a:prstGeom prst="rect">
            <a:avLst/>
          </a:prstGeom>
          <a:noFill/>
          <a:ln/>
        </p:spPr>
        <p:txBody>
          <a:bodyPr wrap="square" lIns="0" tIns="0" rIns="0" bIns="0" rtlCol="0" anchor="ctr"/>
          <a:lstStyle/>
          <a:p>
            <a:pPr indent="0" marL="0">
              <a:buNone/>
            </a:pPr>
            <a:r>
              <a:rPr lang="en-US" sz="1000" b="1" u="sng" dirty="0">
                <a:solidFill>
                  <a:srgbClr val="2563EB"/>
                </a:solidFill>
                <a:hlinkClick r:id="rId2" invalidUrl="" action="" tgtFrame="" tooltip="" history="1" highlightClick="0" endSnd="0">
                  <a:extLst>
                    <a:ext uri="{A12FA001-AC4F-418D-AE19-62706E023703}">
                      <ahyp:hlinkClr xmlns:ahyp="http://schemas.microsoft.com/office/drawing/2018/hyperlinkcolor" val="tx"/>
                    </a:ext>
                  </a:extLst>
                </a:hlinkClick>
              </a:rPr>
              <a:t>📎 View Paper →</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1E3A5F"/>
        </a:solidFill>
      </p:bgPr>
    </p:bg>
    <p:spTree>
      <p:nvGrpSpPr>
        <p:cNvPr id="1" name=""/>
        <p:cNvGrpSpPr/>
        <p:nvPr/>
      </p:nvGrpSpPr>
      <p:grpSpPr>
        <a:xfrm>
          <a:off x="0" y="0"/>
          <a:ext cx="0" cy="0"/>
          <a:chOff x="0" y="0"/>
          <a:chExt cx="0" cy="0"/>
        </a:xfrm>
      </p:grpSpPr>
      <p:sp>
        <p:nvSpPr>
          <p:cNvPr id="2" name="Text 0"/>
          <p:cNvSpPr/>
          <p:nvPr/>
        </p:nvSpPr>
        <p:spPr>
          <a:xfrm>
            <a:off x="731520" y="365760"/>
            <a:ext cx="5486400" cy="0"/>
          </a:xfrm>
          <a:prstGeom prst="rect">
            <a:avLst/>
          </a:prstGeom>
          <a:noFill/>
          <a:ln/>
        </p:spPr>
        <p:txBody>
          <a:bodyPr wrap="square" lIns="0" tIns="0" rIns="0" bIns="0" rtlCol="0" anchor="ctr"/>
          <a:lstStyle/>
          <a:p>
            <a:pPr indent="0" marL="0">
              <a:buNone/>
            </a:pPr>
            <a:r>
              <a:rPr lang="en-US" sz="900" spc="600" kern="0" dirty="0">
                <a:solidFill>
                  <a:srgbClr val="888888"/>
                </a:solidFill>
              </a:rPr>
              <a:t>SYNTHESIS</a:t>
            </a:r>
            <a:endParaRPr lang="en-US" sz="900" dirty="0"/>
          </a:p>
        </p:txBody>
      </p:sp>
      <p:sp>
        <p:nvSpPr>
          <p:cNvPr id="3" name="Text 1"/>
          <p:cNvSpPr/>
          <p:nvPr/>
        </p:nvSpPr>
        <p:spPr>
          <a:xfrm>
            <a:off x="731520" y="822960"/>
            <a:ext cx="10058400" cy="0"/>
          </a:xfrm>
          <a:prstGeom prst="rect">
            <a:avLst/>
          </a:prstGeom>
          <a:noFill/>
          <a:ln/>
        </p:spPr>
        <p:txBody>
          <a:bodyPr wrap="square" lIns="0" tIns="0" rIns="0" bIns="0" rtlCol="0" anchor="ctr"/>
          <a:lstStyle/>
          <a:p>
            <a:pPr indent="0" marL="0">
              <a:buNone/>
            </a:pPr>
            <a:r>
              <a:rPr lang="en-US" sz="2400" b="1" dirty="0">
                <a:solidFill>
                  <a:srgbClr val="FFFFFF"/>
                </a:solidFill>
                <a:latin typeface="Arial" pitchFamily="34" charset="0"/>
                <a:ea typeface="Arial" pitchFamily="34" charset="-122"/>
                <a:cs typeface="Arial" pitchFamily="34" charset="-120"/>
              </a:rPr>
              <a:t>Overall Insights (1/2)</a:t>
            </a:r>
            <a:endParaRPr lang="en-US" sz="2400" dirty="0"/>
          </a:p>
        </p:txBody>
      </p:sp>
      <p:sp>
        <p:nvSpPr>
          <p:cNvPr id="4" name="Text 2"/>
          <p:cNvSpPr/>
          <p:nvPr/>
        </p:nvSpPr>
        <p:spPr>
          <a:xfrm>
            <a:off x="731520" y="1463040"/>
            <a:ext cx="10515600" cy="0"/>
          </a:xfrm>
          <a:prstGeom prst="rect">
            <a:avLst/>
          </a:prstGeom>
          <a:noFill/>
          <a:ln/>
        </p:spPr>
        <p:txBody>
          <a:bodyPr wrap="square" rtlCol="0" anchor="ctr"/>
          <a:lstStyle/>
          <a:p>
            <a:pPr indent="0" marL="0">
              <a:lnSpc>
                <a:spcPct val="150000"/>
              </a:lnSpc>
              <a:buNone/>
            </a:pPr>
            <a:r>
              <a:rPr lang="en-US" sz="1200" dirty="0">
                <a:solidFill>
                  <a:srgbClr val="FFFFFF"/>
                </a:solidFill>
              </a:rPr>
              <a:t>### 綜合啟示 (Overall Insights)</a:t>
            </a:r>
            <a:endParaRPr lang="en-US" sz="1200" dirty="0"/>
          </a:p>
          <a:p>
            <a:pPr indent="0" marL="0">
              <a:lnSpc>
                <a:spcPct val="150000"/>
              </a:lnSpc>
              <a:buNone/>
            </a:pPr>
            <a:endParaRPr lang="en-US" sz="1200" dirty="0"/>
          </a:p>
          <a:p>
            <a:pPr indent="0" marL="0">
              <a:lnSpc>
                <a:spcPct val="150000"/>
              </a:lnSpc>
              <a:buNone/>
            </a:pPr>
            <a:r>
              <a:rPr lang="en-US" sz="1200" dirty="0">
                <a:solidFill>
                  <a:srgbClr val="FFFFFF"/>
                </a:solidFill>
              </a:rPr>
              <a:t>1. **系統免疫炎症指數的預後價值**  </a:t>
            </a:r>
            <a:endParaRPr lang="en-US" sz="1200" dirty="0"/>
          </a:p>
          <a:p>
            <a:pPr indent="0" marL="0">
              <a:lnSpc>
                <a:spcPct val="150000"/>
              </a:lnSpc>
              <a:buNone/>
            </a:pPr>
            <a:r>
              <a:rPr lang="en-US" sz="1200" dirty="0">
                <a:solidFill>
                  <a:srgbClr val="FFFFFF"/>
                </a:solidFill>
              </a:rPr>
              <a:t>   The systemic immune-inflammation index (SII) has emerged as a potential prognostic biomarker for colorectal cancer (CRC), although its predictive reliability remains inconsistent across studies.  </a:t>
            </a:r>
            <a:endParaRPr lang="en-US" sz="1200" dirty="0"/>
          </a:p>
          <a:p>
            <a:pPr indent="0" marL="0">
              <a:lnSpc>
                <a:spcPct val="150000"/>
              </a:lnSpc>
              <a:buNone/>
            </a:pPr>
            <a:r>
              <a:rPr lang="en-US" sz="1200" dirty="0">
                <a:solidFill>
                  <a:srgbClr val="FFFFFF"/>
                </a:solidFill>
              </a:rPr>
              <a:t>   系統免疫炎症指數（SII）已成為大腸癌（CRC）潛在的預後生物標記，儘管其預測可靠性在不同研究中仍不一致。</a:t>
            </a:r>
            <a:endParaRPr lang="en-US" sz="1200" dirty="0"/>
          </a:p>
          <a:p>
            <a:pPr indent="0" marL="0">
              <a:lnSpc>
                <a:spcPct val="150000"/>
              </a:lnSpc>
              <a:buNone/>
            </a:pPr>
            <a:endParaRPr lang="en-US" sz="1200" dirty="0"/>
          </a:p>
          <a:p>
            <a:pPr indent="0" marL="0">
              <a:lnSpc>
                <a:spcPct val="150000"/>
              </a:lnSpc>
              <a:buNone/>
            </a:pPr>
            <a:r>
              <a:rPr lang="en-US" sz="1200" dirty="0">
                <a:solidFill>
                  <a:srgbClr val="FFFFFF"/>
                </a:solidFill>
              </a:rPr>
              <a:t>2. **炎症與腫瘤進展的關聯**  </a:t>
            </a:r>
            <a:endParaRPr lang="en-US" sz="1200" dirty="0"/>
          </a:p>
          <a:p>
            <a:pPr indent="0" marL="0">
              <a:lnSpc>
                <a:spcPct val="150000"/>
              </a:lnSpc>
              <a:buNone/>
            </a:pPr>
            <a:r>
              <a:rPr lang="en-US" sz="1200" dirty="0">
                <a:solidFill>
                  <a:srgbClr val="FFFFFF"/>
                </a:solidFill>
              </a:rPr>
              <a:t>   Chronic inflammation plays a significant role in colorectal cancer progression, highlighting the need for further exploration of inflammatory markers and their therapeutic implications.  </a:t>
            </a:r>
            <a:endParaRPr lang="en-US" sz="1200" dirty="0"/>
          </a:p>
          <a:p>
            <a:pPr indent="0" marL="0">
              <a:lnSpc>
                <a:spcPct val="150000"/>
              </a:lnSpc>
              <a:buNone/>
            </a:pPr>
            <a:r>
              <a:rPr lang="en-US" sz="1200" dirty="0">
                <a:solidFill>
                  <a:srgbClr val="FFFFFF"/>
                </a:solidFill>
              </a:rPr>
              <a:t>   慢性炎症在大腸癌進展中扮演重要角色，強調需要進一步探索炎症標記及其治療意涵。</a:t>
            </a:r>
            <a:endParaRPr lang="en-US" sz="1200" dirty="0"/>
          </a:p>
          <a:p>
            <a:pPr indent="0" marL="0">
              <a:lnSpc>
                <a:spcPct val="150000"/>
              </a:lnSpc>
              <a:buNone/>
            </a:pPr>
            <a:endParaRPr lang="en-US" sz="1200" dirty="0"/>
          </a:p>
          <a:p>
            <a:pPr indent="0" marL="0">
              <a:lnSpc>
                <a:spcPct val="150000"/>
              </a:lnSpc>
              <a:buNone/>
            </a:pPr>
            <a:r>
              <a:rPr lang="en-US" sz="1200" dirty="0">
                <a:solidFill>
                  <a:srgbClr val="FFFFFF"/>
                </a:solidFill>
              </a:rPr>
              <a:t>3. **微生物群與腫瘤微環境的相互作用**  </a:t>
            </a:r>
            <a:endParaRPr lang="en-US" sz="1200" dirty="0"/>
          </a:p>
          <a:p>
            <a:pPr indent="0" marL="0">
              <a:lnSpc>
                <a:spcPct val="150000"/>
              </a:lnSpc>
              <a:buNone/>
            </a:pPr>
            <a:r>
              <a:rPr lang="en-US" sz="1200" dirty="0">
                <a:solidFill>
                  <a:srgbClr val="FFFFFF"/>
                </a:solidFill>
              </a:rPr>
              <a:t>   The interaction between gut microbiota and the tumor microenvironment is crucial in CRC, suggesting that microbiome-targeted therapies could be a promising avenue for treatment.  </a:t>
            </a:r>
            <a:endParaRPr lang="en-US" sz="1200" dirty="0"/>
          </a:p>
          <a:p>
            <a:pPr indent="0" marL="0">
              <a:lnSpc>
                <a:spcPct val="150000"/>
              </a:lnSpc>
              <a:buNone/>
            </a:pPr>
            <a:r>
              <a:rPr lang="en-US" sz="1200" dirty="0">
                <a:solidFill>
                  <a:srgbClr val="FFFFFF"/>
                </a:solidFill>
              </a:rPr>
              <a:t>   腸道微生物群與腫瘤微環境之間的相互作用在大腸癌中至關重要，這表明以微生物群為目標的治療可能是有前景的途徑。</a:t>
            </a:r>
            <a:endParaRPr lang="en-US" sz="1200" dirty="0"/>
          </a:p>
          <a:p>
            <a:pPr indent="0" marL="0">
              <a:lnSpc>
                <a:spcPct val="150000"/>
              </a:lnSpc>
              <a:buNone/>
            </a:pPr>
            <a:endParaRPr lang="en-US" sz="1200" dirty="0"/>
          </a:p>
          <a:p>
            <a:pPr indent="0" marL="0">
              <a:lnSpc>
                <a:spcPct val="150000"/>
              </a:lnSpc>
              <a:buNone/>
            </a:pPr>
            <a:r>
              <a:rPr lang="en-US" sz="1200" dirty="0">
                <a:solidFill>
                  <a:srgbClr val="FFFFFF"/>
                </a:solidFill>
              </a:rPr>
              <a:t>4. **新型納米藥物的潛力**  </a:t>
            </a:r>
            <a:endParaRPr lang="en-US" sz="1200" dirty="0"/>
          </a:p>
          <a:p>
            <a:pPr indent="0" marL="0">
              <a:lnSpc>
                <a:spcPct val="150000"/>
              </a:lnSpc>
              <a:buNone/>
            </a:pPr>
            <a:r>
              <a:rPr lang="en-US" sz="1200" dirty="0">
                <a:solidFill>
                  <a:srgbClr val="FFFFFF"/>
                </a:solidFill>
              </a:rPr>
              <a:t>   Hybrid nanoparticles that target both tumor suppression and iron homeostasis show promise in treating CRC and associated anemia, indicating a shift towards multifunctional therapeutic strategies.  </a:t>
            </a:r>
            <a:endParaRPr lang="en-US" sz="1200" dirty="0"/>
          </a:p>
          <a:p>
            <a:pPr indent="0" marL="0">
              <a:lnSpc>
                <a:spcPct val="150000"/>
              </a:lnSpc>
              <a:buNone/>
            </a:pPr>
            <a:r>
              <a:rPr lang="en-US" sz="1200" dirty="0">
                <a:solidFill>
                  <a:srgbClr val="FFFFFF"/>
                </a:solidFill>
              </a:rPr>
              <a:t>   針對腫瘤抑制和鐵穩態的混合納米藥物在治療大腸癌及相關貧血方面顯示出潛力，表明治療策略正向多功能化轉變。</a:t>
            </a:r>
            <a:endParaRPr lang="en-US" sz="1200" dirty="0"/>
          </a:p>
          <a:p>
            <a:pPr indent="0" marL="0">
              <a:lnSpc>
                <a:spcPct val="150000"/>
              </a:lnSpc>
              <a:buNone/>
            </a:pPr>
            <a:endParaRPr lang="en-US" sz="1200" dirty="0"/>
          </a:p>
          <a:p>
            <a:pPr indent="0" marL="0">
              <a:lnSpc>
                <a:spcPct val="150000"/>
              </a:lnSpc>
              <a:buNone/>
            </a:pPr>
            <a:r>
              <a:rPr lang="en-US" sz="1200" dirty="0">
                <a:solidFill>
                  <a:srgbClr val="FFFFFF"/>
                </a:solidFill>
              </a:rPr>
              <a:t>5. **免疫逃逸機制的研究**  </a:t>
            </a:r>
            <a:endParaRPr lang="en-US" sz="1200" dirty="0"/>
          </a:p>
          <a:p>
            <a:pPr indent="0" marL="0">
              <a:lnSpc>
                <a:spcPct val="150000"/>
              </a:lnSpc>
              <a:buNone/>
            </a:pPr>
            <a:r>
              <a:rPr lang="en-US" sz="1200" dirty="0">
                <a:solidFill>
                  <a:srgbClr val="FFFFFF"/>
                </a:solidFill>
              </a:rPr>
              <a:t>   Understanding the mechanisms of immune evasion in CRC, particularly through pathways involving macrophages and tumor microenvironments, is critical for developing effective immunotherapies.</a:t>
            </a:r>
            <a:endParaRPr lang="en-US" sz="12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1E3A5F"/>
        </a:solidFill>
      </p:bgPr>
    </p:bg>
    <p:spTree>
      <p:nvGrpSpPr>
        <p:cNvPr id="1" name=""/>
        <p:cNvGrpSpPr/>
        <p:nvPr/>
      </p:nvGrpSpPr>
      <p:grpSpPr>
        <a:xfrm>
          <a:off x="0" y="0"/>
          <a:ext cx="0" cy="0"/>
          <a:chOff x="0" y="0"/>
          <a:chExt cx="0" cy="0"/>
        </a:xfrm>
      </p:grpSpPr>
      <p:sp>
        <p:nvSpPr>
          <p:cNvPr id="2" name="Text 0"/>
          <p:cNvSpPr/>
          <p:nvPr/>
        </p:nvSpPr>
        <p:spPr>
          <a:xfrm>
            <a:off x="731520" y="365760"/>
            <a:ext cx="5486400" cy="0"/>
          </a:xfrm>
          <a:prstGeom prst="rect">
            <a:avLst/>
          </a:prstGeom>
          <a:noFill/>
          <a:ln/>
        </p:spPr>
        <p:txBody>
          <a:bodyPr wrap="square" lIns="0" tIns="0" rIns="0" bIns="0" rtlCol="0" anchor="ctr"/>
          <a:lstStyle/>
          <a:p>
            <a:pPr indent="0" marL="0">
              <a:buNone/>
            </a:pPr>
            <a:r>
              <a:rPr lang="en-US" sz="900" spc="600" kern="0" dirty="0">
                <a:solidFill>
                  <a:srgbClr val="888888"/>
                </a:solidFill>
              </a:rPr>
              <a:t>SYNTHESIS</a:t>
            </a:r>
            <a:endParaRPr lang="en-US" sz="900" dirty="0"/>
          </a:p>
        </p:txBody>
      </p:sp>
      <p:sp>
        <p:nvSpPr>
          <p:cNvPr id="3" name="Text 1"/>
          <p:cNvSpPr/>
          <p:nvPr/>
        </p:nvSpPr>
        <p:spPr>
          <a:xfrm>
            <a:off x="731520" y="822960"/>
            <a:ext cx="10058400" cy="0"/>
          </a:xfrm>
          <a:prstGeom prst="rect">
            <a:avLst/>
          </a:prstGeom>
          <a:noFill/>
          <a:ln/>
        </p:spPr>
        <p:txBody>
          <a:bodyPr wrap="square" lIns="0" tIns="0" rIns="0" bIns="0" rtlCol="0" anchor="ctr"/>
          <a:lstStyle/>
          <a:p>
            <a:pPr indent="0" marL="0">
              <a:buNone/>
            </a:pPr>
            <a:r>
              <a:rPr lang="en-US" sz="2400" b="1" dirty="0">
                <a:solidFill>
                  <a:srgbClr val="FFFFFF"/>
                </a:solidFill>
                <a:latin typeface="Arial" pitchFamily="34" charset="0"/>
                <a:ea typeface="Arial" pitchFamily="34" charset="-122"/>
                <a:cs typeface="Arial" pitchFamily="34" charset="-120"/>
              </a:rPr>
              <a:t>Future Directions (2/2)</a:t>
            </a:r>
            <a:endParaRPr lang="en-US" sz="2400" dirty="0"/>
          </a:p>
        </p:txBody>
      </p:sp>
      <p:sp>
        <p:nvSpPr>
          <p:cNvPr id="4" name="Text 2"/>
          <p:cNvSpPr/>
          <p:nvPr/>
        </p:nvSpPr>
        <p:spPr>
          <a:xfrm>
            <a:off x="731520" y="1463040"/>
            <a:ext cx="10515600" cy="0"/>
          </a:xfrm>
          <a:prstGeom prst="rect">
            <a:avLst/>
          </a:prstGeom>
          <a:noFill/>
          <a:ln/>
        </p:spPr>
        <p:txBody>
          <a:bodyPr wrap="square" rtlCol="0" anchor="ctr"/>
          <a:lstStyle/>
          <a:p>
            <a:pPr indent="0" marL="0">
              <a:lnSpc>
                <a:spcPct val="150000"/>
              </a:lnSpc>
              <a:buNone/>
            </a:pPr>
            <a:r>
              <a:rPr lang="en-US" sz="1200" dirty="0">
                <a:solidFill>
                  <a:srgbClr val="FFFFFF"/>
                </a:solidFill>
              </a:rPr>
              <a:t>理解大腸癌中免疫逃逸的機制，特別是涉及巨噬細胞和腫瘤微環境的途徑，對於開發有效的免疫療法至關重要。</a:t>
            </a:r>
            <a:endParaRPr lang="en-US" sz="1200" dirty="0"/>
          </a:p>
          <a:p>
            <a:pPr indent="0" marL="0">
              <a:lnSpc>
                <a:spcPct val="150000"/>
              </a:lnSpc>
              <a:buNone/>
            </a:pPr>
            <a:endParaRPr lang="en-US" sz="1200" dirty="0"/>
          </a:p>
          <a:p>
            <a:pPr indent="0" marL="0">
              <a:lnSpc>
                <a:spcPct val="150000"/>
              </a:lnSpc>
              <a:buNone/>
            </a:pPr>
            <a:r>
              <a:rPr lang="en-US" sz="1200" dirty="0">
                <a:solidFill>
                  <a:srgbClr val="FFFFFF"/>
                </a:solidFill>
              </a:rPr>
              <a:t>### 未來研究方向 (Future Research Directions)</a:t>
            </a:r>
            <a:endParaRPr lang="en-US" sz="1200" dirty="0"/>
          </a:p>
          <a:p>
            <a:pPr indent="0" marL="0">
              <a:lnSpc>
                <a:spcPct val="150000"/>
              </a:lnSpc>
              <a:buNone/>
            </a:pPr>
            <a:endParaRPr lang="en-US" sz="1200" dirty="0"/>
          </a:p>
          <a:p>
            <a:pPr indent="0" marL="0">
              <a:lnSpc>
                <a:spcPct val="150000"/>
              </a:lnSpc>
              <a:buNone/>
            </a:pPr>
            <a:r>
              <a:rPr lang="en-US" sz="1200" dirty="0">
                <a:solidFill>
                  <a:srgbClr val="FFFFFF"/>
                </a:solidFill>
              </a:rPr>
              <a:t>1. **標準化SII的應用**  </a:t>
            </a:r>
            <a:endParaRPr lang="en-US" sz="1200" dirty="0"/>
          </a:p>
          <a:p>
            <a:pPr indent="0" marL="0">
              <a:lnSpc>
                <a:spcPct val="150000"/>
              </a:lnSpc>
              <a:buNone/>
            </a:pPr>
            <a:r>
              <a:rPr lang="en-US" sz="1200" dirty="0">
                <a:solidFill>
                  <a:srgbClr val="FFFFFF"/>
                </a:solidFill>
              </a:rPr>
              <a:t>   Future studies should focus on standardizing the application of the systemic immune-inflammation index (SII) in clinical settings to improve its prognostic accuracy in CRC.  </a:t>
            </a:r>
            <a:endParaRPr lang="en-US" sz="1200" dirty="0"/>
          </a:p>
          <a:p>
            <a:pPr indent="0" marL="0">
              <a:lnSpc>
                <a:spcPct val="150000"/>
              </a:lnSpc>
              <a:buNone/>
            </a:pPr>
            <a:r>
              <a:rPr lang="en-US" sz="1200" dirty="0">
                <a:solidFill>
                  <a:srgbClr val="FFFFFF"/>
                </a:solidFill>
              </a:rPr>
              <a:t>   未來研究應專注於標準化系統免疫炎症指數（SII）在臨床環境中的應用，以提高其在大腸癌中的預後準確性。</a:t>
            </a:r>
            <a:endParaRPr lang="en-US" sz="1200" dirty="0"/>
          </a:p>
          <a:p>
            <a:pPr indent="0" marL="0">
              <a:lnSpc>
                <a:spcPct val="150000"/>
              </a:lnSpc>
              <a:buNone/>
            </a:pPr>
            <a:endParaRPr lang="en-US" sz="1200" dirty="0"/>
          </a:p>
          <a:p>
            <a:pPr indent="0" marL="0">
              <a:lnSpc>
                <a:spcPct val="150000"/>
              </a:lnSpc>
              <a:buNone/>
            </a:pPr>
            <a:r>
              <a:rPr lang="en-US" sz="1200" dirty="0">
                <a:solidFill>
                  <a:srgbClr val="FFFFFF"/>
                </a:solidFill>
              </a:rPr>
              <a:t>2. **炎症標記的臨床應用**  </a:t>
            </a:r>
            <a:endParaRPr lang="en-US" sz="1200" dirty="0"/>
          </a:p>
          <a:p>
            <a:pPr indent="0" marL="0">
              <a:lnSpc>
                <a:spcPct val="150000"/>
              </a:lnSpc>
              <a:buNone/>
            </a:pPr>
            <a:r>
              <a:rPr lang="en-US" sz="1200" dirty="0">
                <a:solidFill>
                  <a:srgbClr val="FFFFFF"/>
                </a:solidFill>
              </a:rPr>
              <a:t>   Investigating the clinical utility of various inflammatory markers could provide insights into personalized treatment strategies for CRC patients.  </a:t>
            </a:r>
            <a:endParaRPr lang="en-US" sz="1200" dirty="0"/>
          </a:p>
          <a:p>
            <a:pPr indent="0" marL="0">
              <a:lnSpc>
                <a:spcPct val="150000"/>
              </a:lnSpc>
              <a:buNone/>
            </a:pPr>
            <a:r>
              <a:rPr lang="en-US" sz="1200" dirty="0">
                <a:solidFill>
                  <a:srgbClr val="FFFFFF"/>
                </a:solidFill>
              </a:rPr>
              <a:t>   探索各種炎症標記的臨床應用可能為大腸癌患者提供個性化治療策略的見解。</a:t>
            </a:r>
            <a:endParaRPr lang="en-US" sz="1200" dirty="0"/>
          </a:p>
          <a:p>
            <a:pPr indent="0" marL="0">
              <a:lnSpc>
                <a:spcPct val="150000"/>
              </a:lnSpc>
              <a:buNone/>
            </a:pPr>
            <a:endParaRPr lang="en-US" sz="1200" dirty="0"/>
          </a:p>
          <a:p>
            <a:pPr indent="0" marL="0">
              <a:lnSpc>
                <a:spcPct val="150000"/>
              </a:lnSpc>
              <a:buNone/>
            </a:pPr>
            <a:r>
              <a:rPr lang="en-US" sz="1200" dirty="0">
                <a:solidFill>
                  <a:srgbClr val="FFFFFF"/>
                </a:solidFill>
              </a:rPr>
              <a:t>3. **微生物群介入研究**  </a:t>
            </a:r>
            <a:endParaRPr lang="en-US" sz="1200" dirty="0"/>
          </a:p>
          <a:p>
            <a:pPr indent="0" marL="0">
              <a:lnSpc>
                <a:spcPct val="150000"/>
              </a:lnSpc>
              <a:buNone/>
            </a:pPr>
            <a:r>
              <a:rPr lang="en-US" sz="1200" dirty="0">
                <a:solidFill>
                  <a:srgbClr val="FFFFFF"/>
                </a:solidFill>
              </a:rPr>
              <a:t>   Research should aim to elucidate the therapeutic potential of modulating gut microbiota as a complementary approach to existing CRC therapies.  </a:t>
            </a:r>
            <a:endParaRPr lang="en-US" sz="1200" dirty="0"/>
          </a:p>
          <a:p>
            <a:pPr indent="0" marL="0">
              <a:lnSpc>
                <a:spcPct val="150000"/>
              </a:lnSpc>
              <a:buNone/>
            </a:pPr>
            <a:r>
              <a:rPr lang="en-US" sz="1200" dirty="0">
                <a:solidFill>
                  <a:srgbClr val="FFFFFF"/>
                </a:solidFill>
              </a:rPr>
              <a:t>   研究應旨在闡明調節腸道微生物群的治療潛力，作為現有大腸癌療法的補充方法。</a:t>
            </a:r>
            <a:endParaRPr lang="en-US" sz="1200" dirty="0"/>
          </a:p>
          <a:p>
            <a:pPr indent="0" marL="0">
              <a:lnSpc>
                <a:spcPct val="150000"/>
              </a:lnSpc>
              <a:buNone/>
            </a:pPr>
            <a:endParaRPr lang="en-US" sz="1200" dirty="0"/>
          </a:p>
          <a:p>
            <a:pPr indent="0" marL="0">
              <a:lnSpc>
                <a:spcPct val="150000"/>
              </a:lnSpc>
              <a:buNone/>
            </a:pPr>
            <a:r>
              <a:rPr lang="en-US" sz="1200" dirty="0">
                <a:solidFill>
                  <a:srgbClr val="FFFFFF"/>
                </a:solidFill>
              </a:rPr>
              <a:t>4. **納米技術在治療中的應用**  </a:t>
            </a:r>
            <a:endParaRPr lang="en-US" sz="1200" dirty="0"/>
          </a:p>
          <a:p>
            <a:pPr indent="0" marL="0">
              <a:lnSpc>
                <a:spcPct val="150000"/>
              </a:lnSpc>
              <a:buNone/>
            </a:pPr>
            <a:r>
              <a:rPr lang="en-US" sz="1200" dirty="0">
                <a:solidFill>
                  <a:srgbClr val="FFFFFF"/>
                </a:solidFill>
              </a:rPr>
              <a:t>   Further exploration of hybrid nanoparticles for targeted drug delivery in CRC treatment could enhance therapeutic efficacy and minimize side effects.  </a:t>
            </a:r>
            <a:endParaRPr lang="en-US" sz="1200" dirty="0"/>
          </a:p>
          <a:p>
            <a:pPr indent="0" marL="0">
              <a:lnSpc>
                <a:spcPct val="150000"/>
              </a:lnSpc>
              <a:buNone/>
            </a:pPr>
            <a:r>
              <a:rPr lang="en-US" sz="1200" dirty="0">
                <a:solidFill>
                  <a:srgbClr val="FFFFFF"/>
                </a:solidFill>
              </a:rPr>
              <a:t>   進一步探索混合納米藥物在大腸癌治療中的靶向藥物傳遞應用，可能提高治療效果並最小化副作用。</a:t>
            </a:r>
            <a:endParaRPr lang="en-US" sz="1200" dirty="0"/>
          </a:p>
          <a:p>
            <a:pPr indent="0" marL="0">
              <a:lnSpc>
                <a:spcPct val="150000"/>
              </a:lnSpc>
              <a:buNone/>
            </a:pPr>
            <a:endParaRPr lang="en-US" sz="1200" dirty="0"/>
          </a:p>
          <a:p>
            <a:pPr indent="0" marL="0">
              <a:lnSpc>
                <a:spcPct val="150000"/>
              </a:lnSpc>
              <a:buNone/>
            </a:pPr>
            <a:r>
              <a:rPr lang="en-US" sz="1200" dirty="0">
                <a:solidFill>
                  <a:srgbClr val="FFFFFF"/>
                </a:solidFill>
              </a:rPr>
              <a:t>5. **免疫療法的機制研究**  </a:t>
            </a:r>
            <a:endParaRPr lang="en-US" sz="1200" dirty="0"/>
          </a:p>
          <a:p>
            <a:pPr indent="0" marL="0">
              <a:lnSpc>
                <a:spcPct val="150000"/>
              </a:lnSpc>
              <a:buNone/>
            </a:pPr>
            <a:r>
              <a:rPr lang="en-US" sz="1200" dirty="0">
                <a:solidFill>
                  <a:srgbClr val="FFFFFF"/>
                </a:solidFill>
              </a:rPr>
              <a:t>   Continued investigation into the mechanisms of immune resistance in CRC, particularly in relation to macrophage dynamics, will be essential for advancing immunotherapy approaches.  </a:t>
            </a:r>
            <a:endParaRPr lang="en-US" sz="1200" dirty="0"/>
          </a:p>
          <a:p>
            <a:pPr indent="0" marL="0">
              <a:lnSpc>
                <a:spcPct val="150000"/>
              </a:lnSpc>
              <a:buNone/>
            </a:pPr>
            <a:r>
              <a:rPr lang="en-US" sz="1200" dirty="0">
                <a:solidFill>
                  <a:srgbClr val="FFFFFF"/>
                </a:solidFill>
              </a:rPr>
              <a:t>   持續研究大腸癌中免疫抵抗的機制，特別是與巨噬細胞動態相關的機制，對於推進免疫療法方法至關重要。</a:t>
            </a:r>
            <a:endParaRPr lang="en-US" sz="12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1A1A2E"/>
        </a:solidFill>
      </p:bgPr>
    </p:bg>
    <p:spTree>
      <p:nvGrpSpPr>
        <p:cNvPr id="1" name=""/>
        <p:cNvGrpSpPr/>
        <p:nvPr/>
      </p:nvGrpSpPr>
      <p:grpSpPr>
        <a:xfrm>
          <a:off x="0" y="0"/>
          <a:ext cx="0" cy="0"/>
          <a:chOff x="0" y="0"/>
          <a:chExt cx="0" cy="0"/>
        </a:xfrm>
      </p:grpSpPr>
      <p:sp>
        <p:nvSpPr>
          <p:cNvPr id="2" name="Text 0"/>
          <p:cNvSpPr/>
          <p:nvPr/>
        </p:nvSpPr>
        <p:spPr>
          <a:xfrm>
            <a:off x="731520" y="2286000"/>
            <a:ext cx="10058400" cy="0"/>
          </a:xfrm>
          <a:prstGeom prst="rect">
            <a:avLst/>
          </a:prstGeom>
          <a:noFill/>
          <a:ln/>
        </p:spPr>
        <p:txBody>
          <a:bodyPr wrap="square" lIns="0" tIns="0" rIns="0" bIns="0" rtlCol="0" anchor="ctr"/>
          <a:lstStyle/>
          <a:p>
            <a:pPr indent="0" marL="0">
              <a:buNone/>
            </a:pPr>
            <a:r>
              <a:rPr lang="en-US" sz="4800" b="1" dirty="0">
                <a:solidFill>
                  <a:srgbClr val="FFFFFF"/>
                </a:solidFill>
                <a:latin typeface="Arial" pitchFamily="34" charset="0"/>
                <a:ea typeface="Arial" pitchFamily="34" charset="-122"/>
                <a:cs typeface="Arial" pitchFamily="34" charset="-120"/>
              </a:rPr>
              <a:t>Thank You</a:t>
            </a:r>
            <a:endParaRPr lang="en-US" sz="4800" dirty="0"/>
          </a:p>
        </p:txBody>
      </p:sp>
      <p:sp>
        <p:nvSpPr>
          <p:cNvPr id="3" name="Text 1"/>
          <p:cNvSpPr/>
          <p:nvPr/>
        </p:nvSpPr>
        <p:spPr>
          <a:xfrm>
            <a:off x="731520" y="3931920"/>
            <a:ext cx="10058400" cy="0"/>
          </a:xfrm>
          <a:prstGeom prst="rect">
            <a:avLst/>
          </a:prstGeom>
          <a:noFill/>
          <a:ln/>
        </p:spPr>
        <p:txBody>
          <a:bodyPr wrap="square" lIns="0" tIns="0" rIns="0" bIns="0" rtlCol="0" anchor="ctr"/>
          <a:lstStyle/>
          <a:p>
            <a:pPr indent="0" marL="0">
              <a:buNone/>
            </a:pPr>
            <a:r>
              <a:rPr lang="en-US" sz="1100" dirty="0">
                <a:solidFill>
                  <a:srgbClr val="888888"/>
                </a:solidFill>
              </a:rPr>
              <a:t>Colorectal Surgery Weekly Digest</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Colorectal Surgery Weekly Digest</dc:title>
  <dc:subject>PptxGenJS Presentation</dc:subject>
  <dc:creator>Colorectal Weekly Digest</dc:creator>
  <cp:lastModifiedBy>Colorectal Weekly Digest</cp:lastModifiedBy>
  <cp:revision>1</cp:revision>
  <dcterms:created xsi:type="dcterms:W3CDTF">2026-08-24T02:22:49Z</dcterms:created>
  <dcterms:modified xsi:type="dcterms:W3CDTF">2026-08-24T02:22:49Z</dcterms:modified>
</cp:coreProperties>
</file>