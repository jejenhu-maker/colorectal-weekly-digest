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16/j.jep.2026.121264" TargetMode="External"/><Relationship Id="rId2" Type="http://schemas.openxmlformats.org/officeDocument/2006/relationships/hyperlink" Target="https://doi.org/10.1016/j.jep.2026.121264"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58/2326-6066.CIR-25-0388" TargetMode="External"/><Relationship Id="rId2" Type="http://schemas.openxmlformats.org/officeDocument/2006/relationships/hyperlink" Target="https://doi.org/10.1158/2326-6066.CIR-25-0388"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07/s10637-026-01611-5" TargetMode="External"/><Relationship Id="rId2" Type="http://schemas.openxmlformats.org/officeDocument/2006/relationships/hyperlink" Target="https://doi.org/10.1007/s10637-026-01611-5"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16/j.ijpharm.2026.126859" TargetMode="External"/><Relationship Id="rId2" Type="http://schemas.openxmlformats.org/officeDocument/2006/relationships/hyperlink" Target="https://doi.org/10.1016/j.ijpharm.2026.126859"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38/s41598-026-44715-x" TargetMode="External"/><Relationship Id="rId2" Type="http://schemas.openxmlformats.org/officeDocument/2006/relationships/hyperlink" Target="https://doi.org/10.1038/s41598-026-44715-x"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21/acs.jafc.5c17778" TargetMode="External"/><Relationship Id="rId2" Type="http://schemas.openxmlformats.org/officeDocument/2006/relationships/hyperlink" Target="https://doi.org/10.1021/acs.jafc.5c17778"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2026-04-20 — 2026-04-27</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Network pharmacology integrated with multi-omics demonstrates that Wumei Wan mod…</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Low inflammation correlates with protumor Tim4+TREM1+ resident macrophage expans…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Spatial blueprint of colorectal cancer identifies Hypoxic CAF program that orche…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Curcumin-loaded extracellular vesicles derived from lactic acid bacteria for all…</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Multi-analytical and biological insights into Malcolmia grandiflora Kuntze.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Gastroprotective [6]-Gingerol Aspirinate as a Novel Aspirin-Derived Chemoprevent…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Parasutterella excrementihominis role in colitis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NETosis activation contributes to inflammation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Link between colitis and colorectal cancer</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Hyperthermic intraperitoneal chemotherapy (HIPEC)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Effectiveness in advanced colorectal cancer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Prognostic biomarker for colorectal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Meta-analysis of existing studies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associated with patient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clinical application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Limited awareness of colorectal cancer risk</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better patient education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Current management practices are insufficient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Network pharmacology integrated with multi-omics demonstrates that Wumei Wan modulates the progression of colorectal cancer by regulating the focal adhesion-YAP signaling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Wumei Wan shows anti-tumor effects.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Network pharmacology identifies key targets.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FAK/Src/YAP signaling axis is crucial.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Multi-omics reveals inflammation modulation.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Molecular docking suggests stable interactions.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Yang Shusen, Wang Min, Liu Siyue et al.. Journal of ethnopharmacology. 2026-02-11 DOI: 10.1016/j.jep.2026.121264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Low inflammation correlates with protumor Tim4+TREM1+ resident macrophage expansion and limited monocyte-derived macrophage differentiation during peritoneal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immunology research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Low inflammation limits monocyte recruitment.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Tim4+ resident macrophages expand during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Protumor signatures in Tim4+ macrophages identified.</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Ferriz Margarita, Alvarez-Ladr&amp;#xf3;n Natalia, Guti&amp;#xe9;rrez-Gonz&amp;#xe1;lez Alejandra et al.. Cancer immunology research. 2026-04-23 DOI: 10.1158/2326-6066.CIR-25-0388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Spatial blueprint of colorectal cancer identifies Hypoxic CAF program that orchestrates Go-or-Grow decisions and predicts outcomes.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Investigational new drugs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Integrated single-cell and spatial transcriptomics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Identified nine microenvironmental niches in CRC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Hypoxic CAFs linked to tumor cell behavior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HMGA2 as a key transcriptional regulator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therapeutic targets for CRC intervention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Chen Mingkai, Yang Juan, Wang Jin et al.. Investigational new drugs. 2026-04-22 DOI: 10.1007/s10637-026-01611-5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Curcumin-loaded extracellular vesicles derived from lactic acid bacteria for alleviation of inflammatory bowel disease.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pharmaceutics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Curcumin-loaded EVs from LAB show promise.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L-EVs-C exhibit superior characteristics.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Treatment alleviates IBD symptoms in mice.</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Qiu Fang, Wang Baixuan, Zhang Yongjing et al.. International journal of pharmaceutics. 2026-04-23 DOI: 10.1016/j.ijpharm.2026.126859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Multi-analytical and biological insights into Malcolmia grandiflora Kuntze.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Scientific reports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Malcolmia grandiflora shows bioactive potential.</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n-hexane extract exhibits cytotoxicity against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Defatted extract inhibits COX-2 selectively.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Moderate antioxidant activity in defatted extract.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Flavonoids identified as potential CDK inhibitors.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Elwekeel Ahlam Hashem, Mohamed Enas I A, Amin Elham et al.. Scientific reports. 2026-04-21 DOI: 10.1038/s41598-026-44715-x</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Gastroprotective [6]-Gingerol Aspirinate as a Novel Aspirin-Derived Chemopreventive Agent Attenuating Colitis.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agricultural and food chemistry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GAS improves colitis symptoms significantly.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Reduces pro-inflammatory markers effectively.</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Reverses 73 DSS-altered metabolites.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Strong correlation with inflammatory cytokines.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safer chemopreventive agent.</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Lee Pei-Sheng, Zhang Shuwei, Zhu Yingdong et al.. Journal of agricultural and food chemistry. 2026-04-25 DOI: 10.1021/acs.jafc.5c17778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**腸道微生物與癌症關聯性**  </a:t>
            </a:r>
            <a:endParaRPr lang="en-US" sz="1200" dirty="0"/>
          </a:p>
          <a:p>
            <a:pPr indent="0" marL="0">
              <a:lnSpc>
                <a:spcPct val="150000"/>
              </a:lnSpc>
              <a:buNone/>
            </a:pPr>
            <a:r>
              <a:rPr lang="en-US" sz="1200" dirty="0">
                <a:solidFill>
                  <a:srgbClr val="FFFFFF"/>
                </a:solidFill>
              </a:rPr>
              <a:t>   The study of *Parasutterella excrementihominis* highlights the significant role of gut microbiota in exacerbating colitis and colorectal cancer, suggesting that microbial dysbiosis can influence disease progression.  </a:t>
            </a:r>
            <a:endParaRPr lang="en-US" sz="1200" dirty="0"/>
          </a:p>
          <a:p>
            <a:pPr indent="0" marL="0">
              <a:lnSpc>
                <a:spcPct val="150000"/>
              </a:lnSpc>
              <a:buNone/>
            </a:pPr>
            <a:r>
              <a:rPr lang="en-US" sz="1200" dirty="0">
                <a:solidFill>
                  <a:srgbClr val="FFFFFF"/>
                </a:solidFill>
              </a:rPr>
              <a:t>   *Parasutterella excrementihominis*的研究突顯了腸道微生物在加重結腸炎和結直腸癌中的重要角色，暗示微生物失調可能影響疾病進展。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**系統性免疫-炎症指數的預後價值**  </a:t>
            </a:r>
            <a:endParaRPr lang="en-US" sz="1200" dirty="0"/>
          </a:p>
          <a:p>
            <a:pPr indent="0" marL="0">
              <a:lnSpc>
                <a:spcPct val="150000"/>
              </a:lnSpc>
              <a:buNone/>
            </a:pPr>
            <a:r>
              <a:rPr lang="en-US" sz="1200" dirty="0">
                <a:solidFill>
                  <a:srgbClr val="FFFFFF"/>
                </a:solidFill>
              </a:rPr>
              <a:t>   The systemic immune-inflammation index (SII) has emerged as a promising prognostic biomarker for colorectal cancer, indicating that immune status can provide valuable insights into patient outcomes.  </a:t>
            </a:r>
            <a:endParaRPr lang="en-US" sz="1200" dirty="0"/>
          </a:p>
          <a:p>
            <a:pPr indent="0" marL="0">
              <a:lnSpc>
                <a:spcPct val="150000"/>
              </a:lnSpc>
              <a:buNone/>
            </a:pPr>
            <a:r>
              <a:rPr lang="en-US" sz="1200" dirty="0">
                <a:solidFill>
                  <a:srgbClr val="FFFFFF"/>
                </a:solidFill>
              </a:rPr>
              <a:t>   系統性免疫-炎症指數（SII）已成為結直腸癌有前景的預後生物標記，表明免疫狀態能提供患者預後的重要見解。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**傳統醫學在癌症治療中的潛力**  </a:t>
            </a:r>
            <a:endParaRPr lang="en-US" sz="1200" dirty="0"/>
          </a:p>
          <a:p>
            <a:pPr indent="0" marL="0">
              <a:lnSpc>
                <a:spcPct val="150000"/>
              </a:lnSpc>
              <a:buNone/>
            </a:pPr>
            <a:r>
              <a:rPr lang="en-US" sz="1200" dirty="0">
                <a:solidFill>
                  <a:srgbClr val="FFFFFF"/>
                </a:solidFill>
              </a:rPr>
              <a:t>   The integration of traditional Chinese medicine, such as Wumei Wan, into colorectal cancer treatment shows potential in modulating tumor progression, emphasizing the need for further exploration of holistic approaches.  </a:t>
            </a:r>
            <a:endParaRPr lang="en-US" sz="1200" dirty="0"/>
          </a:p>
          <a:p>
            <a:pPr indent="0" marL="0">
              <a:lnSpc>
                <a:spcPct val="150000"/>
              </a:lnSpc>
              <a:buNone/>
            </a:pPr>
            <a:r>
              <a:rPr lang="en-US" sz="1200" dirty="0">
                <a:solidFill>
                  <a:srgbClr val="FFFFFF"/>
                </a:solidFill>
              </a:rPr>
              <a:t>   傳統中醫如五梅丸在結直腸癌治療中的整合顯示出調節腫瘤進展的潛力，強調需要進一步探索整體治療方法。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**腫瘤微環境的空間組織**  </a:t>
            </a:r>
            <a:endParaRPr lang="en-US" sz="1200" dirty="0"/>
          </a:p>
          <a:p>
            <a:pPr indent="0" marL="0">
              <a:lnSpc>
                <a:spcPct val="150000"/>
              </a:lnSpc>
              <a:buNone/>
            </a:pPr>
            <a:r>
              <a:rPr lang="en-US" sz="1200" dirty="0">
                <a:solidFill>
                  <a:srgbClr val="FFFFFF"/>
                </a:solidFill>
              </a:rPr>
              <a:t>   Understanding the spatial organization of the tumor microenvironment (TME) is crucial for deciphering colorectal cancer progression, as it affects cellular interactions and therapeutic responses.  </a:t>
            </a:r>
            <a:endParaRPr lang="en-US" sz="1200" dirty="0"/>
          </a:p>
          <a:p>
            <a:pPr indent="0" marL="0">
              <a:lnSpc>
                <a:spcPct val="150000"/>
              </a:lnSpc>
              <a:buNone/>
            </a:pPr>
            <a:r>
              <a:rPr lang="en-US" sz="1200" dirty="0">
                <a:solidFill>
                  <a:srgbClr val="FFFFFF"/>
                </a:solidFill>
              </a:rPr>
              <a:t>   理解腫瘤微環境（TME）的空間組織對於解讀結直腸癌進展至關重要，因為它影響細胞間的相互作用和治療反應。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**炎症性腸病患者的癌症風險認識**  </a:t>
            </a:r>
            <a:endParaRPr lang="en-US" sz="1200" dirty="0"/>
          </a:p>
          <a:p>
            <a:pPr indent="0" marL="0">
              <a:lnSpc>
                <a:spcPct val="150000"/>
              </a:lnSpc>
              <a:buNone/>
            </a:pPr>
            <a:r>
              <a:rPr lang="en-US" sz="1200" dirty="0">
                <a:solidFill>
                  <a:srgbClr val="FFFFFF"/>
                </a:solidFill>
              </a:rPr>
              <a:t>   There is a critical gap in awareness regarding the colorectal cancer risk among patients with inflammatory bowel disease, highlighting the need for improved education and management strategies.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為炎症性腸病患者對結直腸癌風險的認識存在重大缺口，強調需要改善教育和管理策略。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**微生物組與癌症機制的深入研究**  </a:t>
            </a:r>
            <a:endParaRPr lang="en-US" sz="1200" dirty="0"/>
          </a:p>
          <a:p>
            <a:pPr indent="0" marL="0">
              <a:lnSpc>
                <a:spcPct val="150000"/>
              </a:lnSpc>
              <a:buNone/>
            </a:pPr>
            <a:r>
              <a:rPr lang="en-US" sz="1200" dirty="0">
                <a:solidFill>
                  <a:srgbClr val="FFFFFF"/>
                </a:solidFill>
              </a:rPr>
              <a:t>   Future studies should focus on elucidating the mechanisms by which gut microbiota, like *Parasutterella excrementihominis*, contribute to colitis and colorectal cancer pathogenesis.  </a:t>
            </a:r>
            <a:endParaRPr lang="en-US" sz="1200" dirty="0"/>
          </a:p>
          <a:p>
            <a:pPr indent="0" marL="0">
              <a:lnSpc>
                <a:spcPct val="150000"/>
              </a:lnSpc>
              <a:buNone/>
            </a:pPr>
            <a:r>
              <a:rPr lang="en-US" sz="1200" dirty="0">
                <a:solidFill>
                  <a:srgbClr val="FFFFFF"/>
                </a:solidFill>
              </a:rPr>
              <a:t>   未來的研究應專注於闡明腸道微生物（如*Parasutterella excrementihominis*）如何促進結腸炎和結直腸癌發病機制。</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**SII在不同階段癌症中的應用**  </a:t>
            </a:r>
            <a:endParaRPr lang="en-US" sz="1200" dirty="0"/>
          </a:p>
          <a:p>
            <a:pPr indent="0" marL="0">
              <a:lnSpc>
                <a:spcPct val="150000"/>
              </a:lnSpc>
              <a:buNone/>
            </a:pPr>
            <a:r>
              <a:rPr lang="en-US" sz="1200" dirty="0">
                <a:solidFill>
                  <a:srgbClr val="FFFFFF"/>
                </a:solidFill>
              </a:rPr>
              <a:t>   Investigating the role of SII across various stages of colorectal cancer could provide insights into its utility as a dynamic prognostic tool.  </a:t>
            </a:r>
            <a:endParaRPr lang="en-US" sz="1200" dirty="0"/>
          </a:p>
          <a:p>
            <a:pPr indent="0" marL="0">
              <a:lnSpc>
                <a:spcPct val="150000"/>
              </a:lnSpc>
              <a:buNone/>
            </a:pPr>
            <a:r>
              <a:rPr lang="en-US" sz="1200" dirty="0">
                <a:solidFill>
                  <a:srgbClr val="FFFFFF"/>
                </a:solidFill>
              </a:rPr>
              <a:t>   研究SII在不同階段結直腸癌中的作用，可能會提供其作為動態預後工具的實用性見解。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**傳統醫學與現代療法的結合**  </a:t>
            </a:r>
            <a:endParaRPr lang="en-US" sz="1200" dirty="0"/>
          </a:p>
          <a:p>
            <a:pPr indent="0" marL="0">
              <a:lnSpc>
                <a:spcPct val="150000"/>
              </a:lnSpc>
              <a:buNone/>
            </a:pPr>
            <a:r>
              <a:rPr lang="en-US" sz="1200" dirty="0">
                <a:solidFill>
                  <a:srgbClr val="FFFFFF"/>
                </a:solidFill>
              </a:rPr>
              <a:t>   Further research is needed to explore the synergistic effects of traditional Chinese medicine and modern therapies in managing colorectal cancer.  </a:t>
            </a:r>
            <a:endParaRPr lang="en-US" sz="1200" dirty="0"/>
          </a:p>
          <a:p>
            <a:pPr indent="0" marL="0">
              <a:lnSpc>
                <a:spcPct val="150000"/>
              </a:lnSpc>
              <a:buNone/>
            </a:pPr>
            <a:r>
              <a:rPr lang="en-US" sz="1200" dirty="0">
                <a:solidFill>
                  <a:srgbClr val="FFFFFF"/>
                </a:solidFill>
              </a:rPr>
              <a:t>   需要進一步研究傳統中醫與現代療法在管理結直腸癌中的協同效應。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**腫瘤微環境的治療干預**  </a:t>
            </a:r>
            <a:endParaRPr lang="en-US" sz="1200" dirty="0"/>
          </a:p>
          <a:p>
            <a:pPr indent="0" marL="0">
              <a:lnSpc>
                <a:spcPct val="150000"/>
              </a:lnSpc>
              <a:buNone/>
            </a:pPr>
            <a:r>
              <a:rPr lang="en-US" sz="1200" dirty="0">
                <a:solidFill>
                  <a:srgbClr val="FFFFFF"/>
                </a:solidFill>
              </a:rPr>
              <a:t>   Future research should investigate therapeutic strategies targeting the spatial organization of the TME to enhance treatment efficacy in colorectal cancer.  </a:t>
            </a:r>
            <a:endParaRPr lang="en-US" sz="1200" dirty="0"/>
          </a:p>
          <a:p>
            <a:pPr indent="0" marL="0">
              <a:lnSpc>
                <a:spcPct val="150000"/>
              </a:lnSpc>
              <a:buNone/>
            </a:pPr>
            <a:r>
              <a:rPr lang="en-US" sz="1200" dirty="0">
                <a:solidFill>
                  <a:srgbClr val="FFFFFF"/>
                </a:solidFill>
              </a:rPr>
              <a:t>   未來的研究應調查針對TME空間組織的治療策略，以提高結直腸癌的治療效果。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**增強患者對癌症風險的認識**  </a:t>
            </a:r>
            <a:endParaRPr lang="en-US" sz="1200" dirty="0"/>
          </a:p>
          <a:p>
            <a:pPr indent="0" marL="0">
              <a:lnSpc>
                <a:spcPct val="150000"/>
              </a:lnSpc>
              <a:buNone/>
            </a:pPr>
            <a:r>
              <a:rPr lang="en-US" sz="1200" dirty="0">
                <a:solidFill>
                  <a:srgbClr val="FFFFFF"/>
                </a:solidFill>
              </a:rPr>
              <a:t>   Developing educational programs aimed at increasing awareness of colorectal cancer risks in patients with inflammatory bowel disease is essential for better management.  </a:t>
            </a:r>
            <a:endParaRPr lang="en-US" sz="1200" dirty="0"/>
          </a:p>
          <a:p>
            <a:pPr indent="0" marL="0">
              <a:lnSpc>
                <a:spcPct val="150000"/>
              </a:lnSpc>
              <a:buNone/>
            </a:pPr>
            <a:r>
              <a:rPr lang="en-US" sz="1200" dirty="0">
                <a:solidFill>
                  <a:srgbClr val="FFFFFF"/>
                </a:solidFill>
              </a:rPr>
              <a:t>   制定旨在提高炎症性腸病患者對結直腸癌風險認識的教育計劃，對於改善管理至關重要。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2026-04-27T04:32:54Z</dcterms:created>
  <dcterms:modified xsi:type="dcterms:W3CDTF">2026-04-27T04:32:54Z</dcterms:modified>
</cp:coreProperties>
</file>