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jamanetwork.com/journals/jama/article-abstract/2846538" TargetMode="External"/><Relationship Id="rId2" Type="http://schemas.openxmlformats.org/officeDocument/2006/relationships/hyperlink" Target="https://jamanetwork.com/journals/jama/article-abstract/2846538"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link.springer.com/article/10.1186/s12957-025-04165-7" TargetMode="External"/><Relationship Id="rId2" Type="http://schemas.openxmlformats.org/officeDocument/2006/relationships/hyperlink" Target="https://link.springer.com/article/10.1186/s12957-025-04165-7"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www.frontiersin.org/journals/oncology/articles/10.3389/fonc.2026.1616016/full" TargetMode="External"/><Relationship Id="rId2" Type="http://schemas.openxmlformats.org/officeDocument/2006/relationships/hyperlink" Target="https://www.frontiersin.org/journals/oncology/articles/10.3389/fonc.2026.1616016/full"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doi.org/10.1002/fsn3.72133" TargetMode="External"/><Relationship Id="rId2" Type="http://schemas.openxmlformats.org/officeDocument/2006/relationships/hyperlink" Target="https://doi.org/10.1002/fsn3.72133"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pmc.ncbi.nlm.nih.gov/articles/PMC13027779/" TargetMode="External"/><Relationship Id="rId2" Type="http://schemas.openxmlformats.org/officeDocument/2006/relationships/hyperlink" Target="https://pmc.ncbi.nlm.nih.gov/articles/PMC13027779/"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academic.oup.com/crohnscolitis360/article-abstract/8/1/otag001/8423533" TargetMode="External"/><Relationship Id="rId2" Type="http://schemas.openxmlformats.org/officeDocument/2006/relationships/hyperlink" Target="https://academic.oup.com/crohnscolitis360/article-abstract/8/1/otag001/8423533"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doi.org/10.1177/15593258261472123" TargetMode="External"/><Relationship Id="rId2" Type="http://schemas.openxmlformats.org/officeDocument/2006/relationships/hyperlink" Target="https://doi.org/10.1177/15593258261472123"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search.proquest.com/openview/12395c79eafdeb17dbbb0d78df09e6b3/1?pq-origsite=gscholar&amp;cbl=4368360" TargetMode="External"/><Relationship Id="rId2" Type="http://schemas.openxmlformats.org/officeDocument/2006/relationships/hyperlink" Target="https://search.proquest.com/openview/12395c79eafdeb17dbbb0d78df09e6b3/1?pq-origsite=gscholar&amp;cbl=4368360"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www.mdpi.com/2072-6694/18/4/576" TargetMode="External"/><Relationship Id="rId2" Type="http://schemas.openxmlformats.org/officeDocument/2006/relationships/hyperlink" Target="https://www.mdpi.com/2072-6694/18/4/576"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www.sciencedirect.com/science/article/pii/S0731708526000312" TargetMode="External"/><Relationship Id="rId2" Type="http://schemas.openxmlformats.org/officeDocument/2006/relationships/hyperlink" Target="https://www.sciencedirect.com/science/article/pii/S0731708526000312"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95000"/>
              </a:lnSpc>
              <a:buNone/>
            </a:pPr>
            <a:r>
              <a:rPr lang="en-US" sz="4800" b="1" dirty="0">
                <a:solidFill>
                  <a:srgbClr val="FFFFFF"/>
                </a:solidFill>
                <a:latin typeface="Arial" pitchFamily="34" charset="0"/>
                <a:ea typeface="Arial" pitchFamily="34" charset="-122"/>
                <a:cs typeface="Arial" pitchFamily="34" charset="-120"/>
              </a:rPr>
              <a:t>Colorectal</a:t>
            </a:r>
            <a:endParaRPr lang="en-US" sz="4800" dirty="0"/>
          </a:p>
          <a:p>
            <a:pPr indent="0" marL="0">
              <a:lnSpc>
                <a:spcPct val="95000"/>
              </a:lnSpc>
              <a:buNone/>
            </a:pPr>
            <a:r>
              <a:rPr lang="en-US" sz="4800" b="1" dirty="0">
                <a:solidFill>
                  <a:srgbClr val="FFFFFF"/>
                </a:solidFill>
                <a:latin typeface="Arial" pitchFamily="34" charset="0"/>
                <a:ea typeface="Arial" pitchFamily="34" charset="-122"/>
                <a:cs typeface="Arial" pitchFamily="34" charset="-120"/>
              </a:rPr>
              <a:t>Surgery</a:t>
            </a:r>
            <a:endParaRPr lang="en-US" sz="48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2026-07-20 — 2026-07-27</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2563EB"/>
                </a:solidFill>
              </a:rPr>
              <a:t>10 Selected Papers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CONTENTS</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ORCHESTRA hits a sour note for debulking in metastatic colorectal cancer</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Effect of hyperthermic intraperitoneal chemotherapy on patients with advanced co…</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Prognostic value of systemic immune-inflammation index for colorectal cancer: a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Anticancer and Anti-Inflammatory Potential of Betalains: A Systematic Review on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Oxidative Stress and Inflammation in Colorectal Cancer–Redox–Immune Crosstalk, B…</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Awareness of inflammatory bowel disease-associated colorectal cancer risk and it…</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Mechanistic Insights Into Dose-Dependent Alleviation of Colorectal Cancer Throug…</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KLK7 overexpression promotes an aggressive phenotype and facilitates peritoneal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The barrier–microbiota–inflammation axis in colorectal cancer: Mechanisms and em…</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The Mechanism of Acetyl-L-Carnitine on Colorectal Cancer and Its Metabolomic Stu…</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ORCHESTRA hits a sour note for debulking in metastatic colorectal cancer</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JAMA  ·  IF 63.1</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Cytoreductive surgery evaluated in study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Hyperthermic intraperitoneal chemotherapy added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Focus on colorectal peritoneal metastases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Multicentre, randomised trial design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Results show no significant benefit</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M Fakih. JAMA.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Effect of hyperthermic intraperitoneal chemotherapy on patients with advanced colorectal cancer: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World Journal of …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Hyperthermic intraperitoneal chemotherapy (HIPEC) evaluated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Advanced colorectal cancer patients included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Systematic review and meta-analysis conducted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Improved survival rates observed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Potential for personalized treatment strategies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Z Su, Y Guo, X Ru. World Journal of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Prognostic value of systemic immune-inflammation index for colorectal cancer: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Frontiers in Oncology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Systemic immune-inflammation index (SII) evaluated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Prognostic biomarker for colorectal cancer</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Meta-analysis of existing studies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SII correlates with patient outcomes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Potential for clinical application</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P Wang, H Jiang. Frontiers in Oncology.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Anticancer and Anti-Inflammatory Potential of Betalains: A Systematic Review on Preclinical Studies.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Food science &amp; nutrition  ·  Systematic Review</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Betalains show anticancer properties.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Inhibit colorectal cancer cell growth.</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Induce apoptosis via caspase activation.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Suppress inflammatory signaling pathways.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Low risk of bias in studies.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Fatima Aroob, Sultan Muhammad Tauseef, Awlqadr Farhang Hameed et al.. Food science &amp; nutrition. 2026-07-25 DOI: 10.1002/fsn3.72133</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Oxidative Stress and Inflammation in Colorectal Cancer–Redox–Immune Crosstalk, Biomarkers, and Translational Implications: A Qualitative Systematic Review</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Life  ·  Systematic Review</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Oxidative stress links to inflammation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Redox-inflammation interplay in CRC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Potential biomarkers for CRC detection</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R Marinescu, D Marinescu, D Preda. Life.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Awareness of inflammatory bowel disease-associated colorectal cancer risk and its management in patients with inflammatory bowel disease: a systematic review</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Crohns &amp; Colitis 360  ·  Systematic Review</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Limited awareness of colorectal cancer risk</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Need for better patient education strategies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Research gaps in management practices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F Khan, C Norton, W Czuber-Dochan. Crohns &amp; Colitis 360.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Mechanistic Insights Into Dose-Dependent Alleviation of Colorectal Cancer Through Artemisinin-Loaded Mesoporous Silica Nanoparticles in 1,2-Dimethylhydrazine-Induced Albino Wistar Rats.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Dose-response : a publication of International Hormesis Society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Artemisinin-loaded MSNPs synthesized via sol-gel method.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 vivo study on DMH-induced colorectal tumors.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Significant tumor suppression at 100 mg/kg dose.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Controlled drug release observed in vitro.</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Potential for targeted colorectal cancer therapy.</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Zahid Fatima, Ilyas Umair, Zahid Sara et al.. Dose-response : a publication of International Hormesis Society. 2026-07-25 DOI: 10.1177/15593258261472123</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KLK7 overexpression promotes an aggressive phenotype and facilitates peritoneal dissemination in colorectal cancer cells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FEBS Open …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KLK7 overexpression linked to aggressive CRC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Facilitates peritoneal dissemination in cancer cells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 vitro studies confirm aggressive phenotype</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YZ Haffani, T Dreyer, M Naim. FEBS Open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 barrier–microbiota–inflammation axis in colorectal cancer: Mechanisms and emerging diagnostic &amp; therapeutic strategies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Cancers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LPS triggers pro-inflammatory cytokines secretion.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Tight junction proteins are downregulated.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Epithelial cell migration is promoted.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Microbiota influences inflammation in cancer.</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Emerging strategies for diagnosis and therapy.</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X Dong, J Yang, L He. Cancers.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 Mechanism of Acetyl-L-Carnitine on Colorectal Cancer and Its Metabolomic Study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Pharmaceutical and …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Acetyl-L-Carnitine inhibits tumor growth</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 vivo studies confirm effectiveness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Metabolomic analysis reveals mechanisms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J Ning, C Cai, X Fan. Journal of Pharmaceutical and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Overall Insights (1/2)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綜合啟示 (Overall Insights)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**新療法的潛力**  </a:t>
            </a:r>
            <a:endParaRPr lang="en-US" sz="1200" dirty="0"/>
          </a:p>
          <a:p>
            <a:pPr indent="0" marL="0">
              <a:lnSpc>
                <a:spcPct val="150000"/>
              </a:lnSpc>
              <a:buNone/>
            </a:pPr>
            <a:r>
              <a:rPr lang="en-US" sz="1200" dirty="0">
                <a:solidFill>
                  <a:srgbClr val="FFFFFF"/>
                </a:solidFill>
              </a:rPr>
              <a:t>   **The potential of novel therapies**  </a:t>
            </a:r>
            <a:endParaRPr lang="en-US" sz="1200" dirty="0"/>
          </a:p>
          <a:p>
            <a:pPr indent="0" marL="0">
              <a:lnSpc>
                <a:spcPct val="150000"/>
              </a:lnSpc>
              <a:buNone/>
            </a:pPr>
            <a:r>
              <a:rPr lang="en-US" sz="1200" dirty="0">
                <a:solidFill>
                  <a:srgbClr val="FFFFFF"/>
                </a:solidFill>
              </a:rPr>
              <a:t>   本週的研究顯示，使用超熱腹腔化學療法（HIPEC）結合細胞減少手術對於轉移性結直腸癌的患者可能不如單獨手術有效，提示需要重新評估目前的治療標準。  </a:t>
            </a:r>
            <a:endParaRPr lang="en-US" sz="1200" dirty="0"/>
          </a:p>
          <a:p>
            <a:pPr indent="0" marL="0">
              <a:lnSpc>
                <a:spcPct val="150000"/>
              </a:lnSpc>
              <a:buNone/>
            </a:pPr>
            <a:r>
              <a:rPr lang="en-US" sz="1200" dirty="0">
                <a:solidFill>
                  <a:srgbClr val="FFFFFF"/>
                </a:solidFill>
              </a:rPr>
              <a:t>   This week’s studies indicate that hyperthermic intraperitoneal chemotherapy (HIPEC) combined with cytoreductive surgery may be less effective than surgery alone for patients with metastatic colorectal cancer, suggesting a need to reevaluate current treatment standards.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**生物標記的預測價值**  </a:t>
            </a:r>
            <a:endParaRPr lang="en-US" sz="1200" dirty="0"/>
          </a:p>
          <a:p>
            <a:pPr indent="0" marL="0">
              <a:lnSpc>
                <a:spcPct val="150000"/>
              </a:lnSpc>
              <a:buNone/>
            </a:pPr>
            <a:r>
              <a:rPr lang="en-US" sz="1200" dirty="0">
                <a:solidFill>
                  <a:srgbClr val="FFFFFF"/>
                </a:solidFill>
              </a:rPr>
              <a:t>   **The prognostic value of biomarkers**  </a:t>
            </a:r>
            <a:endParaRPr lang="en-US" sz="1200" dirty="0"/>
          </a:p>
          <a:p>
            <a:pPr indent="0" marL="0">
              <a:lnSpc>
                <a:spcPct val="150000"/>
              </a:lnSpc>
              <a:buNone/>
            </a:pPr>
            <a:r>
              <a:rPr lang="en-US" sz="1200" dirty="0">
                <a:solidFill>
                  <a:srgbClr val="FFFFFF"/>
                </a:solidFill>
              </a:rPr>
              <a:t>   系統性免疫炎症指數（SII）被證實在結直腸癌中具有預測性，這為臨床上風險評估和個體化治療提供了新的指導。  </a:t>
            </a:r>
            <a:endParaRPr lang="en-US" sz="1200" dirty="0"/>
          </a:p>
          <a:p>
            <a:pPr indent="0" marL="0">
              <a:lnSpc>
                <a:spcPct val="150000"/>
              </a:lnSpc>
              <a:buNone/>
            </a:pPr>
            <a:r>
              <a:rPr lang="en-US" sz="1200" dirty="0">
                <a:solidFill>
                  <a:srgbClr val="FFFFFF"/>
                </a:solidFill>
              </a:rPr>
              <a:t>   The systemic immune-inflammation index (SII) has been validated as a prognostic marker in colorectal cancer, offering new guidance for risk assessment and personalized treatment in clinical settings.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**氧化壓力與炎症的交互作用**  </a:t>
            </a:r>
            <a:endParaRPr lang="en-US" sz="1200" dirty="0"/>
          </a:p>
          <a:p>
            <a:pPr indent="0" marL="0">
              <a:lnSpc>
                <a:spcPct val="150000"/>
              </a:lnSpc>
              <a:buNone/>
            </a:pPr>
            <a:r>
              <a:rPr lang="en-US" sz="1200" dirty="0">
                <a:solidFill>
                  <a:srgbClr val="FFFFFF"/>
                </a:solidFill>
              </a:rPr>
              <a:t>   **Crosstalk between oxidative stress and inflammation**  </a:t>
            </a:r>
            <a:endParaRPr lang="en-US" sz="1200" dirty="0"/>
          </a:p>
          <a:p>
            <a:pPr indent="0" marL="0">
              <a:lnSpc>
                <a:spcPct val="150000"/>
              </a:lnSpc>
              <a:buNone/>
            </a:pPr>
            <a:r>
              <a:rPr lang="en-US" sz="1200" dirty="0">
                <a:solidFill>
                  <a:srgbClr val="FFFFFF"/>
                </a:solidFill>
              </a:rPr>
              <a:t>   研究強調氧化壓力與炎症在結直腸癌生物學中的中心角色，這一發現可能為未來的治療策略提供新的靶點。  </a:t>
            </a:r>
            <a:endParaRPr lang="en-US" sz="1200" dirty="0"/>
          </a:p>
          <a:p>
            <a:pPr indent="0" marL="0">
              <a:lnSpc>
                <a:spcPct val="150000"/>
              </a:lnSpc>
              <a:buNone/>
            </a:pPr>
            <a:r>
              <a:rPr lang="en-US" sz="1200" dirty="0">
                <a:solidFill>
                  <a:srgbClr val="FFFFFF"/>
                </a:solidFill>
              </a:rPr>
              <a:t>   Research highlights the central role of oxidative stress and inflammation in colorectal cancer biology, which may provide new targets for future therapeutic strategies.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Future Directions (2/2)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未來研究方向 (Future Research Directions)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**個體化化療策略的發展**  </a:t>
            </a:r>
            <a:endParaRPr lang="en-US" sz="1200" dirty="0"/>
          </a:p>
          <a:p>
            <a:pPr indent="0" marL="0">
              <a:lnSpc>
                <a:spcPct val="150000"/>
              </a:lnSpc>
              <a:buNone/>
            </a:pPr>
            <a:r>
              <a:rPr lang="en-US" sz="1200" dirty="0">
                <a:solidFill>
                  <a:srgbClr val="FFFFFF"/>
                </a:solidFill>
              </a:rPr>
              <a:t>   **Development of personalized chemotherapy strategies**  </a:t>
            </a:r>
            <a:endParaRPr lang="en-US" sz="1200" dirty="0"/>
          </a:p>
          <a:p>
            <a:pPr indent="0" marL="0">
              <a:lnSpc>
                <a:spcPct val="150000"/>
              </a:lnSpc>
              <a:buNone/>
            </a:pPr>
            <a:r>
              <a:rPr lang="en-US" sz="1200" dirty="0">
                <a:solidFill>
                  <a:srgbClr val="FFFFFF"/>
                </a:solidFill>
              </a:rPr>
              <a:t>   需要進一步研究基於患者來源的器官類器官的藥物篩選平台，以制定針對結直腸癌腹膜轉移的個體化化療方案。  </a:t>
            </a:r>
            <a:endParaRPr lang="en-US" sz="1200" dirty="0"/>
          </a:p>
          <a:p>
            <a:pPr indent="0" marL="0">
              <a:lnSpc>
                <a:spcPct val="150000"/>
              </a:lnSpc>
              <a:buNone/>
            </a:pPr>
            <a:r>
              <a:rPr lang="en-US" sz="1200" dirty="0">
                <a:solidFill>
                  <a:srgbClr val="FFFFFF"/>
                </a:solidFill>
              </a:rPr>
              <a:t>   Further studies are needed to develop personalized chemotherapy strategies based on drug screening platforms using patient-derived organoids for colorectal cancer peritoneal metastases.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**炎症性腸病與結直腸癌風險的認知**  </a:t>
            </a:r>
            <a:endParaRPr lang="en-US" sz="1200" dirty="0"/>
          </a:p>
          <a:p>
            <a:pPr indent="0" marL="0">
              <a:lnSpc>
                <a:spcPct val="150000"/>
              </a:lnSpc>
              <a:buNone/>
            </a:pPr>
            <a:r>
              <a:rPr lang="en-US" sz="1200" dirty="0">
                <a:solidFill>
                  <a:srgbClr val="FFFFFF"/>
                </a:solidFill>
              </a:rPr>
              <a:t>   **Awareness of inflammatory bowel disease and colorectal cancer risk**  </a:t>
            </a:r>
            <a:endParaRPr lang="en-US" sz="1200" dirty="0"/>
          </a:p>
          <a:p>
            <a:pPr indent="0" marL="0">
              <a:lnSpc>
                <a:spcPct val="150000"/>
              </a:lnSpc>
              <a:buNone/>
            </a:pPr>
            <a:r>
              <a:rPr lang="en-US" sz="1200" dirty="0">
                <a:solidFill>
                  <a:srgbClr val="FFFFFF"/>
                </a:solidFill>
              </a:rPr>
              <a:t>   針對炎症性腸病患者對結直腸癌風險及其管理的認知進行深入調查，以促進患者教育和早期干預。  </a:t>
            </a:r>
            <a:endParaRPr lang="en-US" sz="1200" dirty="0"/>
          </a:p>
          <a:p>
            <a:pPr indent="0" marL="0">
              <a:lnSpc>
                <a:spcPct val="150000"/>
              </a:lnSpc>
              <a:buNone/>
            </a:pPr>
            <a:r>
              <a:rPr lang="en-US" sz="1200" dirty="0">
                <a:solidFill>
                  <a:srgbClr val="FFFFFF"/>
                </a:solidFill>
              </a:rPr>
              <a:t>   In-depth investigations on the awareness of colorectal cancer risk and management among patients with inflammatory bowel disease are necessary to enhance patient education and early intervention.</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**新型治療策略的探索**  </a:t>
            </a:r>
            <a:endParaRPr lang="en-US" sz="1200" dirty="0"/>
          </a:p>
          <a:p>
            <a:pPr indent="0" marL="0">
              <a:lnSpc>
                <a:spcPct val="150000"/>
              </a:lnSpc>
              <a:buNone/>
            </a:pPr>
            <a:r>
              <a:rPr lang="en-US" sz="1200" dirty="0">
                <a:solidFill>
                  <a:srgbClr val="FFFFFF"/>
                </a:solidFill>
              </a:rPr>
              <a:t>   **Exploration of novel therapeutic strategies**  </a:t>
            </a:r>
            <a:endParaRPr lang="en-US" sz="1200" dirty="0"/>
          </a:p>
          <a:p>
            <a:pPr indent="0" marL="0">
              <a:lnSpc>
                <a:spcPct val="150000"/>
              </a:lnSpc>
              <a:buNone/>
            </a:pPr>
            <a:r>
              <a:rPr lang="en-US" sz="1200" dirty="0">
                <a:solidFill>
                  <a:srgbClr val="FFFFFF"/>
                </a:solidFill>
              </a:rPr>
              <a:t>   研究如阿莫西林等新型藥物對結直腸癌的潛在療效，尤其是其在氧化壓力和炎症交互作用中的角色。  </a:t>
            </a:r>
            <a:endParaRPr lang="en-US" sz="1200" dirty="0"/>
          </a:p>
          <a:p>
            <a:pPr indent="0" marL="0">
              <a:lnSpc>
                <a:spcPct val="150000"/>
              </a:lnSpc>
              <a:buNone/>
            </a:pPr>
            <a:r>
              <a:rPr lang="en-US" sz="1200" dirty="0">
                <a:solidFill>
                  <a:srgbClr val="FFFFFF"/>
                </a:solidFill>
              </a:rPr>
              <a:t>   Investigating the potential efficacy of novel drugs such as artemisinin in colorectal cancer, particularly their roles in oxidative stress and inflammation crosstalk, is warranted.</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931920"/>
            <a:ext cx="10058400" cy="0"/>
          </a:xfrm>
          <a:prstGeom prst="rect">
            <a:avLst/>
          </a:prstGeom>
          <a:noFill/>
          <a:ln/>
        </p:spPr>
        <p:txBody>
          <a:bodyPr wrap="square" lIns="0" tIns="0" rIns="0" bIns="0" rtlCol="0" anchor="ctr"/>
          <a:lstStyle/>
          <a:p>
            <a:pPr indent="0" marL="0">
              <a:buNone/>
            </a:pPr>
            <a:r>
              <a:rPr lang="en-US" sz="1100" dirty="0">
                <a:solidFill>
                  <a:srgbClr val="888888"/>
                </a:solidFill>
              </a:rPr>
              <a:t>Colorectal Surgery Weekly Digest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Colorectal Surgery Weekly Digest</dc:title>
  <dc:subject>PptxGenJS Presentation</dc:subject>
  <dc:creator>Colorectal Weekly Digest</dc:creator>
  <cp:lastModifiedBy>Colorectal Weekly Digest</cp:lastModifiedBy>
  <cp:revision>1</cp:revision>
  <dcterms:created xsi:type="dcterms:W3CDTF">2026-07-27T04:37:11Z</dcterms:created>
  <dcterms:modified xsi:type="dcterms:W3CDTF">2026-07-27T04:37:11Z</dcterms:modified>
</cp:coreProperties>
</file>