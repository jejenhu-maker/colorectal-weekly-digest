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jamanetwork.com/journals/jama/article-abstract/2846538" TargetMode="External"/><Relationship Id="rId2" Type="http://schemas.openxmlformats.org/officeDocument/2006/relationships/hyperlink" Target="https://jamanetwork.com/journals/jama/article-abstract/2846538"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038/s41467-026-74073-1" TargetMode="External"/><Relationship Id="rId2" Type="http://schemas.openxmlformats.org/officeDocument/2006/relationships/hyperlink" Target="https://doi.org/10.1038/s41467-026-74073-1"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ut.bmj.com/content/75/5/920.abstract" TargetMode="External"/><Relationship Id="rId2" Type="http://schemas.openxmlformats.org/officeDocument/2006/relationships/hyperlink" Target="https://gut.bmj.com/content/75/5/920.abstract"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doi.org/10.1088/1748-605X/ae6ea8" TargetMode="External"/><Relationship Id="rId2" Type="http://schemas.openxmlformats.org/officeDocument/2006/relationships/hyperlink" Target="https://doi.org/10.1088/1748-605X/ae6ea8"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frontiersin.org/journals/oncology/articles/10.3389/fonc.2026.1616016/full" TargetMode="External"/><Relationship Id="rId2" Type="http://schemas.openxmlformats.org/officeDocument/2006/relationships/hyperlink" Target="https://www.frontiersin.org/journals/oncology/articles/10.3389/fonc.2026.1616016/full"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245/s10434-025-17363-0" TargetMode="External"/><Relationship Id="rId2" Type="http://schemas.openxmlformats.org/officeDocument/2006/relationships/hyperlink" Target="https://doi.org/10.1245/s10434-025-17363-0"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academic.oup.com/crohnscolitis360/article-abstract/8/1/otag001/8423533" TargetMode="External"/><Relationship Id="rId2" Type="http://schemas.openxmlformats.org/officeDocument/2006/relationships/hyperlink" Target="https://academic.oup.com/crohnscolitis360/article-abstract/8/1/otag001/8423533"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97/SLA.0000000000006625" TargetMode="External"/><Relationship Id="rId2" Type="http://schemas.openxmlformats.org/officeDocument/2006/relationships/hyperlink" Target="https://doi.org/10.1097/SLA.0000000000006625"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016/j.ejca.2026.116705" TargetMode="External"/><Relationship Id="rId2" Type="http://schemas.openxmlformats.org/officeDocument/2006/relationships/hyperlink" Target="https://doi.org/10.1016/j.ejca.2026.116705"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080/19490976.2026.2681818" TargetMode="External"/><Relationship Id="rId2" Type="http://schemas.openxmlformats.org/officeDocument/2006/relationships/hyperlink" Target="https://doi.org/10.1080/19490976.2026.2681818"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95000"/>
              </a:lnSpc>
              <a:buNone/>
            </a:pPr>
            <a:r>
              <a:rPr lang="en-US" sz="4800" b="1" dirty="0">
                <a:solidFill>
                  <a:srgbClr val="FFFFFF"/>
                </a:solidFill>
                <a:latin typeface="Arial" pitchFamily="34" charset="0"/>
                <a:ea typeface="Arial" pitchFamily="34" charset="-122"/>
                <a:cs typeface="Arial" pitchFamily="34" charset="-120"/>
              </a:rPr>
              <a:t>Colorectal</a:t>
            </a:r>
            <a:endParaRPr lang="en-US" sz="4800" dirty="0"/>
          </a:p>
          <a:p>
            <a:pPr indent="0" marL="0">
              <a:lnSpc>
                <a:spcPct val="95000"/>
              </a:lnSpc>
              <a:buNone/>
            </a:pPr>
            <a:r>
              <a:rPr lang="en-US" sz="4800" b="1" dirty="0">
                <a:solidFill>
                  <a:srgbClr val="FFFFFF"/>
                </a:solidFill>
                <a:latin typeface="Arial" pitchFamily="34" charset="0"/>
                <a:ea typeface="Arial" pitchFamily="34" charset="-122"/>
                <a:cs typeface="Arial" pitchFamily="34" charset="-120"/>
              </a:rPr>
              <a:t>Surgery</a:t>
            </a:r>
            <a:endParaRPr lang="en-US" sz="48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2026-06-01 — 2026-06-08</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2563EB"/>
                </a:solidFill>
              </a:rPr>
              <a:t>10 Selected Papers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CONTENTS</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ORCHESTRA hits a sour note for debulking in metastatic colorectal cancer</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Targeting fibroblast TXNDC5 resolves tumor desmoplasia and PD-1 resistance in co…</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Parasutterella excrementihominis exacerbates experimental colitis and colitis-as…</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Mucoadhesive patch based on chitosan hydrogel loaded with anticancer agent as th…</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systemic immune-inflammation index for colorectal cancer: a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Consensus Guideline for the Management of Colorectal Cancer with Peritoneal Meta…</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Awareness of inflammatory bowel disease-associated colorectal cancer risk and it…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Life After Pelvic Exenteration for Rectal Cancer: The Patient and Carer Perspect…</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Colon cancer with a peritumoural abscess: Real-world evidence on prognostic and …</a:t>
            </a:r>
            <a:endParaRPr lang="en-US" sz="1400" dirty="0"/>
          </a:p>
          <a:p>
            <a:pPr indent="0" marL="0">
              <a:lnSpc>
                <a:spcPct val="180000"/>
              </a:lnSpc>
              <a:buNone/>
            </a:pPr>
            <a:r>
              <a:rPr lang="en-US" sz="1400" b="1" dirty="0">
                <a:solidFill>
                  <a:srgbClr val="2563EB"/>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Genetic variants of the transporter SLC22A4 affect the abundance and survival of…</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ORCHESTRA hits a sour note for debulking in metastatic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JAMA  ·  IF 63.1</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compares two treatment approaches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Cytoreductive surgery with HIPEC</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Findings show no survival benefit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Focus on metastatic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Implications for future treatment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 Fakih. JAMA.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Targeting fibroblast TXNDC5 resolves tumor desmoplasia and PD-1 resistance in colorectal cancer with mesenchymal traits.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Nature communications  ·  IF 14.7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TXNDC5 regulates immunosuppressive niche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Enhances TGFβ signaling in fibroblasts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Fibroblast-specific Txndc5 deletion reduces tumor stiffness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Increases cytotoxic T-cell recruitment</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Sensitizes tumors to PD-1 blockade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Cheng Kai-Lin, Chen Chih-I, Yu Shu-Han et al.. Nature communications. 2026-06-05 DOI: 10.1038/s41467-026-74073-1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Parasutterella excrementihominis exacerbates experimental colitis and colitis-associated colorectal cancer via pathogenic NETosis activation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 excrementihominis worsens colitis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NETosis activation linked to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Study suggests new treatment strategies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 Tan, L Huang, J Wang. Gut.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Mucoadhesive patch based on chitosan hydrogel loaded with anticancer agent as the promising nursing care and therapy for digestive tract cancers.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Biomedical materials (Bristol, England)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Mucoadhesive drug delivery systems enhance drug retention.</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Chitosan hydrogels loaded with DOX-PLGA NPs.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pH-responsive drug release for targeted therapy.</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Meng Wei, Cheng Hui, Cao Yehua. Biomedical materials (Bristol, England). 2026-06-04 DOI: 10.1088/1748-605X/ae6ea8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systemic immune-inflammation index for colorectal cancer: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Frontiers in Oncology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Systemic immune-inflammation index (SII) evaluated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Prognostic biomarker for colorectal cancer</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Systematic review and meta-analysis conducted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SII correlates with patient outcomes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Potential for clinical application in CRC</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P Wang, H Jiang. Frontiers in Oncology.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Consensus Guideline for the Management of Colorectal Cancer with Peritoneal Metastases.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surgical oncology  ·  IF 3.8  ·  Prospective Study</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Peritoneum common site for CRC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Updated 2018 Chicago Consensus Guidelines.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 consensus on management pathways.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Early referral to PSM centers recommended.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Weak recommendation for ctDNA testing.</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Schultz Kurt S, Bansal Varun V, Wach Michael M et al.. Annals of surgical oncology. 2026-05-19 DOI: 10.1245/s10434-025-17363-0</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Awareness of inflammatory bowel disease-associated colorectal cancer risk and its management in patients with inflammatory bowel disease: a systematic review</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Crohns &amp; Colitis 360  ·  Systematic Review</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Limited knowledge on colorectal cancer risk</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Need for better patient education strategies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Importance of regular screening in IBD patients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F Khan, C Norton, W Czuber-Dochan. Crohns &amp; Colitis 360.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Life After Pelvic Exenteration for Rectal Cancer: The Patient and Carer Perspective on Long-term Consequences and Survivorship.</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Annals of surgery  ·  IF 9.4</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Pelvic exenteration for rectal cancer is standard care.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Long-term survivors face significant challenges.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Participants accepted surgery consequences for survival.</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Brown Kilian G M, White Kate, Solomon Michael J et al.. Annals of surgery. 2026-05-12 DOI: 10.1097/SLA.0000000000006625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Colon cancer with a peritumoural abscess: Real-world evidence on prognostic and therapeutic implications of a disregarded entity.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European journal of cancer (Oxford, England : 1990)  ·  IF 8.4</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CCPA diagnosed in 2.7% of patients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locoregional recurrence rate observed</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BTS approach had highest complications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Acute resection linked to peritoneal metastases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Future studies needed for treatment optimization</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Rademaker Eva, van der Woude Jannes M, van den Berg Rudolf et al.. European journal of cancer (Oxford, England : 1990). 2026-05-21 DOI: 10.1016/j.ejca.2026.116705</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KEY FINDINGS</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Genetic variants of the transporter SLC22A4 affect the abundance and survival of Fusobacterium nucleatum in colorectal cancer.</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microbes  ·  Basic Research</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SLC22A4 variants influence F. nucleatum levels.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Higher F. nucleatum/E. coli ratio in tumors.</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503F variant affects inflammatory response.</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Genetic factors shape tumor microbiota.</a:t>
            </a:r>
            <a:endParaRPr lang="en-US" sz="1800" dirty="0"/>
          </a:p>
          <a:p>
            <a:pPr marL="342900" indent="-342900">
              <a:spcAft>
                <a:spcPts val="800"/>
              </a:spcAft>
              <a:buSzPct val="100000"/>
              <a:buChar char="•"/>
            </a:pPr>
            <a:r>
              <a:rPr lang="en-US" sz="1800" dirty="0">
                <a:solidFill>
                  <a:srgbClr val="333333"/>
                </a:solidFill>
                <a:latin typeface="Arial" pitchFamily="34" charset="0"/>
                <a:ea typeface="Arial" pitchFamily="34" charset="-122"/>
                <a:cs typeface="Arial" pitchFamily="34" charset="-120"/>
              </a:rPr>
              <a:t>Innate immunity dampened in cancer cells.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Chouaibi Samah, Fertitta Veronica, Porreca Silvia et al.. Gut microbes. 2026-06-05 DOI: 10.1080/19490976.2026.2681818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2563EB"/>
                </a:solidFill>
                <a:hlinkClick r:id="rId2" invalidUrl="" action="" tgtFrame="" tooltip="" history="1" highlightClick="0" endSnd="0">
                  <a:extLst>
                    <a:ext uri="{A12FA001-AC4F-418D-AE19-62706E023703}">
                      <ahyp:hlinkClr xmlns:ahyp="http://schemas.microsoft.com/office/drawing/2018/hyperlinkcolor" val="tx"/>
                    </a:ext>
                  </a:extLst>
                </a:hlinkClick>
              </a:rPr>
              <a:t>📎 View Paper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Overall Insights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 (Overall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**新療法的潛力**  </a:t>
            </a:r>
            <a:endParaRPr lang="en-US" sz="1200" dirty="0"/>
          </a:p>
          <a:p>
            <a:pPr indent="0" marL="0">
              <a:lnSpc>
                <a:spcPct val="150000"/>
              </a:lnSpc>
              <a:buNone/>
            </a:pPr>
            <a:r>
              <a:rPr lang="en-US" sz="1200" dirty="0">
                <a:solidFill>
                  <a:srgbClr val="FFFFFF"/>
                </a:solidFill>
              </a:rPr>
              <a:t>   The integration of novel therapeutic strategies, such as targeting TXNDC5 and utilizing mucoadhesive drug delivery systems, shows promise in overcoming treatment resistance in colorectal cancer.  </a:t>
            </a:r>
            <a:endParaRPr lang="en-US" sz="1200" dirty="0"/>
          </a:p>
          <a:p>
            <a:pPr indent="0" marL="0">
              <a:lnSpc>
                <a:spcPct val="150000"/>
              </a:lnSpc>
              <a:buNone/>
            </a:pPr>
            <a:r>
              <a:rPr lang="en-US" sz="1200" dirty="0">
                <a:solidFill>
                  <a:srgbClr val="FFFFFF"/>
                </a:solidFill>
              </a:rPr>
              <a:t>   新的治療策略，如針對TXNDC5和使用黏附性藥物傳遞系統，顯示出克服結直腸癌治療抵抗的潛力。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**預後指標的價值**  </a:t>
            </a:r>
            <a:endParaRPr lang="en-US" sz="1200" dirty="0"/>
          </a:p>
          <a:p>
            <a:pPr indent="0" marL="0">
              <a:lnSpc>
                <a:spcPct val="150000"/>
              </a:lnSpc>
              <a:buNone/>
            </a:pPr>
            <a:r>
              <a:rPr lang="en-US" sz="1200" dirty="0">
                <a:solidFill>
                  <a:srgbClr val="FFFFFF"/>
                </a:solidFill>
              </a:rPr>
              <a:t>   The systemic immune-inflammation index (SII) has emerged as a significant prognostic biomarker, potentially guiding treatment decisions in colorectal cancer management.  </a:t>
            </a:r>
            <a:endParaRPr lang="en-US" sz="1200" dirty="0"/>
          </a:p>
          <a:p>
            <a:pPr indent="0" marL="0">
              <a:lnSpc>
                <a:spcPct val="150000"/>
              </a:lnSpc>
              <a:buNone/>
            </a:pPr>
            <a:r>
              <a:rPr lang="en-US" sz="1200" dirty="0">
                <a:solidFill>
                  <a:srgbClr val="FFFFFF"/>
                </a:solidFill>
              </a:rPr>
              <a:t>   系統免疫-炎症指數(SII)已成為重要的預後生物標誌物，可能指導結直腸癌的治療決策。</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**炎症與癌症的關聯**  </a:t>
            </a:r>
            <a:endParaRPr lang="en-US" sz="1200" dirty="0"/>
          </a:p>
          <a:p>
            <a:pPr indent="0" marL="0">
              <a:lnSpc>
                <a:spcPct val="150000"/>
              </a:lnSpc>
              <a:buNone/>
            </a:pPr>
            <a:r>
              <a:rPr lang="en-US" sz="1200" dirty="0">
                <a:solidFill>
                  <a:srgbClr val="FFFFFF"/>
                </a:solidFill>
              </a:rPr>
              <a:t>   The studies highlight the critical role of inflammation in colorectal carcinogenesis, emphasizing the need for targeted therapies to mitigate inflammation-driven cancer progression.  </a:t>
            </a:r>
            <a:endParaRPr lang="en-US" sz="1200" dirty="0"/>
          </a:p>
          <a:p>
            <a:pPr indent="0" marL="0">
              <a:lnSpc>
                <a:spcPct val="150000"/>
              </a:lnSpc>
              <a:buNone/>
            </a:pPr>
            <a:r>
              <a:rPr lang="en-US" sz="1200" dirty="0">
                <a:solidFill>
                  <a:srgbClr val="FFFFFF"/>
                </a:solidFill>
              </a:rPr>
              <a:t>   這些研究突顯了炎症在結直腸癌發生中的關鍵角色，強調需要針對性治療來減輕炎症驅動的癌症進展。</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**患者視角的重要性**  </a:t>
            </a:r>
            <a:endParaRPr lang="en-US" sz="1200" dirty="0"/>
          </a:p>
          <a:p>
            <a:pPr indent="0" marL="0">
              <a:lnSpc>
                <a:spcPct val="150000"/>
              </a:lnSpc>
              <a:buNone/>
            </a:pPr>
            <a:r>
              <a:rPr lang="en-US" sz="1200" dirty="0">
                <a:solidFill>
                  <a:srgbClr val="FFFFFF"/>
                </a:solidFill>
              </a:rPr>
              <a:t>   Understanding the long-term consequences of treatments such as pelvic exenteration from the patient's and caregiver's perspectives is essential for improving survivorship care.  </a:t>
            </a:r>
            <a:endParaRPr lang="en-US" sz="1200" dirty="0"/>
          </a:p>
          <a:p>
            <a:pPr indent="0" marL="0">
              <a:lnSpc>
                <a:spcPct val="150000"/>
              </a:lnSpc>
              <a:buNone/>
            </a:pPr>
            <a:r>
              <a:rPr lang="en-US" sz="1200" dirty="0">
                <a:solidFill>
                  <a:srgbClr val="FFFFFF"/>
                </a:solidFill>
              </a:rPr>
              <a:t>   從患者和護理者的角度了解如骨盆切除術等治療的長期後果對改善生存照護至關重要。</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**微生物組的影響**  </a:t>
            </a:r>
            <a:endParaRPr lang="en-US" sz="1200" dirty="0"/>
          </a:p>
          <a:p>
            <a:pPr indent="0" marL="0">
              <a:lnSpc>
                <a:spcPct val="150000"/>
              </a:lnSpc>
              <a:buNone/>
            </a:pPr>
            <a:r>
              <a:rPr lang="en-US" sz="1200" dirty="0">
                <a:solidFill>
                  <a:srgbClr val="FFFFFF"/>
                </a:solidFill>
              </a:rPr>
              <a:t>   The interaction between genetic variants and the intestinal microbiota, particularly Fusobacterium nucleatum, underscores the complexity of colorectal cancer development and potential therapeutic targets.  </a:t>
            </a:r>
            <a:endParaRPr lang="en-US" sz="1200" dirty="0"/>
          </a:p>
          <a:p>
            <a:pPr indent="0" marL="0">
              <a:lnSpc>
                <a:spcPct val="150000"/>
              </a:lnSpc>
              <a:buNone/>
            </a:pPr>
            <a:r>
              <a:rPr lang="en-US" sz="1200" dirty="0">
                <a:solidFill>
                  <a:srgbClr val="FFFFFF"/>
                </a:solidFill>
              </a:rPr>
              <a:t>   基因變異與腸道微生物組之間的相互作用，特別是Fusobacterium nucleatum，突顯了結直腸癌發展的複雜性及潛在的治療靶點。</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3A5F"/>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SYNTHESIS</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Future Directions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 (Future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**針對TXNDC5的臨床試驗**  </a:t>
            </a:r>
            <a:endParaRPr lang="en-US" sz="1200" dirty="0"/>
          </a:p>
          <a:p>
            <a:pPr indent="0" marL="0">
              <a:lnSpc>
                <a:spcPct val="150000"/>
              </a:lnSpc>
              <a:buNone/>
            </a:pPr>
            <a:r>
              <a:rPr lang="en-US" sz="1200" dirty="0">
                <a:solidFill>
                  <a:srgbClr val="FFFFFF"/>
                </a:solidFill>
              </a:rPr>
              <a:t>   Future clinical trials should focus on the efficacy of TXNDC5 inhibitors in mesenchymal-type colorectal cancer to validate their therapeutic potential.  </a:t>
            </a:r>
            <a:endParaRPr lang="en-US" sz="1200" dirty="0"/>
          </a:p>
          <a:p>
            <a:pPr indent="0" marL="0">
              <a:lnSpc>
                <a:spcPct val="150000"/>
              </a:lnSpc>
              <a:buNone/>
            </a:pPr>
            <a:r>
              <a:rPr lang="en-US" sz="1200" dirty="0">
                <a:solidFill>
                  <a:srgbClr val="FFFFFF"/>
                </a:solidFill>
              </a:rPr>
              <a:t>   未來的臨床試驗應專注於TXNDC5抑制劑在間質型結直腸癌中的療效，以驗證其治療潛力。</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**炎症指標的應用**  </a:t>
            </a:r>
            <a:endParaRPr lang="en-US" sz="1200" dirty="0"/>
          </a:p>
          <a:p>
            <a:pPr indent="0" marL="0">
              <a:lnSpc>
                <a:spcPct val="150000"/>
              </a:lnSpc>
              <a:buNone/>
            </a:pPr>
            <a:r>
              <a:rPr lang="en-US" sz="1200" dirty="0">
                <a:solidFill>
                  <a:srgbClr val="FFFFFF"/>
                </a:solidFill>
              </a:rPr>
              <a:t>   Further research is needed to explore the application of systemic immune-inflammation index (SII) in diverse patient populations and its impact on treatment outcomes.  </a:t>
            </a:r>
            <a:endParaRPr lang="en-US" sz="1200" dirty="0"/>
          </a:p>
          <a:p>
            <a:pPr indent="0" marL="0">
              <a:lnSpc>
                <a:spcPct val="150000"/>
              </a:lnSpc>
              <a:buNone/>
            </a:pPr>
            <a:r>
              <a:rPr lang="en-US" sz="1200" dirty="0">
                <a:solidFill>
                  <a:srgbClr val="FFFFFF"/>
                </a:solidFill>
              </a:rPr>
              <a:t>   需要進一步研究系統免疫-炎症指數(SII)在不同患者群體中的應用及其對治療結果的影響。</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**微生物組與治療反應**  </a:t>
            </a:r>
            <a:endParaRPr lang="en-US" sz="1200" dirty="0"/>
          </a:p>
          <a:p>
            <a:pPr indent="0" marL="0">
              <a:lnSpc>
                <a:spcPct val="150000"/>
              </a:lnSpc>
              <a:buNone/>
            </a:pPr>
            <a:r>
              <a:rPr lang="en-US" sz="1200" dirty="0">
                <a:solidFill>
                  <a:srgbClr val="FFFFFF"/>
                </a:solidFill>
              </a:rPr>
              <a:t>   Investigating the role of gut microbiota in modulating responses to immunotherapy and chemotherapy could reveal new avenues for enhancing treatment efficacy.  </a:t>
            </a:r>
            <a:endParaRPr lang="en-US" sz="1200" dirty="0"/>
          </a:p>
          <a:p>
            <a:pPr indent="0" marL="0">
              <a:lnSpc>
                <a:spcPct val="150000"/>
              </a:lnSpc>
              <a:buNone/>
            </a:pPr>
            <a:r>
              <a:rPr lang="en-US" sz="1200" dirty="0">
                <a:solidFill>
                  <a:srgbClr val="FFFFFF"/>
                </a:solidFill>
              </a:rPr>
              <a:t>   研究腸道微生物組在調節免疫療法和化療反應中的作用，可能會揭示增強治療效果的新途徑。</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**患者經驗的深入研究**  </a:t>
            </a:r>
            <a:endParaRPr lang="en-US" sz="1200" dirty="0"/>
          </a:p>
          <a:p>
            <a:pPr indent="0" marL="0">
              <a:lnSpc>
                <a:spcPct val="150000"/>
              </a:lnSpc>
              <a:buNone/>
            </a:pPr>
            <a:r>
              <a:rPr lang="en-US" sz="1200" dirty="0">
                <a:solidFill>
                  <a:srgbClr val="FFFFFF"/>
                </a:solidFill>
              </a:rPr>
              <a:t>   More qualitative studies are required to capture the lived experiences of patients undergoing major surgical interventions, informing better supportive care strategies.  </a:t>
            </a:r>
            <a:endParaRPr lang="en-US" sz="1200" dirty="0"/>
          </a:p>
          <a:p>
            <a:pPr indent="0" marL="0">
              <a:lnSpc>
                <a:spcPct val="150000"/>
              </a:lnSpc>
              <a:buNone/>
            </a:pPr>
            <a:r>
              <a:rPr lang="en-US" sz="1200" dirty="0">
                <a:solidFill>
                  <a:srgbClr val="FFFFFF"/>
                </a:solidFill>
              </a:rPr>
              <a:t>   需要更多質性研究來捕捉接受重大外科手術的患者的生活經驗，以便制定更好的支持性護理策略。</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**炎症與癌症進展的機制**  </a:t>
            </a:r>
            <a:endParaRPr lang="en-US" sz="1200" dirty="0"/>
          </a:p>
          <a:p>
            <a:pPr indent="0" marL="0">
              <a:lnSpc>
                <a:spcPct val="150000"/>
              </a:lnSpc>
              <a:buNone/>
            </a:pPr>
            <a:r>
              <a:rPr lang="en-US" sz="1200" dirty="0">
                <a:solidFill>
                  <a:srgbClr val="FFFFFF"/>
                </a:solidFill>
              </a:rPr>
              <a:t>   Elucidating the mechanisms by which inflammation contributes to colorectal cancer progression will be crucial for developing targeted anti-inflammatory therapies.  </a:t>
            </a:r>
            <a:endParaRPr lang="en-US" sz="1200" dirty="0"/>
          </a:p>
          <a:p>
            <a:pPr indent="0" marL="0">
              <a:lnSpc>
                <a:spcPct val="150000"/>
              </a:lnSpc>
              <a:buNone/>
            </a:pPr>
            <a:r>
              <a:rPr lang="en-US" sz="1200" dirty="0">
                <a:solidFill>
                  <a:srgbClr val="FFFFFF"/>
                </a:solidFill>
              </a:rPr>
              <a:t>   揭示炎症如何促進結直腸癌進展的機制對於開發針對性抗炎療法至關重要。</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2E"/>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931920"/>
            <a:ext cx="10058400" cy="0"/>
          </a:xfrm>
          <a:prstGeom prst="rect">
            <a:avLst/>
          </a:prstGeom>
          <a:noFill/>
          <a:ln/>
        </p:spPr>
        <p:txBody>
          <a:bodyPr wrap="square" lIns="0" tIns="0" rIns="0" bIns="0" rtlCol="0" anchor="ctr"/>
          <a:lstStyle/>
          <a:p>
            <a:pPr indent="0" marL="0">
              <a:buNone/>
            </a:pPr>
            <a:r>
              <a:rPr lang="en-US" sz="1100" dirty="0">
                <a:solidFill>
                  <a:srgbClr val="888888"/>
                </a:solidFill>
              </a:rPr>
              <a:t>Colorectal Surgery Weekly Digest</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Colorectal Surgery Weekly Digest</dc:title>
  <dc:subject>PptxGenJS Presentation</dc:subject>
  <dc:creator>Colorectal Weekly Digest</dc:creator>
  <cp:lastModifiedBy>Colorectal Weekly Digest</cp:lastModifiedBy>
  <cp:revision>1</cp:revision>
  <dcterms:created xsi:type="dcterms:W3CDTF">2026-06-08T01:53:12Z</dcterms:created>
  <dcterms:modified xsi:type="dcterms:W3CDTF">2026-06-08T01:53:12Z</dcterms:modified>
</cp:coreProperties>
</file>