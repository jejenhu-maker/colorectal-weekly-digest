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731520" y="3474720"/>
            <a:ext cx="2743200" cy="0"/>
          </a:xfrm>
          <a:prstGeom prst="line">
            <a:avLst/>
          </a:prstGeom>
          <a:noFill/>
          <a:ln w="38100">
            <a:solidFill>
              <a:srgbClr val="2563EB"/>
            </a:solidFill>
            <a:prstDash val="solid"/>
          </a:ln>
        </p:spPr>
      </p:sp>
      <p:sp>
        <p:nvSpPr>
          <p:cNvPr id="3" name="Text 1"/>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4" name="Text 2"/>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5" name="Text 3"/>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6" name="Text 4"/>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Shape 1"/>
          <p:cNvSpPr/>
          <p:nvPr/>
        </p:nvSpPr>
        <p:spPr>
          <a:xfrm>
            <a:off x="731520" y="685800"/>
            <a:ext cx="10058400" cy="0"/>
          </a:xfrm>
          <a:prstGeom prst="line">
            <a:avLst/>
          </a:prstGeom>
          <a:noFill/>
          <a:ln w="6350">
            <a:solidFill>
              <a:srgbClr val="E2E8F0"/>
            </a:solidFill>
            <a:prstDash val="solid"/>
          </a:ln>
        </p:spPr>
      </p:sp>
      <p:sp>
        <p:nvSpPr>
          <p:cNvPr id="4" name="Text 2"/>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Role of Omega-3 Polyunsaturated Fatty Acid Supplementation in Postoperative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 的角色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 NETosis 活化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結腸炎與癌症的關聯</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評估熱化學療法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針對晚期大腸癌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系統性回顧與統合分析</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呈現統合分析結果</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The Role of Omega-3 Polyunsaturated Fatty Acid Supplementation in Postoperative Recovery of Colorectal Cancer: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Nutrients  ·  Meta-Analysis</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Omega-3 脂肪酸促進恢復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降低發炎細胞激素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與發炎呈反比關係</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田基黃減輕結腸炎嚴重性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有效抑制中性粒細胞招募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針對NOD/NF-κB信號通路</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A1AT促進CRC肝轉移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涉及中性粒細胞外陷阱</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CCDC25上調增強侵襲性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激活ILK-RAC1-CDC42信號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識別潛在生物標記和靶點</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COX-2和5-LO為目標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碘化抑制劑評估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體內影像挑戰</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桑黃對腸道癌有抗腫瘤效果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針對結腸炎相關腸癌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通過PPARγ/NF-κB軸抑制炎症</a:t>
            </a:r>
            <a:endParaRPr lang="en-US" sz="1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
        <p:nvSpPr>
          <p:cNvPr id="9" name="Shape 7"/>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PARP 抑制劑顯示潛力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針對特定亞群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臨床前患者衍生模型</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dirty="0">
                <a:solidFill>
                  <a:srgbClr val="111111"/>
                </a:solidFill>
                <a:latin typeface="Arial" pitchFamily="34" charset="0"/>
                <a:ea typeface="Arial" pitchFamily="34" charset="-122"/>
                <a:cs typeface="Arial" pitchFamily="34" charset="-120"/>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Shape 4"/>
          <p:cNvSpPr/>
          <p:nvPr/>
        </p:nvSpPr>
        <p:spPr>
          <a:xfrm>
            <a:off x="731520" y="2148840"/>
            <a:ext cx="10058400" cy="0"/>
          </a:xfrm>
          <a:prstGeom prst="line">
            <a:avLst/>
          </a:prstGeom>
          <a:noFill/>
          <a:ln w="6350">
            <a:solidFill>
              <a:srgbClr val="E2E8F0"/>
            </a:solidFill>
            <a:prstDash val="solid"/>
          </a:ln>
        </p:spPr>
      </p:sp>
      <p:sp>
        <p:nvSpPr>
          <p:cNvPr id="7" name="Text 5"/>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ALC抑制腫瘤生長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體內研究確認療效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進行代謝組學分析</a:t>
            </a:r>
            <a:endParaRPr lang="en-US" sz="1800" dirty="0"/>
          </a:p>
        </p:txBody>
      </p:sp>
      <p:sp>
        <p:nvSpPr>
          <p:cNvPr id="8" name="Shape 6"/>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rtlCol="0" anchor="ctr"/>
          <a:lstStyle/>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Overall Insights</a:t>
            </a:r>
            <a:endParaRPr lang="en-US" sz="3000" dirty="0"/>
          </a:p>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&amp; Future Directions</a:t>
            </a:r>
            <a:endParaRPr lang="en-US" sz="3000" dirty="0"/>
          </a:p>
        </p:txBody>
      </p:sp>
      <p:sp>
        <p:nvSpPr>
          <p:cNvPr id="4" name="Text 2"/>
          <p:cNvSpPr/>
          <p:nvPr/>
        </p:nvSpPr>
        <p:spPr>
          <a:xfrm>
            <a:off x="731520" y="2286000"/>
            <a:ext cx="10058400" cy="0"/>
          </a:xfrm>
          <a:prstGeom prst="rect">
            <a:avLst/>
          </a:prstGeom>
          <a:noFill/>
          <a:ln/>
        </p:spPr>
        <p:txBody>
          <a:bodyPr wrap="square" lIns="0" tIns="0" rIns="0" bIns="0" rtlCol="0" anchor="ctr"/>
          <a:lstStyle/>
          <a:p>
            <a:pPr indent="0" marL="0">
              <a:buNone/>
            </a:pPr>
            <a:r>
              <a:rPr lang="en-US" sz="1400" dirty="0">
                <a:solidFill>
                  <a:srgbClr val="888888"/>
                </a:solidFill>
                <a:latin typeface="Microsoft JhengHei" pitchFamily="34" charset="0"/>
                <a:ea typeface="Microsoft JhengHei" pitchFamily="34" charset="-122"/>
                <a:cs typeface="Microsoft JhengHei" pitchFamily="34" charset="-120"/>
              </a:rPr>
              <a:t>綜合啟示與未來研究方向</a:t>
            </a:r>
            <a:endParaRPr lang="en-US" sz="1400" dirty="0"/>
          </a:p>
        </p:txBody>
      </p:sp>
      <p:sp>
        <p:nvSpPr>
          <p:cNvPr id="5" name="Shape 3"/>
          <p:cNvSpPr/>
          <p:nvPr/>
        </p:nvSpPr>
        <p:spPr>
          <a:xfrm>
            <a:off x="731520" y="2651760"/>
            <a:ext cx="2743200" cy="0"/>
          </a:xfrm>
          <a:prstGeom prst="line">
            <a:avLst/>
          </a:prstGeom>
          <a:noFill/>
          <a:ln w="38100">
            <a:solidFill>
              <a:srgbClr val="2563EB"/>
            </a:solidFill>
            <a:prstDash val="solid"/>
          </a:ln>
        </p:spPr>
      </p:sp>
      <p:sp>
        <p:nvSpPr>
          <p:cNvPr id="6" name="Text 4"/>
          <p:cNvSpPr/>
          <p:nvPr/>
        </p:nvSpPr>
        <p:spPr>
          <a:xfrm>
            <a:off x="731520" y="2926080"/>
            <a:ext cx="10515600" cy="0"/>
          </a:xfrm>
          <a:prstGeom prst="rect">
            <a:avLst/>
          </a:prstGeom>
          <a:noFill/>
          <a:ln/>
        </p:spPr>
        <p:txBody>
          <a:bodyPr wrap="square" rtlCol="0" anchor="ctr"/>
          <a:lstStyle/>
          <a:p>
            <a:pPr indent="0" marL="0">
              <a:lnSpc>
                <a:spcPct val="160000"/>
              </a:lnSpc>
              <a:buNone/>
            </a:pPr>
            <a:r>
              <a:rPr lang="en-US" sz="1200" dirty="0">
                <a:solidFill>
                  <a:srgbClr val="FFFFFF"/>
                </a:solidFill>
              </a:rPr>
              <a:t>### 綜合啟示 (Overall Insights)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**腸道微生物與癌症的關聯性**  </a:t>
            </a:r>
            <a:endParaRPr lang="en-US" sz="1200" dirty="0"/>
          </a:p>
          <a:p>
            <a:pPr indent="0" marL="0">
              <a:lnSpc>
                <a:spcPct val="160000"/>
              </a:lnSpc>
              <a:buNone/>
            </a:pPr>
            <a:r>
              <a:rPr lang="en-US" sz="1200" dirty="0">
                <a:solidFill>
                  <a:srgbClr val="FFFFFF"/>
                </a:solidFill>
              </a:rPr>
              <a:t>   The study highlights the role of gut microbiota, particularly *Parasutterella excrementihominis*, in exacerbating colitis and promoting colorectal cancer through pathogenic mechanisms like NETosis activation.  </a:t>
            </a:r>
            <a:endParaRPr lang="en-US" sz="1200" dirty="0"/>
          </a:p>
          <a:p>
            <a:pPr indent="0" marL="0">
              <a:lnSpc>
                <a:spcPct val="160000"/>
              </a:lnSpc>
              <a:buNone/>
            </a:pPr>
            <a:r>
              <a:rPr lang="en-US" sz="1200" dirty="0">
                <a:solidFill>
                  <a:srgbClr val="FFFFFF"/>
                </a:solidFill>
              </a:rPr>
              <a:t>   這項研究強調了腸道微生物，特別是*Parasutterella excrementihominis*，在加重結腸炎和促進結直腸癌中的作用，通過病理機制如NETosis激活。</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**系統性免疫-炎症指數的預後價值**  </a:t>
            </a:r>
            <a:endParaRPr lang="en-US" sz="1200" dirty="0"/>
          </a:p>
          <a:p>
            <a:pPr indent="0" marL="0">
              <a:lnSpc>
                <a:spcPct val="160000"/>
              </a:lnSpc>
              <a:buNone/>
            </a:pPr>
            <a:r>
              <a:rPr lang="en-US" sz="1200" dirty="0">
                <a:solidFill>
                  <a:srgbClr val="FFFFFF"/>
                </a:solidFill>
              </a:rPr>
              <a:t>   The systemic immune-inflammation index (SII) has emerged as a significant prognostic biomarker for colorectal cancer, indicating its potential use in clinical settings for patient stratification.  </a:t>
            </a:r>
            <a:endParaRPr lang="en-US" sz="1200" dirty="0"/>
          </a:p>
          <a:p>
            <a:pPr indent="0" marL="0">
              <a:lnSpc>
                <a:spcPct val="160000"/>
              </a:lnSpc>
              <a:buNone/>
            </a:pPr>
            <a:r>
              <a:rPr lang="en-US" sz="1200" dirty="0">
                <a:solidFill>
                  <a:srgbClr val="FFFFFF"/>
                </a:solidFill>
              </a:rPr>
              <a:t>   系統性免疫-炎症指數（SII）已成為結直腸癌的重要預後生物標記，顯示其在臨床環境中用於患者分層的潛力。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**超熱腹腔化療的有效性**  </a:t>
            </a:r>
            <a:endParaRPr lang="en-US" sz="1200" dirty="0"/>
          </a:p>
          <a:p>
            <a:pPr indent="0" marL="0">
              <a:lnSpc>
                <a:spcPct val="160000"/>
              </a:lnSpc>
              <a:buNone/>
            </a:pPr>
            <a:r>
              <a:rPr lang="en-US" sz="1200" dirty="0">
                <a:solidFill>
                  <a:srgbClr val="FFFFFF"/>
                </a:solidFill>
              </a:rPr>
              <a:t>   Hyperthermic intraperitoneal chemotherapy (HIPEC) shows promise in improving outcomes for patients with advanced colorectal cancer, suggesting a need for further investigation into its mechanisms and applications.  </a:t>
            </a:r>
            <a:endParaRPr lang="en-US" sz="1200" dirty="0"/>
          </a:p>
          <a:p>
            <a:pPr indent="0" marL="0">
              <a:lnSpc>
                <a:spcPct val="160000"/>
              </a:lnSpc>
              <a:buNone/>
            </a:pPr>
            <a:r>
              <a:rPr lang="en-US" sz="1200" dirty="0">
                <a:solidFill>
                  <a:srgbClr val="FFFFFF"/>
                </a:solidFill>
              </a:rPr>
              <a:t>   超熱腹腔化療（HIPEC）在改善晚期結直腸癌患者的預後方面顯示出希望，這表明需要進一步研究其機制和應用。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**ω-3多不飽和脂肪酸的抗炎作用**  </a:t>
            </a:r>
            <a:endParaRPr lang="en-US" sz="1200" dirty="0"/>
          </a:p>
          <a:p>
            <a:pPr indent="0" marL="0">
              <a:lnSpc>
                <a:spcPct val="160000"/>
              </a:lnSpc>
              <a:buNone/>
            </a:pPr>
            <a:r>
              <a:rPr lang="en-US" sz="1200" dirty="0">
                <a:solidFill>
                  <a:srgbClr val="FFFFFF"/>
                </a:solidFill>
              </a:rPr>
              <a:t>   Omega-3 polyunsaturated fatty acids (PUFAs) have demonstrated the ability to modulate inflammatory cytokines, suggesting their potential role in postoperative recovery and cancer prevention.  </a:t>
            </a:r>
            <a:endParaRPr lang="en-US" sz="1200" dirty="0"/>
          </a:p>
          <a:p>
            <a:pPr indent="0" marL="0">
              <a:lnSpc>
                <a:spcPct val="160000"/>
              </a:lnSpc>
              <a:buNone/>
            </a:pPr>
            <a:r>
              <a:rPr lang="en-US" sz="1200" dirty="0">
                <a:solidFill>
                  <a:srgbClr val="FFFFFF"/>
                </a:solidFill>
              </a:rPr>
              <a:t>   ω-3多不飽和脂肪酸（PUFAs）已顯示出調節炎症細胞因子的能力，暗示其在術後恢復和癌症預防中的潛在作用。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**腫瘤微環境的影響**  </a:t>
            </a:r>
            <a:endParaRPr lang="en-US" sz="1200" dirty="0"/>
          </a:p>
          <a:p>
            <a:pPr indent="0" marL="0">
              <a:lnSpc>
                <a:spcPct val="160000"/>
              </a:lnSpc>
              <a:buNone/>
            </a:pPr>
            <a:r>
              <a:rPr lang="en-US" sz="1200" dirty="0">
                <a:solidFill>
                  <a:srgbClr val="FFFFFF"/>
                </a:solidFill>
              </a:rPr>
              <a:t>   The inflammatory tumor microenvironment, particularly the role of neutrophils, plays a crucial role in colorectal cancer progression and metastasis, highlighting the need for targeted therapies.  </a:t>
            </a:r>
            <a:endParaRPr lang="en-US" sz="1200" dirty="0"/>
          </a:p>
          <a:p>
            <a:pPr indent="0" marL="0">
              <a:lnSpc>
                <a:spcPct val="160000"/>
              </a:lnSpc>
              <a:buNone/>
            </a:pPr>
            <a:r>
              <a:rPr lang="en-US" sz="1200" dirty="0">
                <a:solidFill>
                  <a:srgbClr val="FFFFFF"/>
                </a:solidFill>
              </a:rPr>
              <a:t>   炎症腫瘤微環境，特別是中性粒細胞的作用，在結直腸癌的進展和轉移中起著關鍵作用，突顯了針對性療法的必要性。</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 未來研究方向 (Future Research Directions)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**腸道微生物的調控機制**  </a:t>
            </a:r>
            <a:endParaRPr lang="en-US" sz="1200" dirty="0"/>
          </a:p>
          <a:p>
            <a:pPr indent="0" marL="0">
              <a:lnSpc>
                <a:spcPct val="160000"/>
              </a:lnSpc>
              <a:buNone/>
            </a:pPr>
            <a:r>
              <a:rPr lang="en-US" sz="1200" dirty="0">
                <a:solidFill>
                  <a:srgbClr val="FFFFFF"/>
                </a:solidFill>
              </a:rPr>
              <a:t>   Investigate the regulatory mechanisms of gut microbiota on colitis and colorectal cancer progression to identify potential therapeutic targets.  </a:t>
            </a:r>
            <a:endParaRPr lang="en-US" sz="1200" dirty="0"/>
          </a:p>
          <a:p>
            <a:pPr indent="0" marL="0">
              <a:lnSpc>
                <a:spcPct val="160000"/>
              </a:lnSpc>
              <a:buNone/>
            </a:pPr>
            <a:r>
              <a:rPr lang="en-US" sz="1200" dirty="0">
                <a:solidFill>
                  <a:srgbClr val="FFFFFF"/>
                </a:solidFill>
              </a:rPr>
              <a:t>   研究腸道微生物對結腸炎和結直腸癌進展的調控機制，以確定潛在的治療靶點。</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**SII在臨床應用中的驗證**  </a:t>
            </a:r>
            <a:endParaRPr lang="en-US" sz="1200" dirty="0"/>
          </a:p>
          <a:p>
            <a:pPr indent="0" marL="0">
              <a:lnSpc>
                <a:spcPct val="160000"/>
              </a:lnSpc>
              <a:buNone/>
            </a:pPr>
            <a:r>
              <a:rPr lang="en-US" sz="1200" dirty="0">
                <a:solidFill>
                  <a:srgbClr val="FFFFFF"/>
                </a:solidFill>
              </a:rPr>
              <a:t>   Further validate the systemic immune-inflammation index (SII) in diverse patient populations to enhance its predictive accuracy and clinical utility.  </a:t>
            </a:r>
            <a:endParaRPr lang="en-US" sz="1200" dirty="0"/>
          </a:p>
          <a:p>
            <a:pPr indent="0" marL="0">
              <a:lnSpc>
                <a:spcPct val="160000"/>
              </a:lnSpc>
              <a:buNone/>
            </a:pPr>
            <a:r>
              <a:rPr lang="en-US" sz="1200" dirty="0">
                <a:solidFill>
                  <a:srgbClr val="FFFFFF"/>
                </a:solidFill>
              </a:rPr>
              <a:t>   在不同患者群體中進一步驗證系統性免疫-炎症指數（SII），以提高其預測準確性和臨床實用性。</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**HIPEC的機制研究**  </a:t>
            </a:r>
            <a:endParaRPr lang="en-US" sz="1200" dirty="0"/>
          </a:p>
          <a:p>
            <a:pPr indent="0" marL="0">
              <a:lnSpc>
                <a:spcPct val="160000"/>
              </a:lnSpc>
              <a:buNone/>
            </a:pPr>
            <a:r>
              <a:rPr lang="en-US" sz="1200" dirty="0">
                <a:solidFill>
                  <a:srgbClr val="FFFFFF"/>
                </a:solidFill>
              </a:rPr>
              <a:t>   Conduct mechanistic studies on hyperthermic intraperitoneal chemotherapy (HIPEC) to optimize treatment protocols and improve patient outcomes.  </a:t>
            </a:r>
            <a:endParaRPr lang="en-US" sz="1200" dirty="0"/>
          </a:p>
          <a:p>
            <a:pPr indent="0" marL="0">
              <a:lnSpc>
                <a:spcPct val="160000"/>
              </a:lnSpc>
              <a:buNone/>
            </a:pPr>
            <a:r>
              <a:rPr lang="en-US" sz="1200" dirty="0">
                <a:solidFill>
                  <a:srgbClr val="FFFFFF"/>
                </a:solidFill>
              </a:rPr>
              <a:t>   開展超熱腹腔化療（HIPEC）的機制研究，以優化治療方案並改善患者預後。</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**ω-3脂肪酸的臨床試驗**  </a:t>
            </a:r>
            <a:endParaRPr lang="en-US" sz="1200" dirty="0"/>
          </a:p>
          <a:p>
            <a:pPr indent="0" marL="0">
              <a:lnSpc>
                <a:spcPct val="160000"/>
              </a:lnSpc>
              <a:buNone/>
            </a:pPr>
            <a:r>
              <a:rPr lang="en-US" sz="1200" dirty="0">
                <a:solidFill>
                  <a:srgbClr val="FFFFFF"/>
                </a:solidFill>
              </a:rPr>
              <a:t>   Design clinical trials to assess the efficacy of omega-3 PUFAs in postoperative recovery and their potential role in reducing cancer recurrence.  </a:t>
            </a:r>
            <a:endParaRPr lang="en-US" sz="1200" dirty="0"/>
          </a:p>
          <a:p>
            <a:pPr indent="0" marL="0">
              <a:lnSpc>
                <a:spcPct val="160000"/>
              </a:lnSpc>
              <a:buNone/>
            </a:pPr>
            <a:r>
              <a:rPr lang="en-US" sz="1200" dirty="0">
                <a:solidFill>
                  <a:srgbClr val="FFFFFF"/>
                </a:solidFill>
              </a:rPr>
              <a:t>   設計臨床試驗以評估ω-3多不飽和脂肪酸在術後恢復中的有效性及其在減少癌症復發中的潛在作用。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**針對腫瘤微環境的療法開發**  </a:t>
            </a:r>
            <a:endParaRPr lang="en-US" sz="1200" dirty="0"/>
          </a:p>
          <a:p>
            <a:pPr indent="0" marL="0">
              <a:lnSpc>
                <a:spcPct val="160000"/>
              </a:lnSpc>
              <a:buNone/>
            </a:pPr>
            <a:r>
              <a:rPr lang="en-US" sz="1200" dirty="0">
                <a:solidFill>
                  <a:srgbClr val="FFFFFF"/>
                </a:solidFill>
              </a:rPr>
              <a:t>   Explore novel therapeutic strategies targeting the inflammatory tumor microenvironment, particularly focusing on neutrophil modulation and its impact on cancer progression.  </a:t>
            </a:r>
            <a:endParaRPr lang="en-US" sz="1200" dirty="0"/>
          </a:p>
          <a:p>
            <a:pPr indent="0" marL="0">
              <a:lnSpc>
                <a:spcPct val="160000"/>
              </a:lnSpc>
              <a:buNone/>
            </a:pPr>
            <a:r>
              <a:rPr lang="en-US" sz="1200" dirty="0">
                <a:solidFill>
                  <a:srgbClr val="FFFFFF"/>
                </a:solidFill>
              </a:rPr>
              <a:t>   探索針對炎症腫瘤微環境的新型治療策略，特別是專注於中性粒細胞調節及其對癌症進展的影響。</a:t>
            </a:r>
            <a:endParaRPr lang="en-US" sz="1200" dirty="0"/>
          </a:p>
        </p:txBody>
      </p:sp>
      <p:sp>
        <p:nvSpPr>
          <p:cNvPr id="7" name="Shape 5"/>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Shape 1"/>
          <p:cNvSpPr/>
          <p:nvPr/>
        </p:nvSpPr>
        <p:spPr>
          <a:xfrm>
            <a:off x="731520" y="3474720"/>
            <a:ext cx="2743200" cy="0"/>
          </a:xfrm>
          <a:prstGeom prst="line">
            <a:avLst/>
          </a:prstGeom>
          <a:noFill/>
          <a:ln w="38100">
            <a:solidFill>
              <a:srgbClr val="2563EB"/>
            </a:solidFill>
            <a:prstDash val="solid"/>
          </a:ln>
        </p:spPr>
      </p:sp>
      <p:sp>
        <p:nvSpPr>
          <p:cNvPr id="4" name="Text 2"/>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5" name="Text 3"/>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
        <p:nvSpPr>
          <p:cNvPr id="6" name="Shape 4"/>
          <p:cNvSpPr/>
          <p:nvPr/>
        </p:nvSpPr>
        <p:spPr>
          <a:xfrm>
            <a:off x="0" y="6803136"/>
            <a:ext cx="12188952" cy="0"/>
          </a:xfrm>
          <a:prstGeom prst="line">
            <a:avLst/>
          </a:prstGeom>
          <a:noFill/>
          <a:ln w="50800">
            <a:solidFill>
              <a:srgbClr val="2563EB"/>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2026-04-19T07:58:17Z</dcterms:created>
  <dcterms:modified xsi:type="dcterms:W3CDTF">2026-04-19T07:58:17Z</dcterms:modified>
</cp:coreProperties>
</file>