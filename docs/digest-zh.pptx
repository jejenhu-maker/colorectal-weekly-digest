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link.springer.com/article/10.1186/s12957-025-04165-7" TargetMode="External"/><Relationship Id="rId2" Type="http://schemas.openxmlformats.org/officeDocument/2006/relationships/hyperlink" Target="https://link.springer.com/article/10.1186/s12957-025-04165-7"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academic.oup.com/crohnscolitis360/article-abstract/8/1/otag001/8423533" TargetMode="External"/><Relationship Id="rId2" Type="http://schemas.openxmlformats.org/officeDocument/2006/relationships/hyperlink" Target="https://academic.oup.com/crohnscolitis360/article-abstract/8/1/otag001/8423533"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16/j.jep.2026.121264" TargetMode="External"/><Relationship Id="rId2" Type="http://schemas.openxmlformats.org/officeDocument/2006/relationships/hyperlink" Target="https://doi.org/10.1016/j.jep.2026.121264"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158/2326-6066.CIR-25-0388" TargetMode="External"/><Relationship Id="rId2" Type="http://schemas.openxmlformats.org/officeDocument/2006/relationships/hyperlink" Target="https://doi.org/10.1158/2326-6066.CIR-25-0388"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doi.org/10.1007/s10637-026-01611-5" TargetMode="External"/><Relationship Id="rId2" Type="http://schemas.openxmlformats.org/officeDocument/2006/relationships/hyperlink" Target="https://doi.org/10.1007/s10637-026-01611-5"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16/j.ijpharm.2026.126859" TargetMode="External"/><Relationship Id="rId2" Type="http://schemas.openxmlformats.org/officeDocument/2006/relationships/hyperlink" Target="https://doi.org/10.1016/j.ijpharm.2026.126859"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38/s41598-026-44715-x" TargetMode="External"/><Relationship Id="rId2" Type="http://schemas.openxmlformats.org/officeDocument/2006/relationships/hyperlink" Target="https://doi.org/10.1038/s41598-026-44715-x"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21/acs.jafc.5c17778" TargetMode="External"/><Relationship Id="rId2" Type="http://schemas.openxmlformats.org/officeDocument/2006/relationships/hyperlink" Target="https://doi.org/10.1021/acs.jafc.5c17778"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Colorectal Surgery</a:t>
            </a:r>
            <a:endParaRPr lang="en-US" sz="4400" dirty="0"/>
          </a:p>
          <a:p>
            <a:pPr indent="0" marL="0">
              <a:lnSpc>
                <a:spcPct val="130000"/>
              </a:lnSpc>
              <a:buNone/>
            </a:pPr>
            <a:r>
              <a:rPr lang="en-US" sz="2200" dirty="0">
                <a:solidFill>
                  <a:srgbClr val="DBEAFE"/>
                </a:solidFill>
                <a:latin typeface="Microsoft JhengHei" pitchFamily="34" charset="0"/>
                <a:ea typeface="Microsoft JhengHei" pitchFamily="34" charset="-122"/>
                <a:cs typeface="Microsoft JhengHei" pitchFamily="34" charset="-120"/>
              </a:rPr>
              <a:t>大腸直腸外科文獻週報</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2026-04-20 — 2026-04-27</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Effect of hyperthermic intraperitoneal chemotherapy on patients with advanced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Awareness of inflammatory bowel disease-associated colorectal cancer risk and it…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Network pharmacology integrated with multi-omics demonstrates that Wumei Wan mod…</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Low inflammation correlates with protumor Tim4+TREM1+ resident macrophage expans…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Spatial blueprint of colorectal cancer identifies Hypoxic CAF program that orche…</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Curcumin-loaded extracellular vesicles derived from lactic acid bacteria for all…</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Multi-analytical and biological insights into Malcolmia grandiflora Kuntze.</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Gastroprotective [6]-Gingerol Aspirinate as a Novel Aspirin-Derived Chemoprevent…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Parasutterella excrementihominis 在大腸炎中的角色</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NETosis 活化促進炎症反應</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大腸炎與大腸癌的關聯</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Tan, L Huang, J Wang. Gut.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Effect of hyperthermic intraperitoneal chemotherapy on patients with advanced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World Journal of …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評估高溫腹腔化療（HIPEC）</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對晚期大腸癌患者的效果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進行系統性回顧與統合分析</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Z Su, Y Guo, X Ru. World Journal of ….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系統性免疫炎症指數(SII)評估</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結直腸癌預後生物標記</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現有研究的綜合分析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SII與患者結果相關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臨床應用潛力</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Awareness of inflammatory bowel disease-associated colorectal cancer risk and its management in patients with inflammatory bowel disease: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Crohns &amp; Colitis 360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對大腸癌風險認知不足</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需要改善病人教育策略</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現行管理措施不夠充分</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 Khan, C Norton, W Czuber-Dochan. Crohns &amp; Colitis 360.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Network pharmacology integrated with multi-omics demonstrates that Wumei Wan modulates the progression of colorectal cancer by regulating the focal adhesion-YAP signaling axis.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ethnopharmacology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Wumei Wan顯示抗腫瘤效果。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網絡藥理學識別關鍵靶點。</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FAK/Src/YAP信號通路至關重要。</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多組學揭示炎症調節作用。</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分子對接顯示穩定相互作用。</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Yang Shusen, Wang Min, Liu Siyue et al.. Journal of ethnopharmacology. 2026-02-11 DOI: 10.1016/j.jep.2026.121264</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Low inflammation correlates with protumor Tim4+TREM1+ resident macrophage expansion and limited monocyte-derived macrophage differentiation during peritoneal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Cancer immunology research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低發炎狀態限制單核細胞招募。</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Tim4+ 常駐巨噬細胞在CRC中擴增。</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識別Tim4+巨噬細胞的促腫瘤特徵。</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Ferriz Margarita, Alvarez-Ladr&amp;#xf3;n Natalia, Guti&amp;#xe9;rrez-Gonz&amp;#xe1;lez Alejandra et al.. Cancer immunology research. 2026-04-23 DOI: 10.1158/2326-6066.CIR-25-0388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Spatial blueprint of colorectal cancer identifies Hypoxic CAF program that orchestrates Go-or-Grow decisions and predicts outcomes.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Investigational new drugs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整合單細胞與空間轉錄組學</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識別九種CRC微環境區域</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Hypoxic CAFs與腫瘤細胞行為相關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HMGA2為關鍵轉錄調控因子</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CRC介入的潛在治療靶點</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Chen Mingkai, Yang Juan, Wang Jin et al.. Investigational new drugs. 2026-04-22 DOI: 10.1007/s10637-026-01611-5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Curcumin-loaded extracellular vesicles derived from lactic acid bacteria for alleviation of inflammatory bowel disease.</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International journal of pharmaceutics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來自LAB的Curcumin載體具潛力。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L-EVs-C顯示優越特性。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治療減輕小鼠IBD症狀。</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Qiu Fang, Wang Baixuan, Zhang Yongjing et al.. International journal of pharmaceutics. 2026-04-23 DOI: 10.1016/j.ijpharm.2026.126859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Multi-analytical and biological insights into Malcolmia grandiflora Kuntze.</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Scientific reports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Malcolmia grandiflora 具生物活性潛力。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n-hexane 提取物對癌症細胞具細胞毒性。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去脂提取物選擇性抑制 COX-2。</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去脂提取物具中等抗氧化活性。</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類黃酮被認為是 CDK 抑制劑。</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Elwekeel Ahlam Hashem, Mohamed Enas I A, Amin Elham et al.. Scientific reports. 2026-04-21 DOI: 10.1038/s41598-026-44715-x</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Gastroprotective [6]-Gingerol Aspirinate as a Novel Aspirin-Derived Chemopreventive Agent Attenuating Colitis.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agricultural and food chemistry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GAS顯著改善結腸炎症狀。</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有效降低促炎標記物。</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逆轉73種DSS改變代謝物。</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與促炎細胞因子強相關。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潛在安全的化學預防劑。</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Lee Pei-Sheng, Zhang Shuwei, Zhu Yingdong et al.. Journal of agricultural and food chemistry. 2026-04-25 DOI: 10.1021/acs.jafc.5c17778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**腸道微生物與癌症關聯性**  </a:t>
            </a:r>
            <a:endParaRPr lang="en-US" sz="1200" dirty="0"/>
          </a:p>
          <a:p>
            <a:pPr indent="0" marL="0">
              <a:lnSpc>
                <a:spcPct val="150000"/>
              </a:lnSpc>
              <a:buNone/>
            </a:pPr>
            <a:r>
              <a:rPr lang="en-US" sz="1200" dirty="0">
                <a:solidFill>
                  <a:srgbClr val="FFFFFF"/>
                </a:solidFill>
              </a:rPr>
              <a:t>   The study of *Parasutterella excrementihominis* highlights the significant role of gut microbiota in exacerbating colitis and colorectal cancer, suggesting that microbial dysbiosis can influence disease progression.  </a:t>
            </a:r>
            <a:endParaRPr lang="en-US" sz="1200" dirty="0"/>
          </a:p>
          <a:p>
            <a:pPr indent="0" marL="0">
              <a:lnSpc>
                <a:spcPct val="150000"/>
              </a:lnSpc>
              <a:buNone/>
            </a:pPr>
            <a:r>
              <a:rPr lang="en-US" sz="1200" dirty="0">
                <a:solidFill>
                  <a:srgbClr val="FFFFFF"/>
                </a:solidFill>
              </a:rPr>
              <a:t>   *Parasutterella excrementihominis*的研究突顯了腸道微生物在加重結腸炎和結直腸癌中的重要角色，暗示微生物失調可能影響疾病進展。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**系統性免疫-炎症指數的預後價值**  </a:t>
            </a:r>
            <a:endParaRPr lang="en-US" sz="1200" dirty="0"/>
          </a:p>
          <a:p>
            <a:pPr indent="0" marL="0">
              <a:lnSpc>
                <a:spcPct val="150000"/>
              </a:lnSpc>
              <a:buNone/>
            </a:pPr>
            <a:r>
              <a:rPr lang="en-US" sz="1200" dirty="0">
                <a:solidFill>
                  <a:srgbClr val="FFFFFF"/>
                </a:solidFill>
              </a:rPr>
              <a:t>   The systemic immune-inflammation index (SII) has emerged as a promising prognostic biomarker for colorectal cancer, indicating that immune status can provide valuable insights into patient outcomes.  </a:t>
            </a:r>
            <a:endParaRPr lang="en-US" sz="1200" dirty="0"/>
          </a:p>
          <a:p>
            <a:pPr indent="0" marL="0">
              <a:lnSpc>
                <a:spcPct val="150000"/>
              </a:lnSpc>
              <a:buNone/>
            </a:pPr>
            <a:r>
              <a:rPr lang="en-US" sz="1200" dirty="0">
                <a:solidFill>
                  <a:srgbClr val="FFFFFF"/>
                </a:solidFill>
              </a:rPr>
              <a:t>   系統性免疫-炎症指數（SII）已成為結直腸癌有前景的預後生物標記，表明免疫狀態能提供患者預後的重要見解。</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**傳統醫學在癌症治療中的潛力**  </a:t>
            </a:r>
            <a:endParaRPr lang="en-US" sz="1200" dirty="0"/>
          </a:p>
          <a:p>
            <a:pPr indent="0" marL="0">
              <a:lnSpc>
                <a:spcPct val="150000"/>
              </a:lnSpc>
              <a:buNone/>
            </a:pPr>
            <a:r>
              <a:rPr lang="en-US" sz="1200" dirty="0">
                <a:solidFill>
                  <a:srgbClr val="FFFFFF"/>
                </a:solidFill>
              </a:rPr>
              <a:t>   The integration of traditional Chinese medicine, such as Wumei Wan, into colorectal cancer treatment shows potential in modulating tumor progression, emphasizing the need for further exploration of holistic approaches.  </a:t>
            </a:r>
            <a:endParaRPr lang="en-US" sz="1200" dirty="0"/>
          </a:p>
          <a:p>
            <a:pPr indent="0" marL="0">
              <a:lnSpc>
                <a:spcPct val="150000"/>
              </a:lnSpc>
              <a:buNone/>
            </a:pPr>
            <a:r>
              <a:rPr lang="en-US" sz="1200" dirty="0">
                <a:solidFill>
                  <a:srgbClr val="FFFFFF"/>
                </a:solidFill>
              </a:rPr>
              <a:t>   傳統中醫如五梅丸在結直腸癌治療中的整合顯示出調節腫瘤進展的潛力，強調需要進一步探索整體治療方法。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**腫瘤微環境的空間組織**  </a:t>
            </a:r>
            <a:endParaRPr lang="en-US" sz="1200" dirty="0"/>
          </a:p>
          <a:p>
            <a:pPr indent="0" marL="0">
              <a:lnSpc>
                <a:spcPct val="150000"/>
              </a:lnSpc>
              <a:buNone/>
            </a:pPr>
            <a:r>
              <a:rPr lang="en-US" sz="1200" dirty="0">
                <a:solidFill>
                  <a:srgbClr val="FFFFFF"/>
                </a:solidFill>
              </a:rPr>
              <a:t>   Understanding the spatial organization of the tumor microenvironment (TME) is crucial for deciphering colorectal cancer progression, as it affects cellular interactions and therapeutic responses.  </a:t>
            </a:r>
            <a:endParaRPr lang="en-US" sz="1200" dirty="0"/>
          </a:p>
          <a:p>
            <a:pPr indent="0" marL="0">
              <a:lnSpc>
                <a:spcPct val="150000"/>
              </a:lnSpc>
              <a:buNone/>
            </a:pPr>
            <a:r>
              <a:rPr lang="en-US" sz="1200" dirty="0">
                <a:solidFill>
                  <a:srgbClr val="FFFFFF"/>
                </a:solidFill>
              </a:rPr>
              <a:t>   理解腫瘤微環境（TME）的空間組織對於解讀結直腸癌進展至關重要，因為它影響細胞間的相互作用和治療反應。</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**炎症性腸病患者的癌症風險認識**  </a:t>
            </a:r>
            <a:endParaRPr lang="en-US" sz="1200" dirty="0"/>
          </a:p>
          <a:p>
            <a:pPr indent="0" marL="0">
              <a:lnSpc>
                <a:spcPct val="150000"/>
              </a:lnSpc>
              <a:buNone/>
            </a:pPr>
            <a:r>
              <a:rPr lang="en-US" sz="1200" dirty="0">
                <a:solidFill>
                  <a:srgbClr val="FFFFFF"/>
                </a:solidFill>
              </a:rPr>
              <a:t>   There is a critical gap in awareness regarding the colorectal cancer risk among patients with inflammatory bowel disease, highlighting the need for improved education and management strategies.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為炎症性腸病患者對結直腸癌風險的認識存在重大缺口，強調需要改善教育和管理策略。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**微生物組與癌症機制的深入研究**  </a:t>
            </a:r>
            <a:endParaRPr lang="en-US" sz="1200" dirty="0"/>
          </a:p>
          <a:p>
            <a:pPr indent="0" marL="0">
              <a:lnSpc>
                <a:spcPct val="150000"/>
              </a:lnSpc>
              <a:buNone/>
            </a:pPr>
            <a:r>
              <a:rPr lang="en-US" sz="1200" dirty="0">
                <a:solidFill>
                  <a:srgbClr val="FFFFFF"/>
                </a:solidFill>
              </a:rPr>
              <a:t>   Future studies should focus on elucidating the mechanisms by which gut microbiota, like *Parasutterella excrementihominis*, contribute to colitis and colorectal cancer pathogenesis.  </a:t>
            </a:r>
            <a:endParaRPr lang="en-US" sz="1200" dirty="0"/>
          </a:p>
          <a:p>
            <a:pPr indent="0" marL="0">
              <a:lnSpc>
                <a:spcPct val="150000"/>
              </a:lnSpc>
              <a:buNone/>
            </a:pPr>
            <a:r>
              <a:rPr lang="en-US" sz="1200" dirty="0">
                <a:solidFill>
                  <a:srgbClr val="FFFFFF"/>
                </a:solidFill>
              </a:rPr>
              <a:t>   未來的研究應專注於闡明腸道微生物（如*Parasutterella excrementihominis*）如何促進結腸炎和結直腸癌發病機制。</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**SII在不同階段癌症中的應用**  </a:t>
            </a:r>
            <a:endParaRPr lang="en-US" sz="1200" dirty="0"/>
          </a:p>
          <a:p>
            <a:pPr indent="0" marL="0">
              <a:lnSpc>
                <a:spcPct val="150000"/>
              </a:lnSpc>
              <a:buNone/>
            </a:pPr>
            <a:r>
              <a:rPr lang="en-US" sz="1200" dirty="0">
                <a:solidFill>
                  <a:srgbClr val="FFFFFF"/>
                </a:solidFill>
              </a:rPr>
              <a:t>   Investigating the role of SII across various stages of colorectal cancer could provide insights into its utility as a dynamic prognostic tool.  </a:t>
            </a:r>
            <a:endParaRPr lang="en-US" sz="1200" dirty="0"/>
          </a:p>
          <a:p>
            <a:pPr indent="0" marL="0">
              <a:lnSpc>
                <a:spcPct val="150000"/>
              </a:lnSpc>
              <a:buNone/>
            </a:pPr>
            <a:r>
              <a:rPr lang="en-US" sz="1200" dirty="0">
                <a:solidFill>
                  <a:srgbClr val="FFFFFF"/>
                </a:solidFill>
              </a:rPr>
              <a:t>   研究SII在不同階段結直腸癌中的作用，可能會提供其作為動態預後工具的實用性見解。</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**傳統醫學與現代療法的結合**  </a:t>
            </a:r>
            <a:endParaRPr lang="en-US" sz="1200" dirty="0"/>
          </a:p>
          <a:p>
            <a:pPr indent="0" marL="0">
              <a:lnSpc>
                <a:spcPct val="150000"/>
              </a:lnSpc>
              <a:buNone/>
            </a:pPr>
            <a:r>
              <a:rPr lang="en-US" sz="1200" dirty="0">
                <a:solidFill>
                  <a:srgbClr val="FFFFFF"/>
                </a:solidFill>
              </a:rPr>
              <a:t>   Further research is needed to explore the synergistic effects of traditional Chinese medicine and modern therapies in managing colorectal cancer.  </a:t>
            </a:r>
            <a:endParaRPr lang="en-US" sz="1200" dirty="0"/>
          </a:p>
          <a:p>
            <a:pPr indent="0" marL="0">
              <a:lnSpc>
                <a:spcPct val="150000"/>
              </a:lnSpc>
              <a:buNone/>
            </a:pPr>
            <a:r>
              <a:rPr lang="en-US" sz="1200" dirty="0">
                <a:solidFill>
                  <a:srgbClr val="FFFFFF"/>
                </a:solidFill>
              </a:rPr>
              <a:t>   需要進一步研究傳統中醫與現代療法在管理結直腸癌中的協同效應。</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**腫瘤微環境的治療干預**  </a:t>
            </a:r>
            <a:endParaRPr lang="en-US" sz="1200" dirty="0"/>
          </a:p>
          <a:p>
            <a:pPr indent="0" marL="0">
              <a:lnSpc>
                <a:spcPct val="150000"/>
              </a:lnSpc>
              <a:buNone/>
            </a:pPr>
            <a:r>
              <a:rPr lang="en-US" sz="1200" dirty="0">
                <a:solidFill>
                  <a:srgbClr val="FFFFFF"/>
                </a:solidFill>
              </a:rPr>
              <a:t>   Future research should investigate therapeutic strategies targeting the spatial organization of the TME to enhance treatment efficacy in colorectal cancer.  </a:t>
            </a:r>
            <a:endParaRPr lang="en-US" sz="1200" dirty="0"/>
          </a:p>
          <a:p>
            <a:pPr indent="0" marL="0">
              <a:lnSpc>
                <a:spcPct val="150000"/>
              </a:lnSpc>
              <a:buNone/>
            </a:pPr>
            <a:r>
              <a:rPr lang="en-US" sz="1200" dirty="0">
                <a:solidFill>
                  <a:srgbClr val="FFFFFF"/>
                </a:solidFill>
              </a:rPr>
              <a:t>   未來的研究應調查針對TME空間組織的治療策略，以提高結直腸癌的治療效果。</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**增強患者對癌症風險的認識**  </a:t>
            </a:r>
            <a:endParaRPr lang="en-US" sz="1200" dirty="0"/>
          </a:p>
          <a:p>
            <a:pPr indent="0" marL="0">
              <a:lnSpc>
                <a:spcPct val="150000"/>
              </a:lnSpc>
              <a:buNone/>
            </a:pPr>
            <a:r>
              <a:rPr lang="en-US" sz="1200" dirty="0">
                <a:solidFill>
                  <a:srgbClr val="FFFFFF"/>
                </a:solidFill>
              </a:rPr>
              <a:t>   Developing educational programs aimed at increasing awareness of colorectal cancer risks in patients with inflammatory bowel disease is essential for better management.  </a:t>
            </a:r>
            <a:endParaRPr lang="en-US" sz="1200" dirty="0"/>
          </a:p>
          <a:p>
            <a:pPr indent="0" marL="0">
              <a:lnSpc>
                <a:spcPct val="150000"/>
              </a:lnSpc>
              <a:buNone/>
            </a:pPr>
            <a:r>
              <a:rPr lang="en-US" sz="1200" dirty="0">
                <a:solidFill>
                  <a:srgbClr val="FFFFFF"/>
                </a:solidFill>
              </a:rPr>
              <a:t>   制定旨在提高炎症性腸病患者對結直腸癌風險認識的教育計劃，對於改善管理至關重要。</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大腸直腸外科文獻週報</dc:title>
  <dc:subject>PptxGenJS Presentation</dc:subject>
  <dc:creator>Colorectal Weekly Digest</dc:creator>
  <cp:lastModifiedBy>Colorectal Weekly Digest</cp:lastModifiedBy>
  <cp:revision>1</cp:revision>
  <dcterms:created xsi:type="dcterms:W3CDTF">2026-04-27T04:32:54Z</dcterms:created>
  <dcterms:modified xsi:type="dcterms:W3CDTF">2026-04-27T04:32:54Z</dcterms:modified>
</cp:coreProperties>
</file>