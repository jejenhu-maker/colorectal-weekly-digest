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i.org/10.1016/S1470-2045(26)00220-2" TargetMode="External"/><Relationship Id="rId2" Type="http://schemas.openxmlformats.org/officeDocument/2006/relationships/hyperlink" Target="https://doi.org/10.1016/S1470-2045(26)00220-2"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021/acs.jafc.5c17732" TargetMode="External"/><Relationship Id="rId2" Type="http://schemas.openxmlformats.org/officeDocument/2006/relationships/hyperlink" Target="https://doi.org/10.1021/acs.jafc.5c17732"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016/j.jfma.2025.05.010" TargetMode="External"/><Relationship Id="rId2" Type="http://schemas.openxmlformats.org/officeDocument/2006/relationships/hyperlink" Target="https://doi.org/10.1016/j.jfma.2025.05.010"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016/j.tranon.2026.102930" TargetMode="External"/><Relationship Id="rId2" Type="http://schemas.openxmlformats.org/officeDocument/2006/relationships/hyperlink" Target="https://doi.org/10.1016/j.tranon.2026.102930"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002/anie.3918717" TargetMode="External"/><Relationship Id="rId2" Type="http://schemas.openxmlformats.org/officeDocument/2006/relationships/hyperlink" Target="https://doi.org/10.1002/anie.3918717"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007/s00011-026-02325-3" TargetMode="External"/><Relationship Id="rId2" Type="http://schemas.openxmlformats.org/officeDocument/2006/relationships/hyperlink" Target="https://doi.org/10.1007/s00011-026-02325-3"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sciencedirect.com/science/article/pii/S221074012600063X" TargetMode="External"/><Relationship Id="rId2" Type="http://schemas.openxmlformats.org/officeDocument/2006/relationships/hyperlink" Target="https://www.sciencedirect.com/science/article/pii/S221074012600063X"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016/j.celrep.2026.117645" TargetMode="External"/><Relationship Id="rId2" Type="http://schemas.openxmlformats.org/officeDocument/2006/relationships/hyperlink" Target="https://doi.org/10.1016/j.celrep.2026.117645"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245/s10434-026-19493-5" TargetMode="External"/><Relationship Id="rId2" Type="http://schemas.openxmlformats.org/officeDocument/2006/relationships/hyperlink" Target="https://doi.org/10.1245/s10434-026-19493-5"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016/j.ejso.2026.111950" TargetMode="External"/><Relationship Id="rId2" Type="http://schemas.openxmlformats.org/officeDocument/2006/relationships/hyperlink" Target="https://doi.org/10.1016/j.ejso.2026.111950"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30000"/>
              </a:lnSpc>
              <a:buNone/>
            </a:pPr>
            <a:r>
              <a:rPr lang="en-US" sz="4400" b="1" dirty="0">
                <a:solidFill>
                  <a:srgbClr val="FFFFFF"/>
                </a:solidFill>
                <a:latin typeface="Arial" pitchFamily="34" charset="0"/>
                <a:ea typeface="Arial" pitchFamily="34" charset="-122"/>
                <a:cs typeface="Arial" pitchFamily="34" charset="-120"/>
              </a:rPr>
              <a:t>Colorectal Surgery</a:t>
            </a:r>
            <a:endParaRPr lang="en-US" sz="4400" dirty="0"/>
          </a:p>
          <a:p>
            <a:pPr indent="0" marL="0">
              <a:lnSpc>
                <a:spcPct val="130000"/>
              </a:lnSpc>
              <a:buNone/>
            </a:pPr>
            <a:r>
              <a:rPr lang="en-US" sz="2200" dirty="0">
                <a:solidFill>
                  <a:srgbClr val="DBEAFE"/>
                </a:solidFill>
                <a:latin typeface="Microsoft JhengHei" pitchFamily="34" charset="0"/>
                <a:ea typeface="Microsoft JhengHei" pitchFamily="34" charset="-122"/>
                <a:cs typeface="Microsoft JhengHei" pitchFamily="34" charset="-120"/>
              </a:rPr>
              <a:t>大腸直腸外科文獻週報</a:t>
            </a:r>
            <a:endParaRPr lang="en-US" sz="44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2026-07-27 — 2026-08-03</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篇精選論文</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目錄</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Neoadjuvant toripalimab plus celecoxib versus toripalimab monotherapy for mismat…</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Diarylheptanoid Phytoestrogen from Curcuma comosa Attenuates Colitis and Colitis…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Probiotics may not adhere to gut and provide benefits in inflammatory bowel dise…</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IGHG1&amp;#x207a; plasma cells define an NF-&amp;#x3ba;B-driven inflammatory program tha…</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Mitochondria-Targeting Iridium(III) Complexes Induce PANoptosis and Ferroptosis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NKR+CD8+ T cells and iNKT cells protect mice from AOM/DSS-induced colorectal can…</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Predictive utility of the C-reactive protein-albumin-lymphocyte (CALLY) index in…</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Combining genotoxic gut bacterial strains increases tumor burden and accelerates…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Immediate Second Look After Cytoreduction for Colorectal or Ovarian Carcinomatos…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Incidence and outcomes of metachronous peritoneal metastasis in the setting of 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Neoadjuvant toripalimab plus celecoxib versus toripalimab monotherapy for mismatch repair-deficient or microsatellite instability-high, locally advanced colorectal cancer (PICC-2): an open-label, multicentre, randomised, phase 2 trial.</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The Lancet. Oncology  ·  IF 41.6  ·  RCT Phase 3</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測試新輔助toripalimab加celecoxib</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病理完全緩解顯著增加</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兩組安全性相似</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Hu Huabin, Shen Xutao, Li Yunfeng et al.. The Lancet. Oncology. 2026-07-27 DOI: 10.1016/S1470-2045(26)00220-2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Diarylheptanoid Phytoestrogen from Curcuma comosa Attenuates Colitis and Colitis-Associated Colorectal Cancer by Inhibiting Inflammation and Oxidative Stress and Modulating Gut Microbiota.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agricultural and food chemistry  ·  RCT Phase 2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Diarylheptanoids 減輕腸炎症狀。</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DPH 抑制發炎和氧化壓力。</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調節腸道微生物以促進健康。</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Truong Van-Long, Rarison Razanamanana H G, Song Eun-Ji et al.. Journal of agricultural and food chemistry. 2026-07-29 DOI: 10.1021/acs.jafc.5c17732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Probiotics may not adhere to gut and provide benefits in inflammatory bowel disease patients based on an AOM/DSS murine model.</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the Formosan Medical Association = Taiwan yi zhi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IBD患者常見腸道失調。</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Akkermansia muciniphila具潛力。</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AKK治療無顯著效果。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觀察到益生菌療法黏附差。</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需進一步研究益生菌。</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Hu Ming-Luen, Wang Feng-Sheng, Lian Wei-Shiung et al.. Journal of the Formosan Medical Association = Taiwan yi zhi. 2026-07-27 DOI: 10.1016/j.jfma.2025.05.010</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IGHG1&amp;#x207a; plasma cells define an NF-&amp;#x3ba;B-driven inflammatory program that shapes T-cell immunity and immunotherapy response in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Translational oncology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IGHG1+ 漿細胞增強 T 細胞免疫。</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NF-κB 通路驅動炎症程序。</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標誌預測免疫治療反應。</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Zhang Rui-Feng, Zhang Wan-Ze, Li He et al.. Translational oncology. 2026-07-27 DOI: 10.1016/j.tranon.2026.102930</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Mitochondria-Targeting Iridium(III) Complexes Induce PANoptosis and Ferroptosis for Boosting Chemoimmunotherapy Against Immune-Desert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Angewandte Chemie (International ed. in English)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MSS-CRC對化療挑戰大。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Iridium(III)複合物誘導PANoptosis。</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聯合ferroptosis增強免疫療法。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機制導向設計提升療效。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蛋白質組學分析確認途徑活化。</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Liu Xing, Feng Tao, Yang Xiaoting et al.. Angewandte Chemie (International ed. in English). 2026-07-29 DOI: 10.1002/anie.3918717</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NKR+CD8+ T cells and iNKT cells protect mice from AOM/DSS-induced colorectal cancer under conditions of IFN&amp;#x3b3;-mediated hyperinflammation.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Inflammation research : official journal of the European Histamine Research Society ... [et al.]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NKR+CD8+ T 細胞增強抗腫瘤免疫。</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iNKT 細胞對 CRC 控制至關重要。</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IFN-gamma 介導超炎症效應。</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Park Hyun Jung, Lee Sung Won, Park Yun Hoo et al.. Inflammation research : official journal of the European Histamine Research Society ... [et al.]. 2026-07-31 DOI: 10.1007/s00011-026-02325-3</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Predictive utility of the C-reactive protein-albumin-lymphocyte (CALLY) index in Colorectal cancer: A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Clinics and Research in Hepatology and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CALLY指數預測大腸癌結果。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炎症和免疫功能至關重要。</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Meta分析支持CALLY的臨床應用。</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Li, T Chu, W Chen. Clinics and Research in Hepatology and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Combining genotoxic gut bacterial strains increases tumor burden and accelerates onset in a germ-free mouse model of colon carcinogenesis.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Cell reports  ·  IF 8.8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無菌小鼠植入19種微生物群</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腫瘤數量因供體微生物而異</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基因毒性預測腫瘤微生物</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結合基因毒性菌株增加腫瘤</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菌株平衡影響腫瘤發生</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Plitt Tamar, Piessevaux Alix, Rajpal Urvija et al.. Cell reports. 2026-07-30 DOI: 10.1016/j.celrep.2026.117645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Immediate Second Look After Cytoreduction for Colorectal or Ovarian Carcinomatosis: An Invisible Gorilla Effect?</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Annals of surgical oncology  ·  IF 3.8  ·  Prospective Study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研究立即第二次檢查於CRS後</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172名患者接受CC0 CRS評估</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88.1%患者有額外腫塊切除</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47.4%切除腫塊確認為惡性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高認知注意力但仍有錯誤</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Dumont Fr&amp;#xe9;d&amp;#xe9;ric, Cosse Lola, Thibaudeau Emilie et al.. Annals of surgical oncology. 2026-07-07 DOI: 10.1245/s10434-026-19493-5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Incidence and outcomes of metachronous peritoneal metastasis in the setting of obstructing colon cancer: a systematic review.</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European journal of surgical oncology : the journal of the European Society of Surgical Oncology and the British Association of Surgical Oncology  ·  Systematic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結直腸腹膜轉移診斷困難。</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結腸癌阻塞影響生存率。</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隨時間出現腹膜轉移率：7-21%。</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3年生存率：腹膜病48-56%。</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需進行前瞻性研究降低復發風險。</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O'Connell L V, McCafferty J, Udayasiri D et al.. European journal of surgical oncology : the journal of the European Society of Surgical Oncology and the British Association of Surgical Oncology. 2026-07-17 DOI: 10.1016/j.ejso.2026.111950</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**免疫檢查點抑制劑的潛力**  </a:t>
            </a:r>
            <a:endParaRPr lang="en-US" sz="1200" dirty="0"/>
          </a:p>
          <a:p>
            <a:pPr indent="0" marL="0">
              <a:lnSpc>
                <a:spcPct val="150000"/>
              </a:lnSpc>
              <a:buNone/>
            </a:pPr>
            <a:r>
              <a:rPr lang="en-US" sz="1200" dirty="0">
                <a:solidFill>
                  <a:srgbClr val="FFFFFF"/>
                </a:solidFill>
              </a:rPr>
              <a:t>   The combination of neoadjuvant toripalimab and celecoxib demonstrates significant efficacy in dMMR/MSI-H locally advanced colorectal cancer, highlighting the potential of immune checkpoint inhibitors in enhancing treatment outcomes.  </a:t>
            </a:r>
            <a:endParaRPr lang="en-US" sz="1200" dirty="0"/>
          </a:p>
          <a:p>
            <a:pPr indent="0" marL="0">
              <a:lnSpc>
                <a:spcPct val="150000"/>
              </a:lnSpc>
              <a:buNone/>
            </a:pPr>
            <a:r>
              <a:rPr lang="en-US" sz="1200" dirty="0">
                <a:solidFill>
                  <a:srgbClr val="FFFFFF"/>
                </a:solidFill>
              </a:rPr>
              <a:t>   併用新輔助治療的toripalimab和celecoxib在dMMR/MSI-H的局部晚期結腸直腸癌中顯示出顯著的療效，突顯了免疫檢查點抑制劑在改善治療結果中的潛力。</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**腸道微生物對癌症的影響**  </a:t>
            </a:r>
            <a:endParaRPr lang="en-US" sz="1200" dirty="0"/>
          </a:p>
          <a:p>
            <a:pPr indent="0" marL="0">
              <a:lnSpc>
                <a:spcPct val="150000"/>
              </a:lnSpc>
              <a:buNone/>
            </a:pPr>
            <a:r>
              <a:rPr lang="en-US" sz="1200" dirty="0">
                <a:solidFill>
                  <a:srgbClr val="FFFFFF"/>
                </a:solidFill>
              </a:rPr>
              <a:t>   Dysbiosis in the gut microbiota is linked to inflammatory bowel disease and colorectal cancer, suggesting that modulation of gut microbiota could be a viable therapeutic strategy.  </a:t>
            </a:r>
            <a:endParaRPr lang="en-US" sz="1200" dirty="0"/>
          </a:p>
          <a:p>
            <a:pPr indent="0" marL="0">
              <a:lnSpc>
                <a:spcPct val="150000"/>
              </a:lnSpc>
              <a:buNone/>
            </a:pPr>
            <a:r>
              <a:rPr lang="en-US" sz="1200" dirty="0">
                <a:solidFill>
                  <a:srgbClr val="FFFFFF"/>
                </a:solidFill>
              </a:rPr>
              <a:t>   腸道微生物失調與炎症性腸病和結腸直腸癌有關，這表明調節腸道微生物可能是一種可行的治療策略。</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**炎症與癌症的關聯**  </a:t>
            </a:r>
            <a:endParaRPr lang="en-US" sz="1200" dirty="0"/>
          </a:p>
          <a:p>
            <a:pPr indent="0" marL="0">
              <a:lnSpc>
                <a:spcPct val="150000"/>
              </a:lnSpc>
              <a:buNone/>
            </a:pPr>
            <a:r>
              <a:rPr lang="en-US" sz="1200" dirty="0">
                <a:solidFill>
                  <a:srgbClr val="FFFFFF"/>
                </a:solidFill>
              </a:rPr>
              <a:t>   The role of inflammation in colorectal cancer is multifaceted, with both promoting and suppressing effects depending on the context, emphasizing the need for targeted therapies that consider the tumor microenvironment.  </a:t>
            </a:r>
            <a:endParaRPr lang="en-US" sz="1200" dirty="0"/>
          </a:p>
          <a:p>
            <a:pPr indent="0" marL="0">
              <a:lnSpc>
                <a:spcPct val="150000"/>
              </a:lnSpc>
              <a:buNone/>
            </a:pPr>
            <a:r>
              <a:rPr lang="en-US" sz="1200" dirty="0">
                <a:solidFill>
                  <a:srgbClr val="FFFFFF"/>
                </a:solidFill>
              </a:rPr>
              <a:t>   炎症在結腸直腸癌中的作用是多方面的，根據情境的不同可能有促進或抑制的效果，強調需要考慮腫瘤微環境的靶向治療。</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**預測指標的應用**  </a:t>
            </a:r>
            <a:endParaRPr lang="en-US" sz="1200" dirty="0"/>
          </a:p>
          <a:p>
            <a:pPr indent="0" marL="0">
              <a:lnSpc>
                <a:spcPct val="150000"/>
              </a:lnSpc>
              <a:buNone/>
            </a:pPr>
            <a:r>
              <a:rPr lang="en-US" sz="1200" dirty="0">
                <a:solidFill>
                  <a:srgbClr val="FFFFFF"/>
                </a:solidFill>
              </a:rPr>
              <a:t>   The C-reactive protein-albumin-lymphocyte (CALLY) index shows promise as a predictive marker for colorectal cancer outcomes, indicating the importance of inflammatory markers in prognostication.  </a:t>
            </a:r>
            <a:endParaRPr lang="en-US" sz="1200" dirty="0"/>
          </a:p>
          <a:p>
            <a:pPr indent="0" marL="0">
              <a:lnSpc>
                <a:spcPct val="150000"/>
              </a:lnSpc>
              <a:buNone/>
            </a:pPr>
            <a:r>
              <a:rPr lang="en-US" sz="1200" dirty="0">
                <a:solidFill>
                  <a:srgbClr val="FFFFFF"/>
                </a:solidFill>
              </a:rPr>
              <a:t>   C-反應蛋白-白蛋白-淋巴細胞（CALLY）指數顯示出作為結腸直腸癌預後標記的潛力，表明炎症標記在預後中的重要性。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**新型治療策略的探索**  </a:t>
            </a:r>
            <a:endParaRPr lang="en-US" sz="1200" dirty="0"/>
          </a:p>
          <a:p>
            <a:pPr indent="0" marL="0">
              <a:lnSpc>
                <a:spcPct val="150000"/>
              </a:lnSpc>
              <a:buNone/>
            </a:pPr>
            <a:r>
              <a:rPr lang="en-US" sz="1200" dirty="0">
                <a:solidFill>
                  <a:srgbClr val="FFFFFF"/>
                </a:solidFill>
              </a:rPr>
              <a:t>   Emerging therapies targeting mitochondrial pathways and programmed cell death mechanisms represent innovative approaches to overcoming resistance in microsatellite stable colorectal cancer.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新興的針對線粒體途徑和程序性細胞死亡機制的治療策略代表了克服微衛星穩定型結腸直腸癌耐藥性的新方法。</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**免疫療法組合策略**  </a:t>
            </a:r>
            <a:endParaRPr lang="en-US" sz="1200" dirty="0"/>
          </a:p>
          <a:p>
            <a:pPr indent="0" marL="0">
              <a:lnSpc>
                <a:spcPct val="150000"/>
              </a:lnSpc>
              <a:buNone/>
            </a:pPr>
            <a:r>
              <a:rPr lang="en-US" sz="1200" dirty="0">
                <a:solidFill>
                  <a:srgbClr val="FFFFFF"/>
                </a:solidFill>
              </a:rPr>
              <a:t>   Investigating the synergistic effects of combining immune checkpoint inhibitors with anti-inflammatory agents like celecoxib in various colorectal cancer subtypes could enhance therapeutic efficacy.  </a:t>
            </a:r>
            <a:endParaRPr lang="en-US" sz="1200" dirty="0"/>
          </a:p>
          <a:p>
            <a:pPr indent="0" marL="0">
              <a:lnSpc>
                <a:spcPct val="150000"/>
              </a:lnSpc>
              <a:buNone/>
            </a:pPr>
            <a:r>
              <a:rPr lang="en-US" sz="1200" dirty="0">
                <a:solidFill>
                  <a:srgbClr val="FFFFFF"/>
                </a:solidFill>
              </a:rPr>
              <a:t>   探索將免疫檢查點抑制劑與抗炎劑如celecoxib結合的協同效應在不同結腸直腸癌亞型中的應用，可能提高療效。</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**微生物組的調節**  </a:t>
            </a:r>
            <a:endParaRPr lang="en-US" sz="1200" dirty="0"/>
          </a:p>
          <a:p>
            <a:pPr indent="0" marL="0">
              <a:lnSpc>
                <a:spcPct val="150000"/>
              </a:lnSpc>
              <a:buNone/>
            </a:pPr>
            <a:r>
              <a:rPr lang="en-US" sz="1200" dirty="0">
                <a:solidFill>
                  <a:srgbClr val="FFFFFF"/>
                </a:solidFill>
              </a:rPr>
              <a:t>   Future studies should focus on the manipulation of gut microbiota to assess its impact on treatment responses in colorectal cancer, particularly in patients with inflammatory bowel disease.  </a:t>
            </a:r>
            <a:endParaRPr lang="en-US" sz="1200" dirty="0"/>
          </a:p>
          <a:p>
            <a:pPr indent="0" marL="0">
              <a:lnSpc>
                <a:spcPct val="150000"/>
              </a:lnSpc>
              <a:buNone/>
            </a:pPr>
            <a:r>
              <a:rPr lang="en-US" sz="1200" dirty="0">
                <a:solidFill>
                  <a:srgbClr val="FFFFFF"/>
                </a:solidFill>
              </a:rPr>
              <a:t>   未來的研究應集中於調節腸道微生物，以評估其對結腸直腸癌治療反應的影響，特別是在炎症性腸病患者中。</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**炎症標記的臨床應用**  </a:t>
            </a:r>
            <a:endParaRPr lang="en-US" sz="1200" dirty="0"/>
          </a:p>
          <a:p>
            <a:pPr indent="0" marL="0">
              <a:lnSpc>
                <a:spcPct val="150000"/>
              </a:lnSpc>
              <a:buNone/>
            </a:pPr>
            <a:r>
              <a:rPr lang="en-US" sz="1200" dirty="0">
                <a:solidFill>
                  <a:srgbClr val="FFFFFF"/>
                </a:solidFill>
              </a:rPr>
              <a:t>   Further validation of the CALLY index and other inflammatory biomarkers in diverse populations could refine prognostic models and guide personalized treatment approaches.  </a:t>
            </a:r>
            <a:endParaRPr lang="en-US" sz="1200" dirty="0"/>
          </a:p>
          <a:p>
            <a:pPr indent="0" marL="0">
              <a:lnSpc>
                <a:spcPct val="150000"/>
              </a:lnSpc>
              <a:buNone/>
            </a:pPr>
            <a:r>
              <a:rPr lang="en-US" sz="1200" dirty="0">
                <a:solidFill>
                  <a:srgbClr val="FFFFFF"/>
                </a:solidFill>
              </a:rPr>
              <a:t>   在不同人群中進一步驗證CALLY指數和其他炎症生物標記，可能有助於完善預後模型並指導個性化治療方案。</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**腫瘤微環境的研究**  </a:t>
            </a:r>
            <a:endParaRPr lang="en-US" sz="1200" dirty="0"/>
          </a:p>
          <a:p>
            <a:pPr indent="0" marL="0">
              <a:lnSpc>
                <a:spcPct val="150000"/>
              </a:lnSpc>
              <a:buNone/>
            </a:pPr>
            <a:r>
              <a:rPr lang="en-US" sz="1200" dirty="0">
                <a:solidFill>
                  <a:srgbClr val="FFFFFF"/>
                </a:solidFill>
              </a:rPr>
              <a:t>   Comprehensive studies on the tumor microenvironment's heterogeneity and its influence on immune responses will be crucial for developing tailored immunotherapies.  </a:t>
            </a:r>
            <a:endParaRPr lang="en-US" sz="1200" dirty="0"/>
          </a:p>
          <a:p>
            <a:pPr indent="0" marL="0">
              <a:lnSpc>
                <a:spcPct val="150000"/>
              </a:lnSpc>
              <a:buNone/>
            </a:pPr>
            <a:r>
              <a:rPr lang="en-US" sz="1200" dirty="0">
                <a:solidFill>
                  <a:srgbClr val="FFFFFF"/>
                </a:solidFill>
              </a:rPr>
              <a:t>   對腫瘤微環境的異質性及其對免疫反應影響的綜合研究將對開發量身定制的免疫療法至關重要。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**新型治療機制的探索**  </a:t>
            </a:r>
            <a:endParaRPr lang="en-US" sz="1200" dirty="0"/>
          </a:p>
          <a:p>
            <a:pPr indent="0" marL="0">
              <a:lnSpc>
                <a:spcPct val="150000"/>
              </a:lnSpc>
              <a:buNone/>
            </a:pPr>
            <a:r>
              <a:rPr lang="en-US" sz="1200" dirty="0">
                <a:solidFill>
                  <a:srgbClr val="FFFFFF"/>
                </a:solidFill>
              </a:rPr>
              <a:t>   Continued exploration of mitochondrial-targeting therapies and their role in enhancing immune responses in colorectal cancer could lead to novel treatment paradigms.  </a:t>
            </a:r>
            <a:endParaRPr lang="en-US" sz="1200" dirty="0"/>
          </a:p>
          <a:p>
            <a:pPr indent="0" marL="0">
              <a:lnSpc>
                <a:spcPct val="150000"/>
              </a:lnSpc>
              <a:buNone/>
            </a:pPr>
            <a:r>
              <a:rPr lang="en-US" sz="1200" dirty="0">
                <a:solidFill>
                  <a:srgbClr val="FFFFFF"/>
                </a:solidFill>
              </a:rPr>
              <a:t>   繼續探索針對線粒體的治療及其在增強結腸直腸癌免疫反應中的作用，可能會導致新型治療範式的出現。</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749040"/>
            <a:ext cx="10058400" cy="0"/>
          </a:xfrm>
          <a:prstGeom prst="rect">
            <a:avLst/>
          </a:prstGeom>
          <a:noFill/>
          <a:ln/>
        </p:spPr>
        <p:txBody>
          <a:bodyPr wrap="square" lIns="0" tIns="0" rIns="0" bIns="0" rtlCol="0" anchor="ctr"/>
          <a:lstStyle/>
          <a:p>
            <a:pPr indent="0" marL="0">
              <a:buNone/>
            </a:pPr>
            <a:r>
              <a:rPr lang="en-US" sz="2400" dirty="0">
                <a:solidFill>
                  <a:srgbClr val="888888"/>
                </a:solidFill>
                <a:latin typeface="Microsoft JhengHei" pitchFamily="34" charset="0"/>
                <a:ea typeface="Microsoft JhengHei" pitchFamily="34" charset="-122"/>
                <a:cs typeface="Microsoft JhengHei" pitchFamily="34" charset="-120"/>
              </a:rPr>
              <a:t>謝謝</a:t>
            </a:r>
            <a:endParaRPr lang="en-US" sz="2400" dirty="0"/>
          </a:p>
        </p:txBody>
      </p:sp>
      <p:sp>
        <p:nvSpPr>
          <p:cNvPr id="4" name="Text 2"/>
          <p:cNvSpPr/>
          <p:nvPr/>
        </p:nvSpPr>
        <p:spPr>
          <a:xfrm>
            <a:off x="731520" y="457200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大腸直腸外科文獻週報</dc:title>
  <dc:subject>PptxGenJS Presentation</dc:subject>
  <dc:creator>Colorectal Weekly Digest</dc:creator>
  <cp:lastModifiedBy>Colorectal Weekly Digest</cp:lastModifiedBy>
  <cp:revision>1</cp:revision>
  <dcterms:created xsi:type="dcterms:W3CDTF">2026-08-03T01:39:07Z</dcterms:created>
  <dcterms:modified xsi:type="dcterms:W3CDTF">2026-08-03T01:39:07Z</dcterms:modified>
</cp:coreProperties>
</file>