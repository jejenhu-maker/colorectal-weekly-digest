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doi.org/10.2147/IJN.S619486" TargetMode="External"/><Relationship Id="rId2" Type="http://schemas.openxmlformats.org/officeDocument/2006/relationships/hyperlink" Target="https://doi.org/10.2147/IJN.S619486"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i.org/10.1016/j.jep.2026.121742" TargetMode="External"/><Relationship Id="rId2" Type="http://schemas.openxmlformats.org/officeDocument/2006/relationships/hyperlink" Target="https://doi.org/10.1016/j.jep.2026.121742"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www.frontiersin.org/journals/oncology/articles/10.3389/fonc.2026.1616016/full" TargetMode="External"/><Relationship Id="rId2" Type="http://schemas.openxmlformats.org/officeDocument/2006/relationships/hyperlink" Target="https://www.frontiersin.org/journals/oncology/articles/10.3389/fonc.2026.1616016/full"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link.springer.com/article/10.1007/s12094-026-04225-8" TargetMode="External"/><Relationship Id="rId2" Type="http://schemas.openxmlformats.org/officeDocument/2006/relationships/hyperlink" Target="https://link.springer.com/article/10.1007/s12094-026-04225-8"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link.springer.com/content/pdf/10.1186/s12967-026-08692-z_reference.pdf" TargetMode="External"/><Relationship Id="rId2" Type="http://schemas.openxmlformats.org/officeDocument/2006/relationships/hyperlink" Target="https://link.springer.com/content/pdf/10.1186/s12967-026-08692-z_reference.pdf"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016/j.actbio.2026.08.012" TargetMode="External"/><Relationship Id="rId2" Type="http://schemas.openxmlformats.org/officeDocument/2006/relationships/hyperlink" Target="https://doi.org/10.1016/j.actbio.2026.08.012"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www.mdpi.com/2072-6694/18/4/576" TargetMode="External"/><Relationship Id="rId2" Type="http://schemas.openxmlformats.org/officeDocument/2006/relationships/hyperlink" Target="https://www.mdpi.com/2072-6694/18/4/576"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oi.org/10.1113/EP093809" TargetMode="External"/><Relationship Id="rId2" Type="http://schemas.openxmlformats.org/officeDocument/2006/relationships/hyperlink" Target="https://doi.org/10.1113/EP093809"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link.springer.com/article/10.1245/s10434-025-17363-0" TargetMode="External"/><Relationship Id="rId2" Type="http://schemas.openxmlformats.org/officeDocument/2006/relationships/hyperlink" Target="https://link.springer.com/article/10.1245/s10434-025-17363-0"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link.springer.com/article/10.1007/s10555-026-10335-0" TargetMode="External"/><Relationship Id="rId2" Type="http://schemas.openxmlformats.org/officeDocument/2006/relationships/hyperlink" Target="https://link.springer.com/article/10.1007/s10555-026-10335-0"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30000"/>
              </a:lnSpc>
              <a:buNone/>
            </a:pPr>
            <a:r>
              <a:rPr lang="en-US" sz="4400" b="1" dirty="0">
                <a:solidFill>
                  <a:srgbClr val="FFFFFF"/>
                </a:solidFill>
                <a:latin typeface="Arial" pitchFamily="34" charset="0"/>
                <a:ea typeface="Arial" pitchFamily="34" charset="-122"/>
                <a:cs typeface="Arial" pitchFamily="34" charset="-120"/>
              </a:rPr>
              <a:t>Colorectal Surgery</a:t>
            </a:r>
            <a:endParaRPr lang="en-US" sz="4400" dirty="0"/>
          </a:p>
          <a:p>
            <a:pPr indent="0" marL="0">
              <a:lnSpc>
                <a:spcPct val="130000"/>
              </a:lnSpc>
              <a:buNone/>
            </a:pPr>
            <a:r>
              <a:rPr lang="en-US" sz="2200" dirty="0">
                <a:solidFill>
                  <a:srgbClr val="DBEAFE"/>
                </a:solidFill>
                <a:latin typeface="Microsoft JhengHei" pitchFamily="34" charset="0"/>
                <a:ea typeface="Microsoft JhengHei" pitchFamily="34" charset="-122"/>
                <a:cs typeface="Microsoft JhengHei" pitchFamily="34" charset="-120"/>
              </a:rPr>
              <a:t>大腸直腸外科文獻週報</a:t>
            </a:r>
            <a:endParaRPr lang="en-US" sz="44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2026-08-10 — 2026-08-17</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2563EB"/>
                </a:solidFill>
              </a:rPr>
              <a:t>10 篇精選論文</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目錄</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Enzyme/Reactive Oxygen Species-Dually Activated Hyaluronic Acid Nanocarriers Ena…</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Dabupi decoction mitigates fluorouracil-induced intestinal mucositis via farneso…</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Prognostic value of systemic immune-inflammation index for colorectal cancer: a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Iron, inflammation, and intestinal tumors: the crucial triad in colorectal cance…</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Neutrophil extracellular traps in colorectal cancer: context-dependent roles fro…</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Hierarchical core-shell nanoplatform with sequential Mn2+/Co2+ release enables d…</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The barrier–microbiota–inflammation axis in colorectal cancer: Mechanisms and em…</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Circulating granulocyte colony-stimulating factor as a sex-unbiased global marke…</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Consensus Guideline for the Management of Colorectal Cancer with Peritoneal Meta…</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Evolving therapeutics in colorectal cancer peritoneal metastases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Enzyme/Reactive Oxygen Species-Dually Activated Hyaluronic Acid Nanocarriers Enable Celastrol Delivery for Site-Specific Therapy of Inflammatory Bowel Diseases and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International journal of nanomedicine  ·  Basic Research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開發雙響應HA奈米載體進行治療</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針對UC和CAC的Celastrol靶向給藥</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增強細胞攝取及巨噬細胞極化</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顯著減少結腸癌腫瘤負擔</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聯合療法提升T細胞浸潤</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Shi Jinfeng, Zhang Xueqian, Yang Linxing et al.. International journal of nanomedicine. 2026-08-15 DOI: 10.2147/IJN.S619486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Dabupi decoction mitigates fluorouracil-induced intestinal mucositis via farnesoid X receptor activation and dihydropyrimidine dehydrogenase upregulation.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ethnopharmacology  ·  Basic Research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5-FU在化療中引起腸道黏膜炎。</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DBPD激活FXR並上調DPYD。</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DBPD減少炎症和屏障功能障礙。</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轉錄組分析揭示關鍵代謝通路。</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體外研究確認DBPD的保護作用。</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Wang ShunZhi, Li Yaling, Ma Jing et al.. Journal of ethnopharmacology. 2026-07-16 DOI: 10.1016/j.jep.2026.121742</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Prognostic value of systemic immune-inflammation index for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Frontiers in Oncology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評估系統性免疫炎症指數(SII)</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SII作為CRC預後生物標記</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研究結果不一致</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進行了統合分析以釐清</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SII的潛在臨床應用</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P Wang, H Jiang. Frontiers in Oncology.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Iron, inflammation, and intestinal tumors: the crucial triad in colorectal cancer progression and therapy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Clinical and …  ·  Prospective Study</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鐵攝取與CRC風險增加相關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發炎在病程中扮演重要角色</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Heme iron消費引發擔憂</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M Abediasl, M Siavash, SS Esfahani. Clinical and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Neutrophil extracellular traps in colorectal cancer: context-dependent roles from inflammatory carcinogenesis to liver metastasis and therapeutic targeting</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Translational Medicine  ·  IF 6.1</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大腸癌中的中性粒細胞外網</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炎症在癌變中的角色</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NETs促進肝轉移</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研究NETs的治療靶向</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NETs的情境依賴性功能</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D Xu, R Wang, J Tan. Journal of Translational Medicine.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Hierarchical core-shell nanoplatform with sequential Mn2+/Co2+ release enables dual-track STING amplification and radiosensitization for potent radio-metalloimmunotherapy.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Acta biomaterialia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開發層次核心-殼層奈米平台</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整合放射增敏與STING放大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序列釋放Mn2+和Co2+離子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將'冷'腫瘤轉變為'熱'病灶</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建立新的放射-金屬免疫療法範式</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Luo Baiyi, Xiang Qingming, Xie Yingling et al.. Acta biomaterialia. 2026-08-13 DOI: 10.1016/j.actbio.2026.08.012</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barrier–microbiota–inflammation axis in colorectal cancer: Mechanisms and emerging diagnostic &amp; therapeutic strategies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Cancers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LPS 促進發炎細胞激素分泌</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下調上皮緊密連接蛋白</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促進上皮細胞遷移與侵襲</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微生物群影響 CRC 發炎</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新興診斷與治療策略</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 Dong, J Yang, L He. Cancers.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Circulating granulocyte colony-stimulating factor as a sex-unbiased global marker of lung and colorectal cancer cachexia pre-clinical models.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Experimental physiology</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癌症惡病質影響80%患者。</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G-CSF水平與肌肉質量損失相關。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多模型分析細胞因子表現。</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開發互動應用程式可視化細胞因子。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G-CSF:IL-13比率作為潛在生物標記。</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Morena Francielly, Schrems Eleanor R, Cabrera Ana Regina et al.. Experimental physiology. 2026-08-15 DOI: 10.1113/EP093809</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Consensus Guideline for the Management of Colorectal Cancer with Peritoneal Metastases: PSM Writing Group et al.</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Annals of surgical …</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腹膜常見CRC轉移部位。</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管理指導方針旨在標準化治療。</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專家小組達成共識。</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KS Schultz, VV Bansal, MM Wach. Annals of surgical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Evolving therapeutics in colorectal cancer peritoneal metastases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 and Metastasis …</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大腸癌腹膜轉移具侵襲性。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細胞減除手術提升存活率。</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高溫腹腔化療療效顯著。</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JM Bader, N Aguirre, KS Schultz. Cancer and Metastasis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**雙重激活納米載體的潛力**  </a:t>
            </a:r>
            <a:endParaRPr lang="en-US" sz="1200" dirty="0"/>
          </a:p>
          <a:p>
            <a:pPr indent="0" marL="0">
              <a:lnSpc>
                <a:spcPct val="150000"/>
              </a:lnSpc>
              <a:buNone/>
            </a:pPr>
            <a:r>
              <a:rPr lang="en-US" sz="1200" dirty="0">
                <a:solidFill>
                  <a:srgbClr val="FFFFFF"/>
                </a:solidFill>
              </a:rPr>
              <a:t>   The development of enzyme/reactive oxygen species-dually activated hyaluronic acid nanocarriers showcases a promising approach for targeted therapy in inflammatory bowel diseases and colorectal cancer, addressing both inflammation and tumor progression.  </a:t>
            </a:r>
            <a:endParaRPr lang="en-US" sz="1200" dirty="0"/>
          </a:p>
          <a:p>
            <a:pPr indent="0" marL="0">
              <a:lnSpc>
                <a:spcPct val="150000"/>
              </a:lnSpc>
              <a:buNone/>
            </a:pPr>
            <a:r>
              <a:rPr lang="en-US" sz="1200" dirty="0">
                <a:solidFill>
                  <a:srgbClr val="FFFFFF"/>
                </a:solidFill>
              </a:rPr>
              <a:t>   雙重激活的透明質酸納米載體的開發展示了在炎症性腸病和結直腸癌的靶向治療中具有潛力的方法，針對炎症和腫瘤進展。</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**系統免疫炎症指數的預後價值**  </a:t>
            </a:r>
            <a:endParaRPr lang="en-US" sz="1200" dirty="0"/>
          </a:p>
          <a:p>
            <a:pPr indent="0" marL="0">
              <a:lnSpc>
                <a:spcPct val="150000"/>
              </a:lnSpc>
              <a:buNone/>
            </a:pPr>
            <a:r>
              <a:rPr lang="en-US" sz="1200" dirty="0">
                <a:solidFill>
                  <a:srgbClr val="FFFFFF"/>
                </a:solidFill>
              </a:rPr>
              <a:t>   The systemic immune-inflammation index (SII) emerges as a significant prognostic biomarker for colorectal cancer, although its effectiveness is hindered by inconsistent findings across studies, indicating a need for standardized assessment methods.  </a:t>
            </a:r>
            <a:endParaRPr lang="en-US" sz="1200" dirty="0"/>
          </a:p>
          <a:p>
            <a:pPr indent="0" marL="0">
              <a:lnSpc>
                <a:spcPct val="150000"/>
              </a:lnSpc>
              <a:buNone/>
            </a:pPr>
            <a:r>
              <a:rPr lang="en-US" sz="1200" dirty="0">
                <a:solidFill>
                  <a:srgbClr val="FFFFFF"/>
                </a:solidFill>
              </a:rPr>
              <a:t>   系統免疫炎症指數（SII）作為結直腸癌的重要預後生物標記，儘管其有效性受到研究結果不一致的限制，顯示出需要標準化評估方法的必要性。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**腸道微生物與炎症的交互作用**  </a:t>
            </a:r>
            <a:endParaRPr lang="en-US" sz="1200" dirty="0"/>
          </a:p>
          <a:p>
            <a:pPr indent="0" marL="0">
              <a:lnSpc>
                <a:spcPct val="150000"/>
              </a:lnSpc>
              <a:buNone/>
            </a:pPr>
            <a:r>
              <a:rPr lang="en-US" sz="1200" dirty="0">
                <a:solidFill>
                  <a:srgbClr val="FFFFFF"/>
                </a:solidFill>
              </a:rPr>
              <a:t>   The barrier-microbiota-inflammation axis plays a crucial role in colorectal cancer progression, highlighting the importance of microbiome modulation as a therapeutic strategy.  </a:t>
            </a:r>
            <a:endParaRPr lang="en-US" sz="1200" dirty="0"/>
          </a:p>
          <a:p>
            <a:pPr indent="0" marL="0">
              <a:lnSpc>
                <a:spcPct val="150000"/>
              </a:lnSpc>
              <a:buNone/>
            </a:pPr>
            <a:r>
              <a:rPr lang="en-US" sz="1200" dirty="0">
                <a:solidFill>
                  <a:srgbClr val="FFFFFF"/>
                </a:solidFill>
              </a:rPr>
              <a:t>   障壁-微生物-炎症軸在結直腸癌進展中扮演重要角色，突顯了微生物群調節作為治療策略的重要性。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**癌症惡病質的全身標記**  </a:t>
            </a:r>
            <a:endParaRPr lang="en-US" sz="1200" dirty="0"/>
          </a:p>
          <a:p>
            <a:pPr indent="0" marL="0">
              <a:lnSpc>
                <a:spcPct val="150000"/>
              </a:lnSpc>
              <a:buNone/>
            </a:pPr>
            <a:r>
              <a:rPr lang="en-US" sz="1200" dirty="0">
                <a:solidFill>
                  <a:srgbClr val="FFFFFF"/>
                </a:solidFill>
              </a:rPr>
              <a:t>   Circulating granulocyte colony-stimulating factor is identified as a global marker for cancer cachexia, emphasizing the need for further exploration of its role in metabolic and inflammatory dysregulation in colorectal cancer.  </a:t>
            </a:r>
            <a:endParaRPr lang="en-US" sz="1200" dirty="0"/>
          </a:p>
          <a:p>
            <a:pPr indent="0" marL="0">
              <a:lnSpc>
                <a:spcPct val="150000"/>
              </a:lnSpc>
              <a:buNone/>
            </a:pPr>
            <a:r>
              <a:rPr lang="en-US" sz="1200" dirty="0">
                <a:solidFill>
                  <a:srgbClr val="FFFFFF"/>
                </a:solidFill>
              </a:rPr>
              <a:t>   循環顆粒單核細胞刺激因子被確定為癌症惡病質的全身標記，強調需要進一步探索其在結直腸癌中代謝和炎症失調的作用。</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**腫瘤微環境的挑戰**  </a:t>
            </a:r>
            <a:endParaRPr lang="en-US" sz="1200" dirty="0"/>
          </a:p>
          <a:p>
            <a:pPr indent="0" marL="0">
              <a:lnSpc>
                <a:spcPct val="150000"/>
              </a:lnSpc>
              <a:buNone/>
            </a:pPr>
            <a:r>
              <a:rPr lang="en-US" sz="1200" dirty="0">
                <a:solidFill>
                  <a:srgbClr val="FFFFFF"/>
                </a:solidFill>
              </a:rPr>
              <a:t>   The immunosuppressive tumor microenvironment presents significant barriers to effective cancer immunotherapy, necessitating innovative strategies to enhance immune response and therapeutic efficacy.</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免疫抑制的腫瘤微環境對有效的癌症免疫治療構成重大障礙，需要創新的策略來增強免疫反應和治療效果。</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**納米載體的臨床應用**  </a:t>
            </a:r>
            <a:endParaRPr lang="en-US" sz="1200" dirty="0"/>
          </a:p>
          <a:p>
            <a:pPr indent="0" marL="0">
              <a:lnSpc>
                <a:spcPct val="150000"/>
              </a:lnSpc>
              <a:buNone/>
            </a:pPr>
            <a:r>
              <a:rPr lang="en-US" sz="1200" dirty="0">
                <a:solidFill>
                  <a:srgbClr val="FFFFFF"/>
                </a:solidFill>
              </a:rPr>
              <a:t>   Future studies should focus on the clinical translation of dual-activated nanocarriers for targeted delivery of therapeutics in colorectal cancer and inflammatory bowel diseases.  </a:t>
            </a:r>
            <a:endParaRPr lang="en-US" sz="1200" dirty="0"/>
          </a:p>
          <a:p>
            <a:pPr indent="0" marL="0">
              <a:lnSpc>
                <a:spcPct val="150000"/>
              </a:lnSpc>
              <a:buNone/>
            </a:pPr>
            <a:r>
              <a:rPr lang="en-US" sz="1200" dirty="0">
                <a:solidFill>
                  <a:srgbClr val="FFFFFF"/>
                </a:solidFill>
              </a:rPr>
              <a:t>   未來的研究應專注於雙重激活納米載體在結直腸癌和炎症性腸病中靶向治療藥物的臨床應用。</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**標準化的SII評估**  </a:t>
            </a:r>
            <a:endParaRPr lang="en-US" sz="1200" dirty="0"/>
          </a:p>
          <a:p>
            <a:pPr indent="0" marL="0">
              <a:lnSpc>
                <a:spcPct val="150000"/>
              </a:lnSpc>
              <a:buNone/>
            </a:pPr>
            <a:r>
              <a:rPr lang="en-US" sz="1200" dirty="0">
                <a:solidFill>
                  <a:srgbClr val="FFFFFF"/>
                </a:solidFill>
              </a:rPr>
              <a:t>   Research should aim to standardize the measurement and application of the systemic immune-inflammation index across diverse patient populations to improve its prognostic utility.  </a:t>
            </a:r>
            <a:endParaRPr lang="en-US" sz="1200" dirty="0"/>
          </a:p>
          <a:p>
            <a:pPr indent="0" marL="0">
              <a:lnSpc>
                <a:spcPct val="150000"/>
              </a:lnSpc>
              <a:buNone/>
            </a:pPr>
            <a:r>
              <a:rPr lang="en-US" sz="1200" dirty="0">
                <a:solidFill>
                  <a:srgbClr val="FFFFFF"/>
                </a:solidFill>
              </a:rPr>
              <a:t>   研究應致力於標準化系統免疫炎症指數在不同患者群體中的測量和應用，以提高其預後效用。</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**微生物群調節的療效探索**  </a:t>
            </a:r>
            <a:endParaRPr lang="en-US" sz="1200" dirty="0"/>
          </a:p>
          <a:p>
            <a:pPr indent="0" marL="0">
              <a:lnSpc>
                <a:spcPct val="150000"/>
              </a:lnSpc>
              <a:buNone/>
            </a:pPr>
            <a:r>
              <a:rPr lang="en-US" sz="1200" dirty="0">
                <a:solidFill>
                  <a:srgbClr val="FFFFFF"/>
                </a:solidFill>
              </a:rPr>
              <a:t>   Investigating the therapeutic potential of microbiome modulation in colorectal cancer could lead to novel treatment strategies that enhance patient outcomes.  </a:t>
            </a:r>
            <a:endParaRPr lang="en-US" sz="1200" dirty="0"/>
          </a:p>
          <a:p>
            <a:pPr indent="0" marL="0">
              <a:lnSpc>
                <a:spcPct val="150000"/>
              </a:lnSpc>
              <a:buNone/>
            </a:pPr>
            <a:r>
              <a:rPr lang="en-US" sz="1200" dirty="0">
                <a:solidFill>
                  <a:srgbClr val="FFFFFF"/>
                </a:solidFill>
              </a:rPr>
              <a:t>   探索微生物群調節在結直腸癌中的治療潛力可能會導致增強患者預後的新治療策略。</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**癌症惡病質的機制研究**  </a:t>
            </a:r>
            <a:endParaRPr lang="en-US" sz="1200" dirty="0"/>
          </a:p>
          <a:p>
            <a:pPr indent="0" marL="0">
              <a:lnSpc>
                <a:spcPct val="150000"/>
              </a:lnSpc>
              <a:buNone/>
            </a:pPr>
            <a:r>
              <a:rPr lang="en-US" sz="1200" dirty="0">
                <a:solidFill>
                  <a:srgbClr val="FFFFFF"/>
                </a:solidFill>
              </a:rPr>
              <a:t>   Further investigation into the mechanisms underlying cancer cachexia, particularly the role of circulating factors, is essential for developing targeted interventions.  </a:t>
            </a:r>
            <a:endParaRPr lang="en-US" sz="1200" dirty="0"/>
          </a:p>
          <a:p>
            <a:pPr indent="0" marL="0">
              <a:lnSpc>
                <a:spcPct val="150000"/>
              </a:lnSpc>
              <a:buNone/>
            </a:pPr>
            <a:r>
              <a:rPr lang="en-US" sz="1200" dirty="0">
                <a:solidFill>
                  <a:srgbClr val="FFFFFF"/>
                </a:solidFill>
              </a:rPr>
              <a:t>   進一步研究癌症惡病質的機制，特別是循環因子的作用，對於開發靶向干預措施至關重要。</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**克服腫瘤微環境的策略**  </a:t>
            </a:r>
            <a:endParaRPr lang="en-US" sz="1200" dirty="0"/>
          </a:p>
          <a:p>
            <a:pPr indent="0" marL="0">
              <a:lnSpc>
                <a:spcPct val="150000"/>
              </a:lnSpc>
              <a:buNone/>
            </a:pPr>
            <a:r>
              <a:rPr lang="en-US" sz="1200" dirty="0">
                <a:solidFill>
                  <a:srgbClr val="FFFFFF"/>
                </a:solidFill>
              </a:rPr>
              <a:t>   Innovative approaches to overcome the immunosuppressive tumor microenvironment, such as combination therapies and novel immunomodulators, should be prioritized in future research.  </a:t>
            </a:r>
            <a:endParaRPr lang="en-US" sz="1200" dirty="0"/>
          </a:p>
          <a:p>
            <a:pPr indent="0" marL="0">
              <a:lnSpc>
                <a:spcPct val="150000"/>
              </a:lnSpc>
              <a:buNone/>
            </a:pPr>
            <a:r>
              <a:rPr lang="en-US" sz="1200" dirty="0">
                <a:solidFill>
                  <a:srgbClr val="FFFFFF"/>
                </a:solidFill>
              </a:rPr>
              <a:t>   未來研究應優先考慮克服免疫抑制腫瘤微環境的創新方法，如聯合療法和新型免疫調節劑。</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749040"/>
            <a:ext cx="10058400" cy="0"/>
          </a:xfrm>
          <a:prstGeom prst="rect">
            <a:avLst/>
          </a:prstGeom>
          <a:noFill/>
          <a:ln/>
        </p:spPr>
        <p:txBody>
          <a:bodyPr wrap="square" lIns="0" tIns="0" rIns="0" bIns="0" rtlCol="0" anchor="ctr"/>
          <a:lstStyle/>
          <a:p>
            <a:pPr indent="0" marL="0">
              <a:buNone/>
            </a:pPr>
            <a:r>
              <a:rPr lang="en-US" sz="2400" dirty="0">
                <a:solidFill>
                  <a:srgbClr val="888888"/>
                </a:solidFill>
                <a:latin typeface="Microsoft JhengHei" pitchFamily="34" charset="0"/>
                <a:ea typeface="Microsoft JhengHei" pitchFamily="34" charset="-122"/>
                <a:cs typeface="Microsoft JhengHei" pitchFamily="34" charset="-120"/>
              </a:rPr>
              <a:t>謝謝</a:t>
            </a:r>
            <a:endParaRPr lang="en-US" sz="2400" dirty="0"/>
          </a:p>
        </p:txBody>
      </p:sp>
      <p:sp>
        <p:nvSpPr>
          <p:cNvPr id="4" name="Text 2"/>
          <p:cNvSpPr/>
          <p:nvPr/>
        </p:nvSpPr>
        <p:spPr>
          <a:xfrm>
            <a:off x="731520" y="4572000"/>
            <a:ext cx="10058400" cy="0"/>
          </a:xfrm>
          <a:prstGeom prst="rect">
            <a:avLst/>
          </a:prstGeom>
          <a:noFill/>
          <a:ln/>
        </p:spPr>
        <p:txBody>
          <a:bodyPr wrap="square" lIns="0" tIns="0" rIns="0" bIns="0" rtlCol="0" anchor="ctr"/>
          <a:lstStyle/>
          <a:p>
            <a:pPr indent="0" marL="0">
              <a:buNone/>
            </a:pPr>
            <a:r>
              <a:rPr lang="en-US" sz="1100" dirty="0">
                <a:solidFill>
                  <a:srgbClr val="888888"/>
                </a:solidFill>
              </a:rPr>
              <a:t>Colorectal Surgery Weekly Digest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大腸直腸外科文獻週報</dc:title>
  <dc:subject>PptxGenJS Presentation</dc:subject>
  <dc:creator>Colorectal Weekly Digest</dc:creator>
  <cp:lastModifiedBy>Colorectal Weekly Digest</cp:lastModifiedBy>
  <cp:revision>1</cp:revision>
  <dcterms:created xsi:type="dcterms:W3CDTF">2026-08-17T02:20:10Z</dcterms:created>
  <dcterms:modified xsi:type="dcterms:W3CDTF">2026-08-17T02:20:10Z</dcterms:modified>
</cp:coreProperties>
</file>