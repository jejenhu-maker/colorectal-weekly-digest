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aacrjournals.org/cancerres/article/86/7_Supplement/6122/780015" TargetMode="External"/><Relationship Id="rId2" Type="http://schemas.openxmlformats.org/officeDocument/2006/relationships/hyperlink" Target="https://aacrjournals.org/cancerres/article/86/7_Supplement/6122/780015"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186/s12967-026-08041-0" TargetMode="External"/><Relationship Id="rId2" Type="http://schemas.openxmlformats.org/officeDocument/2006/relationships/hyperlink" Target="https://doi.org/10.1186/s12967-026-08041-0"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86/s13020-026-01381-5" TargetMode="External"/><Relationship Id="rId2" Type="http://schemas.openxmlformats.org/officeDocument/2006/relationships/hyperlink" Target="https://doi.org/10.1186/s13020-026-01381-5"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02/advs.202520000" TargetMode="External"/><Relationship Id="rId2" Type="http://schemas.openxmlformats.org/officeDocument/2006/relationships/hyperlink" Target="https://doi.org/10.1002/advs.202520000"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02/cbic.202600004" TargetMode="External"/><Relationship Id="rId2" Type="http://schemas.openxmlformats.org/officeDocument/2006/relationships/hyperlink" Target="https://doi.org/10.1002/cbic.202600004"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16/j.jep.2026.121657" TargetMode="External"/><Relationship Id="rId2" Type="http://schemas.openxmlformats.org/officeDocument/2006/relationships/hyperlink" Target="https://doi.org/10.1016/j.jep.2026.121657"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acrjournals.org/cancerres/article/86/7_Supplement/4476/777724" TargetMode="External"/><Relationship Id="rId2" Type="http://schemas.openxmlformats.org/officeDocument/2006/relationships/hyperlink" Target="https://aacrjournals.org/cancerres/article/86/7_Supplement/4476/777724"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2026-04-12 — 2026-04-19</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Organ-specific immune and metabolic programs shape spatial microenvironments in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Lactate metabolism-driven lactylation: paradoxical modulation of intestinal infl…</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Thlaspi arvense attenuates colitis-associated colorectal tumorigenesis through 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Tumor-Derived Alpha-1 Antitrypsin Promotes Liver Metastasis of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Radioiodination of Two Carborane-Based Dual Cyclooxygenase-2/5-Lipoxygenase Inhi…</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Sanghuangporus vaninii extract exerts dual anti-tumor effects in colitis-associa…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Repurposing PARP inhibitors in molecularly defined subgroups of peritoneal metas…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Parasutterella excrementihominis 在結腸炎中的角色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NETosis 活化與炎症相關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潛在的結腸癌治療策略</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Organ-specific immune and metabolic programs shape spatial microenvironments in MSS colorectal cancer metastases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Research  ·  IF 12.7</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T細胞浸潤因器官而異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肝轉移有獨特微環境</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腹膜轉移顯示不同模式</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評估高溫腹腔化療（HIPEC）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進行系統性回顧與統合分析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針對晚期大腸癌患者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評估對腹膜轉移的影響</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研究結果顯示潛在治療效益</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系統性免疫炎症指數(SII)評估。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SII作為CRC預後生物標記。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進行現有研究的Meta分析。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SII與患者結果相關。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個性化治療策略的潛力。</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Lactate metabolism-driven lactylation: paradoxical modulation of intestinal inflammation and malignancy.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translational medicine  ·  IF 6.1  ·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乳酸代謝影響腸道炎症。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乳酸化矛盾調節免疫反應。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針對乳酸提供治療策略。</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Thlaspi arvense attenuates colitis-associated colorectal tumorigenesis through suppression of neutrophil recruitment via the NOD/NF-&amp;#x3ba;B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Chinese medicine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Thlaspi arvense 降低結腸炎相關腫瘤生成。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通過 NOD/NF-κB 路徑抑制中性粒細胞招募。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恢復黏膜完整性及緊密連接蛋白。</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Tumor-Derived Alpha-1 Antitrypsin Promotes Liver Metastasis of Colorectal Cancer Through the Neutrophil Extracellular Traps-CCDC25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Advanced science (Weinheim, Baden-Wurttemberg, Germany)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A1AT 促進 CRC 肝轉移。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中性粒細胞外陷阱 (NETs) 參與。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CCDC25 上調增強腫瘤細胞侵襲。</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Radioiodination of Two Carborane-Based Dual Cyclooxygenase-2/5-Lipoxygenase Inhibitors and Their In Vitro and In Vivo Evaluation.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Chembiochem : a European journal of chemical biology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COX-2和5-LO是癌症靶點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碘化衍生物顯示強效抑制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細胞攝取與5-LO表達相關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小鼠模型無腫瘤滯留</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需改善放射性示蹤劑穩定性</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Sanghuangporus vaninii extract exerts dual anti-tumor effects in colitis-associated colorectal cancer by direct cytotoxicity and macrophage reprogramming via the PPAR&amp;#x3b3;/NF-&amp;#x3ba;B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Sanghuangporus vaninii 具抗腫瘤效果。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抑制結腸炎相關結直腸癌 (CAC)。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 PPARγ/NF-κB 信號通路。</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重編程巨噬細胞至 M2 表型。</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改善生存率並減少腫瘤負擔。</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Repurposing PARP inhibitors in molecularly defined subgroups of peritoneal metastatic colorectal cancer (pmCRC): Preclinical analysis of patient-derived xenograft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PARP 抑制劑在 pmCRC 中顯示潛力。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使用患者衍生的異種移植進行分析。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針對性治療的分子亞組被識別。</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rtlCol="0" anchor="ctr"/>
          <a:lstStyle/>
          <a:p>
            <a:pPr indent="0" marL="0">
              <a:lnSpc>
                <a:spcPct val="100000"/>
              </a:lnSpc>
              <a:buNone/>
            </a:pPr>
            <a:r>
              <a:rPr lang="en-US" sz="3000" b="1" dirty="0">
                <a:solidFill>
                  <a:srgbClr val="FFFFFF"/>
                </a:solidFill>
                <a:latin typeface="Arial" pitchFamily="34" charset="0"/>
                <a:ea typeface="Arial" pitchFamily="34" charset="-122"/>
                <a:cs typeface="Arial" pitchFamily="34" charset="-120"/>
              </a:rPr>
              <a:t>Overall Insights</a:t>
            </a:r>
            <a:endParaRPr lang="en-US" sz="3000" dirty="0"/>
          </a:p>
          <a:p>
            <a:pPr indent="0" marL="0">
              <a:lnSpc>
                <a:spcPct val="100000"/>
              </a:lnSpc>
              <a:buNone/>
            </a:pPr>
            <a:r>
              <a:rPr lang="en-US" sz="3000" b="1" dirty="0">
                <a:solidFill>
                  <a:srgbClr val="FFFFFF"/>
                </a:solidFill>
                <a:latin typeface="Arial" pitchFamily="34" charset="0"/>
                <a:ea typeface="Arial" pitchFamily="34" charset="-122"/>
                <a:cs typeface="Arial" pitchFamily="34" charset="-120"/>
              </a:rPr>
              <a:t>&amp; Future Directions</a:t>
            </a:r>
            <a:endParaRPr lang="en-US" sz="3000" dirty="0"/>
          </a:p>
        </p:txBody>
      </p:sp>
      <p:sp>
        <p:nvSpPr>
          <p:cNvPr id="4" name="Text 2"/>
          <p:cNvSpPr/>
          <p:nvPr/>
        </p:nvSpPr>
        <p:spPr>
          <a:xfrm>
            <a:off x="731520" y="2286000"/>
            <a:ext cx="10058400" cy="0"/>
          </a:xfrm>
          <a:prstGeom prst="rect">
            <a:avLst/>
          </a:prstGeom>
          <a:noFill/>
          <a:ln/>
        </p:spPr>
        <p:txBody>
          <a:bodyPr wrap="square" lIns="0" tIns="0" rIns="0" bIns="0" rtlCol="0" anchor="ctr"/>
          <a:lstStyle/>
          <a:p>
            <a:pPr indent="0" marL="0">
              <a:buNone/>
            </a:pPr>
            <a:r>
              <a:rPr lang="en-US" sz="1400" dirty="0">
                <a:solidFill>
                  <a:srgbClr val="888888"/>
                </a:solidFill>
                <a:latin typeface="Microsoft JhengHei" pitchFamily="34" charset="0"/>
                <a:ea typeface="Microsoft JhengHei" pitchFamily="34" charset="-122"/>
                <a:cs typeface="Microsoft JhengHei" pitchFamily="34" charset="-120"/>
              </a:rPr>
              <a:t>綜合啟示與未來研究方向</a:t>
            </a:r>
            <a:endParaRPr lang="en-US" sz="1400" dirty="0"/>
          </a:p>
        </p:txBody>
      </p:sp>
      <p:sp>
        <p:nvSpPr>
          <p:cNvPr id="5" name="Text 3"/>
          <p:cNvSpPr/>
          <p:nvPr/>
        </p:nvSpPr>
        <p:spPr>
          <a:xfrm>
            <a:off x="731520" y="2926080"/>
            <a:ext cx="10515600" cy="0"/>
          </a:xfrm>
          <a:prstGeom prst="rect">
            <a:avLst/>
          </a:prstGeom>
          <a:noFill/>
          <a:ln/>
        </p:spPr>
        <p:txBody>
          <a:bodyPr wrap="square" rtlCol="0" anchor="ctr"/>
          <a:lstStyle/>
          <a:p>
            <a:pPr indent="0" marL="0">
              <a:lnSpc>
                <a:spcPct val="160000"/>
              </a:lnSpc>
              <a:buNone/>
            </a:pPr>
            <a:r>
              <a:rPr lang="en-US" sz="1200" dirty="0">
                <a:solidFill>
                  <a:srgbClr val="FFFFFF"/>
                </a:solidFill>
              </a:rPr>
              <a:t>### 綜合啟示 (Overall Insights)</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1. **腸道微生物與癌症關聯**  </a:t>
            </a:r>
            <a:endParaRPr lang="en-US" sz="1200" dirty="0"/>
          </a:p>
          <a:p>
            <a:pPr indent="0" marL="0">
              <a:lnSpc>
                <a:spcPct val="160000"/>
              </a:lnSpc>
              <a:buNone/>
            </a:pPr>
            <a:r>
              <a:rPr lang="en-US" sz="1200" dirty="0">
                <a:solidFill>
                  <a:srgbClr val="FFFFFF"/>
                </a:solidFill>
              </a:rPr>
              <a:t>   The study on *Parasutterella excrementihominis* highlights the significant role of gut microbiota in exacerbating colitis and promoting colorectal cancer through pathogenic mechanisms like NETosis.  </a:t>
            </a:r>
            <a:endParaRPr lang="en-US" sz="1200" dirty="0"/>
          </a:p>
          <a:p>
            <a:pPr indent="0" marL="0">
              <a:lnSpc>
                <a:spcPct val="160000"/>
              </a:lnSpc>
              <a:buNone/>
            </a:pPr>
            <a:r>
              <a:rPr lang="en-US" sz="1200" dirty="0">
                <a:solidFill>
                  <a:srgbClr val="FFFFFF"/>
                </a:solidFill>
              </a:rPr>
              <a:t>   *Parasutterella excrementihominis*的研究突顯了腸道微生物在加劇結腸炎及促進結直腸癌方面的重要角色，這是透過像NETosis這樣的致病機制實現的。</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2. **免疫微環境的多樣性**  </a:t>
            </a:r>
            <a:endParaRPr lang="en-US" sz="1200" dirty="0"/>
          </a:p>
          <a:p>
            <a:pPr indent="0" marL="0">
              <a:lnSpc>
                <a:spcPct val="160000"/>
              </a:lnSpc>
              <a:buNone/>
            </a:pPr>
            <a:r>
              <a:rPr lang="en-US" sz="1200" dirty="0">
                <a:solidFill>
                  <a:srgbClr val="FFFFFF"/>
                </a:solidFill>
              </a:rPr>
              <a:t>   Organ-specific immune and metabolic programs create distinct microenvironments in colorectal cancer metastases, influencing tumor behavior and treatment responses.  </a:t>
            </a:r>
            <a:endParaRPr lang="en-US" sz="1200" dirty="0"/>
          </a:p>
          <a:p>
            <a:pPr indent="0" marL="0">
              <a:lnSpc>
                <a:spcPct val="160000"/>
              </a:lnSpc>
              <a:buNone/>
            </a:pPr>
            <a:r>
              <a:rPr lang="en-US" sz="1200" dirty="0">
                <a:solidFill>
                  <a:srgbClr val="FFFFFF"/>
                </a:solidFill>
              </a:rPr>
              <a:t>   器官特異性的免疫和代謝程序在結直腸癌轉移中創造了不同的微環境，這影響了腫瘤行為和治療反應。</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3. **系統性免疫炎症指數的預後價值**  </a:t>
            </a:r>
            <a:endParaRPr lang="en-US" sz="1200" dirty="0"/>
          </a:p>
          <a:p>
            <a:pPr indent="0" marL="0">
              <a:lnSpc>
                <a:spcPct val="160000"/>
              </a:lnSpc>
              <a:buNone/>
            </a:pPr>
            <a:r>
              <a:rPr lang="en-US" sz="1200" dirty="0">
                <a:solidFill>
                  <a:srgbClr val="FFFFFF"/>
                </a:solidFill>
              </a:rPr>
              <a:t>   The systemic immune-inflammation index (SII) has emerged as a promising prognostic biomarker for colorectal cancer, indicating its potential utility in clinical practice.  </a:t>
            </a:r>
            <a:endParaRPr lang="en-US" sz="1200" dirty="0"/>
          </a:p>
          <a:p>
            <a:pPr indent="0" marL="0">
              <a:lnSpc>
                <a:spcPct val="160000"/>
              </a:lnSpc>
              <a:buNone/>
            </a:pPr>
            <a:r>
              <a:rPr lang="en-US" sz="1200" dirty="0">
                <a:solidFill>
                  <a:srgbClr val="FFFFFF"/>
                </a:solidFill>
              </a:rPr>
              <a:t>   系統性免疫炎症指數（SII）已成為結直腸癌有前景的預後生物標記，顯示其在臨床實踐中的潛在應用。</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4. **代謝途徑在腸道疾病中的角色**  </a:t>
            </a:r>
            <a:endParaRPr lang="en-US" sz="1200" dirty="0"/>
          </a:p>
          <a:p>
            <a:pPr indent="0" marL="0">
              <a:lnSpc>
                <a:spcPct val="160000"/>
              </a:lnSpc>
              <a:buNone/>
            </a:pPr>
            <a:r>
              <a:rPr lang="en-US" sz="1200" dirty="0">
                <a:solidFill>
                  <a:srgbClr val="FFFFFF"/>
                </a:solidFill>
              </a:rPr>
              <a:t>   Lactate metabolism and its effects on inflammation and malignancy suggest that metabolic pathways may provide new therapeutic targets for colorectal cancer.  </a:t>
            </a:r>
            <a:endParaRPr lang="en-US" sz="1200" dirty="0"/>
          </a:p>
          <a:p>
            <a:pPr indent="0" marL="0">
              <a:lnSpc>
                <a:spcPct val="160000"/>
              </a:lnSpc>
              <a:buNone/>
            </a:pPr>
            <a:r>
              <a:rPr lang="en-US" sz="1200" dirty="0">
                <a:solidFill>
                  <a:srgbClr val="FFFFFF"/>
                </a:solidFill>
              </a:rPr>
              <a:t>   乳酸代謝及其對炎症和惡性腫瘤的影響表明，代謝途徑可能為結直腸癌提供新的治療靶點。</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5. **新型治療策略的開發**  </a:t>
            </a:r>
            <a:endParaRPr lang="en-US" sz="1200" dirty="0"/>
          </a:p>
          <a:p>
            <a:pPr indent="0" marL="0">
              <a:lnSpc>
                <a:spcPct val="160000"/>
              </a:lnSpc>
              <a:buNone/>
            </a:pPr>
            <a:r>
              <a:rPr lang="en-US" sz="1200" dirty="0">
                <a:solidFill>
                  <a:srgbClr val="FFFFFF"/>
                </a:solidFill>
              </a:rPr>
              <a:t>   The exploration of natural compounds, such as *Sanghuangporus vaninii*, reveals their dual anti-tumor effects, suggesting alternative therapeutic avenues for colitis-associated colorectal cancer.  </a:t>
            </a:r>
            <a:endParaRPr lang="en-US" sz="1200" dirty="0"/>
          </a:p>
          <a:p>
            <a:pPr indent="0" marL="0">
              <a:lnSpc>
                <a:spcPct val="160000"/>
              </a:lnSpc>
              <a:buNone/>
            </a:pPr>
            <a:r>
              <a:rPr lang="en-US" sz="1200" dirty="0">
                <a:solidFill>
                  <a:srgbClr val="FFFFFF"/>
                </a:solidFill>
              </a:rPr>
              <a:t>   對天然化合物如*Sanghuangporus vaninii*的探索顯示其雙重抗腫瘤效果，暗示對於結腸炎相關結直腸癌的替代治療途徑。</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 未來研究方向 (Future Research Directions)</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1. **腸道微生物的干預研究**  </a:t>
            </a:r>
            <a:endParaRPr lang="en-US" sz="1200" dirty="0"/>
          </a:p>
          <a:p>
            <a:pPr indent="0" marL="0">
              <a:lnSpc>
                <a:spcPct val="160000"/>
              </a:lnSpc>
              <a:buNone/>
            </a:pPr>
            <a:r>
              <a:rPr lang="en-US" sz="1200" dirty="0">
                <a:solidFill>
                  <a:srgbClr val="FFFFFF"/>
                </a:solidFill>
              </a:rPr>
              <a:t>   Future studies should investigate the therapeutic potential of modulating gut microbiota to prevent or treat colitis and colorectal cancer.  </a:t>
            </a:r>
            <a:endParaRPr lang="en-US" sz="1200" dirty="0"/>
          </a:p>
          <a:p>
            <a:pPr indent="0" marL="0">
              <a:lnSpc>
                <a:spcPct val="160000"/>
              </a:lnSpc>
              <a:buNone/>
            </a:pPr>
            <a:r>
              <a:rPr lang="en-US" sz="1200" dirty="0">
                <a:solidFill>
                  <a:srgbClr val="FFFFFF"/>
                </a:solidFill>
              </a:rPr>
              <a:t>   未來的研究應該探討調節腸道微生物以預防或治療結腸炎及結直腸癌的治療潛力。</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2. **免疫微環境的調控**  </a:t>
            </a:r>
            <a:endParaRPr lang="en-US" sz="1200" dirty="0"/>
          </a:p>
          <a:p>
            <a:pPr indent="0" marL="0">
              <a:lnSpc>
                <a:spcPct val="160000"/>
              </a:lnSpc>
              <a:buNone/>
            </a:pPr>
            <a:r>
              <a:rPr lang="en-US" sz="1200" dirty="0">
                <a:solidFill>
                  <a:srgbClr val="FFFFFF"/>
                </a:solidFill>
              </a:rPr>
              <a:t>   Research should focus on understanding how to manipulate organ-specific immune responses to enhance treatment efficacy in colorectal cancer metastases.  </a:t>
            </a:r>
            <a:endParaRPr lang="en-US" sz="1200" dirty="0"/>
          </a:p>
          <a:p>
            <a:pPr indent="0" marL="0">
              <a:lnSpc>
                <a:spcPct val="160000"/>
              </a:lnSpc>
              <a:buNone/>
            </a:pPr>
            <a:r>
              <a:rPr lang="en-US" sz="1200" dirty="0">
                <a:solidFill>
                  <a:srgbClr val="FFFFFF"/>
                </a:solidFill>
              </a:rPr>
              <a:t>   研究應集中於理解如何操控器官特異性的免疫反應，以提高結直腸癌轉移的治療效果。</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3. **新型生物標記的開發**  </a:t>
            </a:r>
            <a:endParaRPr lang="en-US" sz="1200" dirty="0"/>
          </a:p>
          <a:p>
            <a:pPr indent="0" marL="0">
              <a:lnSpc>
                <a:spcPct val="160000"/>
              </a:lnSpc>
              <a:buNone/>
            </a:pPr>
            <a:r>
              <a:rPr lang="en-US" sz="1200" dirty="0">
                <a:solidFill>
                  <a:srgbClr val="FFFFFF"/>
                </a:solidFill>
              </a:rPr>
              <a:t>   Identifying and validating new biomarkers, including metabolic indicators, could improve patient stratification and personalized treatment in colorectal cancer.  </a:t>
            </a:r>
            <a:endParaRPr lang="en-US" sz="1200" dirty="0"/>
          </a:p>
          <a:p>
            <a:pPr indent="0" marL="0">
              <a:lnSpc>
                <a:spcPct val="160000"/>
              </a:lnSpc>
              <a:buNone/>
            </a:pPr>
            <a:r>
              <a:rPr lang="en-US" sz="1200" dirty="0">
                <a:solidFill>
                  <a:srgbClr val="FFFFFF"/>
                </a:solidFill>
              </a:rPr>
              <a:t>   確定和驗證新的生物標記，包括代謝指標，可能改善結直腸癌患者的分層和個性化治療。</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4. **天然化合物的臨床應用**  </a:t>
            </a:r>
            <a:endParaRPr lang="en-US" sz="1200" dirty="0"/>
          </a:p>
          <a:p>
            <a:pPr indent="0" marL="0">
              <a:lnSpc>
                <a:spcPct val="160000"/>
              </a:lnSpc>
              <a:buNone/>
            </a:pPr>
            <a:r>
              <a:rPr lang="en-US" sz="1200" dirty="0">
                <a:solidFill>
                  <a:srgbClr val="FFFFFF"/>
                </a:solidFill>
              </a:rPr>
              <a:t>   Further clinical trials on natural compounds like *Sanghuangporus vaninii* could elucidate their mechanisms and therapeutic potential in colorectal cancer.  </a:t>
            </a:r>
            <a:endParaRPr lang="en-US" sz="1200" dirty="0"/>
          </a:p>
          <a:p>
            <a:pPr indent="0" marL="0">
              <a:lnSpc>
                <a:spcPct val="160000"/>
              </a:lnSpc>
              <a:buNone/>
            </a:pPr>
            <a:r>
              <a:rPr lang="en-US" sz="1200" dirty="0">
                <a:solidFill>
                  <a:srgbClr val="FFFFFF"/>
                </a:solidFill>
              </a:rPr>
              <a:t>   對天然化合物如*Sanghuangporus vaninii*的進一步臨床試驗可以闡明其機制和在結直腸癌中的治療潛力。</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5. **多模態治療策略的探索**  </a:t>
            </a:r>
            <a:endParaRPr lang="en-US" sz="1200" dirty="0"/>
          </a:p>
          <a:p>
            <a:pPr indent="0" marL="0">
              <a:lnSpc>
                <a:spcPct val="160000"/>
              </a:lnSpc>
              <a:buNone/>
            </a:pPr>
            <a:r>
              <a:rPr lang="en-US" sz="1200" dirty="0">
                <a:solidFill>
                  <a:srgbClr val="FFFFFF"/>
                </a:solidFill>
              </a:rPr>
              <a:t>   Investigating combination therapies that integrate immunotherapy, metabolic modulation, and traditional treatments may yield better outcomes for colorectal cancer patients.  </a:t>
            </a:r>
            <a:endParaRPr lang="en-US" sz="1200" dirty="0"/>
          </a:p>
          <a:p>
            <a:pPr indent="0" marL="0">
              <a:lnSpc>
                <a:spcPct val="160000"/>
              </a:lnSpc>
              <a:buNone/>
            </a:pPr>
            <a:r>
              <a:rPr lang="en-US" sz="1200" dirty="0">
                <a:solidFill>
                  <a:srgbClr val="FFFFFF"/>
                </a:solidFill>
              </a:rPr>
              <a:t>   探索結合免疫療法、代謝調節和傳統治療的多模態治療策略可能為結直腸癌患者帶來更好的結果。</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2026-04-19T09:53:15Z</dcterms:created>
  <dcterms:modified xsi:type="dcterms:W3CDTF">2026-04-19T09:53:15Z</dcterms:modified>
</cp:coreProperties>
</file>