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hyperlink" Target="https://www.frontiersin.org/journals/oncology/articles/10.3389/fonc.2026.1616016/full" TargetMode="External"/><Relationship Id="rId2" Type="http://schemas.openxmlformats.org/officeDocument/2006/relationships/hyperlink" Target="https://www.frontiersin.org/journals/oncology/articles/10.3389/fonc.2026.1616016/full" TargetMode="External"/><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hyperlink" Target="https://www.sciencedirect.com/science/article/pii/S221074012600063X" TargetMode="External"/><Relationship Id="rId2" Type="http://schemas.openxmlformats.org/officeDocument/2006/relationships/hyperlink" Target="https://www.sciencedirect.com/science/article/pii/S221074012600063X" TargetMode="External"/><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hyperlink" Target="https://link.springer.com/article/10.1007/s12094-026-04225-8" TargetMode="External"/><Relationship Id="rId2" Type="http://schemas.openxmlformats.org/officeDocument/2006/relationships/hyperlink" Target="https://link.springer.com/article/10.1007/s12094-026-04225-8" TargetMode="External"/><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hyperlink" Target="https://doi.org/10.1016/j.ijbiomac.2026.154170" TargetMode="External"/><Relationship Id="rId2" Type="http://schemas.openxmlformats.org/officeDocument/2006/relationships/hyperlink" Target="https://doi.org/10.1016/j.ijbiomac.2026.154170" TargetMode="External"/><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hyperlink" Target="https://doi.org/10.1038/s41598-026-61397-7" TargetMode="External"/><Relationship Id="rId2" Type="http://schemas.openxmlformats.org/officeDocument/2006/relationships/hyperlink" Target="https://doi.org/10.1038/s41598-026-61397-7" TargetMode="External"/><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hyperlink" Target="https://doi.org/10.1111/omi.70038" TargetMode="External"/><Relationship Id="rId2" Type="http://schemas.openxmlformats.org/officeDocument/2006/relationships/hyperlink" Target="https://doi.org/10.1111/omi.70038" TargetMode="External"/><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hyperlink" Target="https://doi.org/10.1016/j.xcrm.2026.102930" TargetMode="External"/><Relationship Id="rId2" Type="http://schemas.openxmlformats.org/officeDocument/2006/relationships/hyperlink" Target="https://doi.org/10.1016/j.xcrm.2026.102930" TargetMode="External"/><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hyperlink" Target="https://www.mdpi.com/2072-6694/18/4/576" TargetMode="External"/><Relationship Id="rId2" Type="http://schemas.openxmlformats.org/officeDocument/2006/relationships/hyperlink" Target="https://www.mdpi.com/2072-6694/18/4/576" TargetMode="External"/><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hyperlink" Target="https://doi.org/10.1016/j.isci.2026.116785" TargetMode="External"/><Relationship Id="rId2" Type="http://schemas.openxmlformats.org/officeDocument/2006/relationships/hyperlink" Target="https://doi.org/10.1016/j.isci.2026.116785" TargetMode="External"/><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hyperlink" Target="https://doi.org/10.1038/s41401-026-01899-2" TargetMode="External"/><Relationship Id="rId2" Type="http://schemas.openxmlformats.org/officeDocument/2006/relationships/hyperlink" Target="https://doi.org/10.1038/s41401-026-01899-2" TargetMode="External"/><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1A2E"/>
        </a:solidFill>
      </p:bgPr>
    </p:bg>
    <p:spTree>
      <p:nvGrpSpPr>
        <p:cNvPr id="1" name=""/>
        <p:cNvGrpSpPr/>
        <p:nvPr/>
      </p:nvGrpSpPr>
      <p:grpSpPr>
        <a:xfrm>
          <a:off x="0" y="0"/>
          <a:ext cx="0" cy="0"/>
          <a:chOff x="0" y="0"/>
          <a:chExt cx="0" cy="0"/>
        </a:xfrm>
      </p:grpSpPr>
      <p:sp>
        <p:nvSpPr>
          <p:cNvPr id="2" name="Text 0"/>
          <p:cNvSpPr/>
          <p:nvPr/>
        </p:nvSpPr>
        <p:spPr>
          <a:xfrm>
            <a:off x="731520" y="457200"/>
            <a:ext cx="5486400" cy="0"/>
          </a:xfrm>
          <a:prstGeom prst="rect">
            <a:avLst/>
          </a:prstGeom>
          <a:noFill/>
          <a:ln/>
        </p:spPr>
        <p:txBody>
          <a:bodyPr wrap="square" lIns="0" tIns="0" rIns="0" bIns="0" rtlCol="0" anchor="ctr"/>
          <a:lstStyle/>
          <a:p>
            <a:pPr indent="0" marL="0">
              <a:buNone/>
            </a:pPr>
            <a:r>
              <a:rPr lang="en-US" sz="900" b="1" spc="600" kern="0" dirty="0">
                <a:solidFill>
                  <a:srgbClr val="888888"/>
                </a:solidFill>
              </a:rPr>
              <a:t>WEEKLY DIGEST</a:t>
            </a:r>
            <a:endParaRPr lang="en-US" sz="900" dirty="0"/>
          </a:p>
        </p:txBody>
      </p:sp>
      <p:sp>
        <p:nvSpPr>
          <p:cNvPr id="3" name="Text 1"/>
          <p:cNvSpPr/>
          <p:nvPr/>
        </p:nvSpPr>
        <p:spPr>
          <a:xfrm>
            <a:off x="731520" y="1371600"/>
            <a:ext cx="10058400" cy="0"/>
          </a:xfrm>
          <a:prstGeom prst="rect">
            <a:avLst/>
          </a:prstGeom>
          <a:noFill/>
          <a:ln/>
        </p:spPr>
        <p:txBody>
          <a:bodyPr wrap="square" rtlCol="0" anchor="ctr"/>
          <a:lstStyle/>
          <a:p>
            <a:pPr indent="0" marL="0">
              <a:lnSpc>
                <a:spcPct val="130000"/>
              </a:lnSpc>
              <a:buNone/>
            </a:pPr>
            <a:r>
              <a:rPr lang="en-US" sz="4400" b="1" dirty="0">
                <a:solidFill>
                  <a:srgbClr val="FFFFFF"/>
                </a:solidFill>
                <a:latin typeface="Arial" pitchFamily="34" charset="0"/>
                <a:ea typeface="Arial" pitchFamily="34" charset="-122"/>
                <a:cs typeface="Arial" pitchFamily="34" charset="-120"/>
              </a:rPr>
              <a:t>Colorectal Surgery</a:t>
            </a:r>
            <a:endParaRPr lang="en-US" sz="4400" dirty="0"/>
          </a:p>
          <a:p>
            <a:pPr indent="0" marL="0">
              <a:lnSpc>
                <a:spcPct val="130000"/>
              </a:lnSpc>
              <a:buNone/>
            </a:pPr>
            <a:r>
              <a:rPr lang="en-US" sz="2200" dirty="0">
                <a:solidFill>
                  <a:srgbClr val="DBEAFE"/>
                </a:solidFill>
                <a:latin typeface="Microsoft JhengHei" pitchFamily="34" charset="0"/>
                <a:ea typeface="Microsoft JhengHei" pitchFamily="34" charset="-122"/>
                <a:cs typeface="Microsoft JhengHei" pitchFamily="34" charset="-120"/>
              </a:rPr>
              <a:t>大腸直腸外科文獻週報</a:t>
            </a:r>
            <a:endParaRPr lang="en-US" sz="4400" dirty="0"/>
          </a:p>
        </p:txBody>
      </p:sp>
      <p:sp>
        <p:nvSpPr>
          <p:cNvPr id="4" name="Text 2"/>
          <p:cNvSpPr/>
          <p:nvPr/>
        </p:nvSpPr>
        <p:spPr>
          <a:xfrm>
            <a:off x="731520" y="5029200"/>
            <a:ext cx="5486400" cy="0"/>
          </a:xfrm>
          <a:prstGeom prst="rect">
            <a:avLst/>
          </a:prstGeom>
          <a:noFill/>
          <a:ln/>
        </p:spPr>
        <p:txBody>
          <a:bodyPr wrap="square" lIns="0" tIns="0" rIns="0" bIns="0" rtlCol="0" anchor="ctr"/>
          <a:lstStyle/>
          <a:p>
            <a:pPr indent="0" marL="0">
              <a:buNone/>
            </a:pPr>
            <a:r>
              <a:rPr lang="en-US" sz="1400" dirty="0">
                <a:solidFill>
                  <a:srgbClr val="888888"/>
                </a:solidFill>
              </a:rPr>
              <a:t>2026-08-17 — 2026-08-24</a:t>
            </a:r>
            <a:endParaRPr lang="en-US" sz="1400" dirty="0"/>
          </a:p>
        </p:txBody>
      </p:sp>
      <p:sp>
        <p:nvSpPr>
          <p:cNvPr id="5" name="Text 3"/>
          <p:cNvSpPr/>
          <p:nvPr/>
        </p:nvSpPr>
        <p:spPr>
          <a:xfrm>
            <a:off x="731520" y="5486400"/>
            <a:ext cx="5486400" cy="0"/>
          </a:xfrm>
          <a:prstGeom prst="rect">
            <a:avLst/>
          </a:prstGeom>
          <a:noFill/>
          <a:ln/>
        </p:spPr>
        <p:txBody>
          <a:bodyPr wrap="square" lIns="0" tIns="0" rIns="0" bIns="0" rtlCol="0" anchor="ctr"/>
          <a:lstStyle/>
          <a:p>
            <a:pPr indent="0" marL="0">
              <a:buNone/>
            </a:pPr>
            <a:r>
              <a:rPr lang="en-US" sz="1200" b="1" spc="200" kern="0" dirty="0">
                <a:solidFill>
                  <a:srgbClr val="2563EB"/>
                </a:solidFill>
              </a:rPr>
              <a:t>10 篇精選論文</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65760"/>
            <a:ext cx="3657600" cy="0"/>
          </a:xfrm>
          <a:prstGeom prst="rect">
            <a:avLst/>
          </a:prstGeom>
          <a:noFill/>
          <a:ln/>
        </p:spPr>
        <p:txBody>
          <a:bodyPr wrap="square" lIns="0" tIns="0" rIns="0" bIns="0" rtlCol="0" anchor="ctr"/>
          <a:lstStyle/>
          <a:p>
            <a:pPr indent="0" marL="0">
              <a:buNone/>
            </a:pPr>
            <a:r>
              <a:rPr lang="en-US" sz="1000" b="1" spc="400" kern="0" dirty="0">
                <a:solidFill>
                  <a:srgbClr val="888888"/>
                </a:solidFill>
              </a:rPr>
              <a:t>目錄</a:t>
            </a:r>
            <a:endParaRPr lang="en-US" sz="1000" dirty="0"/>
          </a:p>
        </p:txBody>
      </p:sp>
      <p:sp>
        <p:nvSpPr>
          <p:cNvPr id="3" name="Text 1"/>
          <p:cNvSpPr/>
          <p:nvPr/>
        </p:nvSpPr>
        <p:spPr>
          <a:xfrm>
            <a:off x="731520" y="1005840"/>
            <a:ext cx="10058400" cy="0"/>
          </a:xfrm>
          <a:prstGeom prst="rect">
            <a:avLst/>
          </a:prstGeom>
          <a:noFill/>
          <a:ln/>
        </p:spPr>
        <p:txBody>
          <a:bodyPr wrap="square" rtlCol="0" anchor="ctr"/>
          <a:lstStyle/>
          <a:p>
            <a:pPr indent="0" marL="0">
              <a:lnSpc>
                <a:spcPct val="180000"/>
              </a:lnSpc>
              <a:buNone/>
            </a:pPr>
            <a:r>
              <a:rPr lang="en-US" sz="1400" b="1" dirty="0">
                <a:solidFill>
                  <a:srgbClr val="2563EB"/>
                </a:solidFill>
                <a:latin typeface="Arial" pitchFamily="34" charset="0"/>
                <a:ea typeface="Arial" pitchFamily="34" charset="-122"/>
                <a:cs typeface="Arial" pitchFamily="34" charset="-120"/>
              </a:rPr>
              <a:t>01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Prognostic value of systemic immune-inflammation index for colorectal cancer: a …</a:t>
            </a:r>
            <a:endParaRPr lang="en-US" sz="1400" dirty="0"/>
          </a:p>
          <a:p>
            <a:pPr indent="0" marL="0">
              <a:lnSpc>
                <a:spcPct val="180000"/>
              </a:lnSpc>
              <a:buNone/>
            </a:pPr>
            <a:r>
              <a:rPr lang="en-US" sz="1400" b="1" dirty="0">
                <a:solidFill>
                  <a:srgbClr val="2563EB"/>
                </a:solidFill>
                <a:latin typeface="Arial" pitchFamily="34" charset="0"/>
                <a:ea typeface="Arial" pitchFamily="34" charset="-122"/>
                <a:cs typeface="Arial" pitchFamily="34" charset="-120"/>
              </a:rPr>
              <a:t>02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Predictive utility of the C-reactive protein-albumin-lymphocyte (CALLY) index in…</a:t>
            </a:r>
            <a:endParaRPr lang="en-US" sz="1400" dirty="0"/>
          </a:p>
          <a:p>
            <a:pPr indent="0" marL="0">
              <a:lnSpc>
                <a:spcPct val="180000"/>
              </a:lnSpc>
              <a:buNone/>
            </a:pPr>
            <a:r>
              <a:rPr lang="en-US" sz="1400" b="1" dirty="0">
                <a:solidFill>
                  <a:srgbClr val="2563EB"/>
                </a:solidFill>
                <a:latin typeface="Arial" pitchFamily="34" charset="0"/>
                <a:ea typeface="Arial" pitchFamily="34" charset="-122"/>
                <a:cs typeface="Arial" pitchFamily="34" charset="-120"/>
              </a:rPr>
              <a:t>03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Iron, inflammation, and intestinal tumors: the crucial triad in colorectal cance…</a:t>
            </a:r>
            <a:endParaRPr lang="en-US" sz="1400" dirty="0"/>
          </a:p>
          <a:p>
            <a:pPr indent="0" marL="0">
              <a:lnSpc>
                <a:spcPct val="180000"/>
              </a:lnSpc>
              <a:buNone/>
            </a:pPr>
            <a:r>
              <a:rPr lang="en-US" sz="1400" b="1" dirty="0">
                <a:solidFill>
                  <a:srgbClr val="2563EB"/>
                </a:solidFill>
                <a:latin typeface="Arial" pitchFamily="34" charset="0"/>
                <a:ea typeface="Arial" pitchFamily="34" charset="-122"/>
                <a:cs typeface="Arial" pitchFamily="34" charset="-120"/>
              </a:rPr>
              <a:t>04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Platelet membrane cloaked pectin and iron oxide based hybrid nanoparticles for t…</a:t>
            </a:r>
            <a:endParaRPr lang="en-US" sz="1400" dirty="0"/>
          </a:p>
          <a:p>
            <a:pPr indent="0" marL="0">
              <a:lnSpc>
                <a:spcPct val="180000"/>
              </a:lnSpc>
              <a:buNone/>
            </a:pPr>
            <a:r>
              <a:rPr lang="en-US" sz="1400" b="1" dirty="0">
                <a:solidFill>
                  <a:srgbClr val="2563EB"/>
                </a:solidFill>
                <a:latin typeface="Arial" pitchFamily="34" charset="0"/>
                <a:ea typeface="Arial" pitchFamily="34" charset="-122"/>
                <a:cs typeface="Arial" pitchFamily="34" charset="-120"/>
              </a:rPr>
              <a:t>05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In vitro biological potential of green-synthesized nanoparticles from the Egypti…</a:t>
            </a:r>
            <a:endParaRPr lang="en-US" sz="1400" dirty="0"/>
          </a:p>
          <a:p>
            <a:pPr indent="0" marL="0">
              <a:lnSpc>
                <a:spcPct val="180000"/>
              </a:lnSpc>
              <a:buNone/>
            </a:pPr>
            <a:r>
              <a:rPr lang="en-US" sz="1400" b="1" dirty="0">
                <a:solidFill>
                  <a:srgbClr val="2563EB"/>
                </a:solidFill>
                <a:latin typeface="Arial" pitchFamily="34" charset="0"/>
                <a:ea typeface="Arial" pitchFamily="34" charset="-122"/>
                <a:cs typeface="Arial" pitchFamily="34" charset="-120"/>
              </a:rPr>
              <a:t>06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Host-Microbe Mechanisms of Fusobacterium nucleatum in Colorectal Cancer.</a:t>
            </a:r>
            <a:endParaRPr lang="en-US" sz="1400" dirty="0"/>
          </a:p>
          <a:p>
            <a:pPr indent="0" marL="0">
              <a:lnSpc>
                <a:spcPct val="180000"/>
              </a:lnSpc>
              <a:buNone/>
            </a:pPr>
            <a:r>
              <a:rPr lang="en-US" sz="1400" b="1" dirty="0">
                <a:solidFill>
                  <a:srgbClr val="2563EB"/>
                </a:solidFill>
                <a:latin typeface="Arial" pitchFamily="34" charset="0"/>
                <a:ea typeface="Arial" pitchFamily="34" charset="-122"/>
                <a:cs typeface="Arial" pitchFamily="34" charset="-120"/>
              </a:rPr>
              <a:t>07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Evolution of SPP1+ cavity macrophage-mediated immunotherapy resistance in perito…</a:t>
            </a:r>
            <a:endParaRPr lang="en-US" sz="1400" dirty="0"/>
          </a:p>
          <a:p>
            <a:pPr indent="0" marL="0">
              <a:lnSpc>
                <a:spcPct val="180000"/>
              </a:lnSpc>
              <a:buNone/>
            </a:pPr>
            <a:r>
              <a:rPr lang="en-US" sz="1400" b="1" dirty="0">
                <a:solidFill>
                  <a:srgbClr val="2563EB"/>
                </a:solidFill>
                <a:latin typeface="Arial" pitchFamily="34" charset="0"/>
                <a:ea typeface="Arial" pitchFamily="34" charset="-122"/>
                <a:cs typeface="Arial" pitchFamily="34" charset="-120"/>
              </a:rPr>
              <a:t>08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The barrier–microbiota–inflammation axis in colorectal cancer: Mechanisms and em…</a:t>
            </a:r>
            <a:endParaRPr lang="en-US" sz="1400" dirty="0"/>
          </a:p>
          <a:p>
            <a:pPr indent="0" marL="0">
              <a:lnSpc>
                <a:spcPct val="180000"/>
              </a:lnSpc>
              <a:buNone/>
            </a:pPr>
            <a:r>
              <a:rPr lang="en-US" sz="1400" b="1" dirty="0">
                <a:solidFill>
                  <a:srgbClr val="2563EB"/>
                </a:solidFill>
                <a:latin typeface="Arial" pitchFamily="34" charset="0"/>
                <a:ea typeface="Arial" pitchFamily="34" charset="-122"/>
                <a:cs typeface="Arial" pitchFamily="34" charset="-120"/>
              </a:rPr>
              <a:t>09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LRMDA promotes intestinal mucosal barrier integrity and limits colitis and colon…</a:t>
            </a:r>
            <a:endParaRPr lang="en-US" sz="1400" dirty="0"/>
          </a:p>
          <a:p>
            <a:pPr indent="0" marL="0">
              <a:lnSpc>
                <a:spcPct val="180000"/>
              </a:lnSpc>
              <a:buNone/>
            </a:pPr>
            <a:r>
              <a:rPr lang="en-US" sz="1400" b="1" dirty="0">
                <a:solidFill>
                  <a:srgbClr val="2563EB"/>
                </a:solidFill>
                <a:latin typeface="Arial" pitchFamily="34" charset="0"/>
                <a:ea typeface="Arial" pitchFamily="34" charset="-122"/>
                <a:cs typeface="Arial" pitchFamily="34" charset="-120"/>
              </a:rPr>
              <a:t>10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Tumor-driven arginine depletion induces T-cell metabolism reprogramming to suppr…</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01  重點發現</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01</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Prognostic value of systemic immune-inflammation index for colorectal cancer: a systematic review and meta-analysis</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Frontiers in Oncology  ·  Meta-Analysis</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評估系統性免疫炎症指數(SII)</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SII在CRC中顯示預後潛力</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研究結果不一致</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進行了統合分析以釐清</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SII可能指導治療決策</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P Wang, H Jiang. Frontiers in Oncology. 2026</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2563EB"/>
                </a:solidFill>
                <a:hlinkClick r:id="rId2" invalidUrl="" action="" tgtFrame="" tooltip="" history="1" highlightClick="0" endSnd="0">
                  <a:extLst>
                    <a:ext uri="{A12FA001-AC4F-418D-AE19-62706E023703}">
                      <ahyp:hlinkClr xmlns:ahyp="http://schemas.microsoft.com/office/drawing/2018/hyperlinkcolor" val="tx"/>
                    </a:ext>
                  </a:extLst>
                </a:hlinkClick>
              </a:rPr>
              <a:t>📎 查看論文 →</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02  重點發現</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02</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Predictive utility of the C-reactive protein-albumin-lymphocyte (CALLY) index in Colorectal cancer: A meta-analysis</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Clinics and Research in Hepatology and …  ·  Meta-Analysis</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CALLY指數預測大腸癌結果。</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炎症與免疫功能至關重要。</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Meta分析確認CALLY的預測價值。</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X Li, T Chu, W Chen. Clinics and Research in Hepatology and …. 2026</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2563EB"/>
                </a:solidFill>
                <a:hlinkClick r:id="rId2" invalidUrl="" action="" tgtFrame="" tooltip="" history="1" highlightClick="0" endSnd="0">
                  <a:extLst>
                    <a:ext uri="{A12FA001-AC4F-418D-AE19-62706E023703}">
                      <ahyp:hlinkClr xmlns:ahyp="http://schemas.microsoft.com/office/drawing/2018/hyperlinkcolor" val="tx"/>
                    </a:ext>
                  </a:extLst>
                </a:hlinkClick>
              </a:rPr>
              <a:t>📎 查看論文 →</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03  重點發現</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03</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Iron, inflammation, and intestinal tumors: the crucial triad in colorectal cancer progression and therapy</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Clinical and …  ·  Prospective Study</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鐵攝取與CRC風險相關</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炎症在腫瘤中扮演重要角色</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Heme iron促進腫瘤進展</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M Abediasl, M Siavash, SS Esfahani. Clinical and …. 2026</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2563EB"/>
                </a:solidFill>
                <a:hlinkClick r:id="rId2" invalidUrl="" action="" tgtFrame="" tooltip="" history="1" highlightClick="0" endSnd="0">
                  <a:extLst>
                    <a:ext uri="{A12FA001-AC4F-418D-AE19-62706E023703}">
                      <ahyp:hlinkClr xmlns:ahyp="http://schemas.microsoft.com/office/drawing/2018/hyperlinkcolor" val="tx"/>
                    </a:ext>
                  </a:extLst>
                </a:hlinkClick>
              </a:rPr>
              <a:t>📎 查看論文 →</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04  重點發現</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04</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Platelet membrane cloaked pectin and iron oxide based hybrid nanoparticles for the treatment of colorectal cancer and associated anemia.</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International journal of biological macromolecules  ·  Basic Research</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開發混合納米顆粒治療CRC</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將Gemcitabine包裹於pectin納米顆粒中</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血小板膜增強腫瘤靶向性</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同時進行化療和補鐵</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顯著抑制腫瘤和提高生存率</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Mirza Rashna, Rehman Asim Ur, Javed Aqeedat et al.. International journal of biological macromolecules. 2026-08-22 DOI: 10.1016/j.ijbiomac.2026.154170</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2563EB"/>
                </a:solidFill>
                <a:hlinkClick r:id="rId2" invalidUrl="" action="" tgtFrame="" tooltip="" history="1" highlightClick="0" endSnd="0">
                  <a:extLst>
                    <a:ext uri="{A12FA001-AC4F-418D-AE19-62706E023703}">
                      <ahyp:hlinkClr xmlns:ahyp="http://schemas.microsoft.com/office/drawing/2018/hyperlinkcolor" val="tx"/>
                    </a:ext>
                  </a:extLst>
                </a:hlinkClick>
              </a:rPr>
              <a:t>📎 查看論文 →</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05  重點發現</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05</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In vitro biological potential of green-synthesized nanoparticles from the Egyptian edible bivalve Paratapes undulatus (Born, 1778).</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Scientific reports  ·  Basic Research</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研究Paratapes undulatus提取物</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綠色合成納米顆粒的特徵</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Pu-SeNPs抗癌活性增強</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生物基納米藥物的潛力</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對HepG-2細胞療效不一致</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El Makawy Aida I, Zayed Khaled M, Mabrouk Dalia M et al.. Scientific reports. 2026-08-20 DOI: 10.1038/s41598-026-61397-7</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2563EB"/>
                </a:solidFill>
                <a:hlinkClick r:id="rId2" invalidUrl="" action="" tgtFrame="" tooltip="" history="1" highlightClick="0" endSnd="0">
                  <a:extLst>
                    <a:ext uri="{A12FA001-AC4F-418D-AE19-62706E023703}">
                      <ahyp:hlinkClr xmlns:ahyp="http://schemas.microsoft.com/office/drawing/2018/hyperlinkcolor" val="tx"/>
                    </a:ext>
                  </a:extLst>
                </a:hlinkClick>
              </a:rPr>
              <a:t>📎 查看論文 →</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06  重點發現</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06</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Host-Microbe Mechanisms of Fusobacterium nucleatum in Colorectal Cancer.</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Molecular oral microbiology  ·  Basic Research</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Fusobacterium nucleatum 與CRC進展相關。</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調節免疫及炎症途徑。</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顯著重塑腫瘤微環境。</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Leite Hadda Lyzandra Austr&amp;#xed;aco, Lopes Fernanda Ferreira. Molecular oral microbiology. 2026-08-19 DOI: 10.1111/omi.70038</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2563EB"/>
                </a:solidFill>
                <a:hlinkClick r:id="rId2" invalidUrl="" action="" tgtFrame="" tooltip="" history="1" highlightClick="0" endSnd="0">
                  <a:extLst>
                    <a:ext uri="{A12FA001-AC4F-418D-AE19-62706E023703}">
                      <ahyp:hlinkClr xmlns:ahyp="http://schemas.microsoft.com/office/drawing/2018/hyperlinkcolor" val="tx"/>
                    </a:ext>
                  </a:extLst>
                </a:hlinkClick>
              </a:rPr>
              <a:t>📎 查看論文 →</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07  重點發現</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07</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Evolution of SPP1+ cavity macrophage-mediated immunotherapy resistance in peritoneal metastasis of colorectal cancer.</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Cell reports. Medicine  ·  Basic Research</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SPP1+ 巨噬細胞驅動 CD8+ T 細胞功能障礙。</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SPP1 富集與治療抵抗相關。</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基因敲除增強 T 細胞浸潤和療效。</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Dai Xiaomeng, Lai Chunyu, Hong Libing et al.. Cell reports. Medicine. 2026-08-18 DOI: 10.1016/j.xcrm.2026.102930</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2563EB"/>
                </a:solidFill>
                <a:hlinkClick r:id="rId2" invalidUrl="" action="" tgtFrame="" tooltip="" history="1" highlightClick="0" endSnd="0">
                  <a:extLst>
                    <a:ext uri="{A12FA001-AC4F-418D-AE19-62706E023703}">
                      <ahyp:hlinkClr xmlns:ahyp="http://schemas.microsoft.com/office/drawing/2018/hyperlinkcolor" val="tx"/>
                    </a:ext>
                  </a:extLst>
                </a:hlinkClick>
              </a:rPr>
              <a:t>📎 查看論文 →</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08  重點發現</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08</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The barrier–microbiota–inflammation axis in colorectal cancer: Mechanisms and emerging diagnostic &amp; therapeutic strategies</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Cancers  ·  Basic Research</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LPS 促進發炎細胞因子的分泌</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下調上皮緊密連接蛋白</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促進上皮細胞的遷移與侵襲</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揭示微生物群在大腸癌中的角色</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新興的診斷與治療策略</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X Dong, J Yang, L He. Cancers. 2026</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2563EB"/>
                </a:solidFill>
                <a:hlinkClick r:id="rId2" invalidUrl="" action="" tgtFrame="" tooltip="" history="1" highlightClick="0" endSnd="0">
                  <a:extLst>
                    <a:ext uri="{A12FA001-AC4F-418D-AE19-62706E023703}">
                      <ahyp:hlinkClr xmlns:ahyp="http://schemas.microsoft.com/office/drawing/2018/hyperlinkcolor" val="tx"/>
                    </a:ext>
                  </a:extLst>
                </a:hlinkClick>
              </a:rPr>
              <a:t>📎 查看論文 →</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09  重點發現</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09</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LRMDA promotes intestinal mucosal barrier integrity and limits colitis and colon cancer.</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iScience</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LRMDA在IBD組織中下調。</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基因缺失加重結腸炎症狀。</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LRMDA缺失與腫瘤形成相關。</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黏液表達及屏障完整性受損。</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支持杯狀細胞的黏液運輸。</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Yang Liping, Guo Yuyao, Xiao Bikun et al.. iScience. 2026-07-26 DOI: 10.1016/j.isci.2026.116785</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2563EB"/>
                </a:solidFill>
                <a:hlinkClick r:id="rId2" invalidUrl="" action="" tgtFrame="" tooltip="" history="1" highlightClick="0" endSnd="0">
                  <a:extLst>
                    <a:ext uri="{A12FA001-AC4F-418D-AE19-62706E023703}">
                      <ahyp:hlinkClr xmlns:ahyp="http://schemas.microsoft.com/office/drawing/2018/hyperlinkcolor" val="tx"/>
                    </a:ext>
                  </a:extLst>
                </a:hlinkClick>
              </a:rPr>
              <a:t>📎 查看論文 →</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10  重點發現</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10</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Tumor-driven arginine depletion induces T-cell metabolism reprogramming to suppress atherosclerosis in colorectal cancer.</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Acta pharmacologica Sinica</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大腸癌影響動脈硬化發展。</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腫瘤耗竭精氨酸，改變T細胞代謝。</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飲食補充精氨酸恢復T細胞活性。</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Ni Wen-Jun, Sun He-Yang, Chen Meng-Lei et al.. Acta pharmacologica Sinica. 2026-08-18 DOI: 10.1038/s41401-026-01899-2</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2563EB"/>
                </a:solidFill>
                <a:hlinkClick r:id="rId2" invalidUrl="" action="" tgtFrame="" tooltip="" history="1" highlightClick="0" endSnd="0">
                  <a:extLst>
                    <a:ext uri="{A12FA001-AC4F-418D-AE19-62706E023703}">
                      <ahyp:hlinkClr xmlns:ahyp="http://schemas.microsoft.com/office/drawing/2018/hyperlinkcolor" val="tx"/>
                    </a:ext>
                  </a:extLst>
                </a:hlinkClick>
              </a:rPr>
              <a:t>📎 查看論文 →</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E3A5F"/>
        </a:solidFill>
      </p:bgPr>
    </p:bg>
    <p:spTree>
      <p:nvGrpSpPr>
        <p:cNvPr id="1" name=""/>
        <p:cNvGrpSpPr/>
        <p:nvPr/>
      </p:nvGrpSpPr>
      <p:grpSpPr>
        <a:xfrm>
          <a:off x="0" y="0"/>
          <a:ext cx="0" cy="0"/>
          <a:chOff x="0" y="0"/>
          <a:chExt cx="0" cy="0"/>
        </a:xfrm>
      </p:grpSpPr>
      <p:sp>
        <p:nvSpPr>
          <p:cNvPr id="2" name="Text 0"/>
          <p:cNvSpPr/>
          <p:nvPr/>
        </p:nvSpPr>
        <p:spPr>
          <a:xfrm>
            <a:off x="731520" y="365760"/>
            <a:ext cx="5486400" cy="0"/>
          </a:xfrm>
          <a:prstGeom prst="rect">
            <a:avLst/>
          </a:prstGeom>
          <a:noFill/>
          <a:ln/>
        </p:spPr>
        <p:txBody>
          <a:bodyPr wrap="square" lIns="0" tIns="0" rIns="0" bIns="0" rtlCol="0" anchor="ctr"/>
          <a:lstStyle/>
          <a:p>
            <a:pPr indent="0" marL="0">
              <a:buNone/>
            </a:pPr>
            <a:r>
              <a:rPr lang="en-US" sz="900" spc="600" kern="0" dirty="0">
                <a:solidFill>
                  <a:srgbClr val="888888"/>
                </a:solidFill>
              </a:rPr>
              <a:t>綜合啟示</a:t>
            </a:r>
            <a:endParaRPr lang="en-US" sz="900" dirty="0"/>
          </a:p>
        </p:txBody>
      </p:sp>
      <p:sp>
        <p:nvSpPr>
          <p:cNvPr id="3" name="Text 1"/>
          <p:cNvSpPr/>
          <p:nvPr/>
        </p:nvSpPr>
        <p:spPr>
          <a:xfrm>
            <a:off x="731520" y="822960"/>
            <a:ext cx="10058400" cy="0"/>
          </a:xfrm>
          <a:prstGeom prst="rect">
            <a:avLst/>
          </a:prstGeom>
          <a:noFill/>
          <a:ln/>
        </p:spPr>
        <p:txBody>
          <a:bodyPr wrap="square" lIns="0" tIns="0" rIns="0" bIns="0" rtlCol="0" anchor="ctr"/>
          <a:lstStyle/>
          <a:p>
            <a:pPr indent="0" marL="0">
              <a:buNone/>
            </a:pPr>
            <a:r>
              <a:rPr lang="en-US" sz="2400" b="1" dirty="0">
                <a:solidFill>
                  <a:srgbClr val="FFFFFF"/>
                </a:solidFill>
                <a:latin typeface="Microsoft JhengHei" pitchFamily="34" charset="0"/>
                <a:ea typeface="Microsoft JhengHei" pitchFamily="34" charset="-122"/>
                <a:cs typeface="Microsoft JhengHei" pitchFamily="34" charset="-120"/>
              </a:rPr>
              <a:t>綜合啟示與未來研究方向 (1/2)</a:t>
            </a:r>
            <a:endParaRPr lang="en-US" sz="2400" dirty="0"/>
          </a:p>
        </p:txBody>
      </p:sp>
      <p:sp>
        <p:nvSpPr>
          <p:cNvPr id="4" name="Text 2"/>
          <p:cNvSpPr/>
          <p:nvPr/>
        </p:nvSpPr>
        <p:spPr>
          <a:xfrm>
            <a:off x="731520" y="1463040"/>
            <a:ext cx="10515600" cy="0"/>
          </a:xfrm>
          <a:prstGeom prst="rect">
            <a:avLst/>
          </a:prstGeom>
          <a:noFill/>
          <a:ln/>
        </p:spPr>
        <p:txBody>
          <a:bodyPr wrap="square" rtlCol="0" anchor="ctr"/>
          <a:lstStyle/>
          <a:p>
            <a:pPr indent="0" marL="0">
              <a:lnSpc>
                <a:spcPct val="150000"/>
              </a:lnSpc>
              <a:buNone/>
            </a:pPr>
            <a:r>
              <a:rPr lang="en-US" sz="1200" dirty="0">
                <a:solidFill>
                  <a:srgbClr val="FFFFFF"/>
                </a:solidFill>
              </a:rPr>
              <a:t>### 綜合啟示 (Overall Insights)</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1. **系統免疫炎症指數的預後價值**  </a:t>
            </a:r>
            <a:endParaRPr lang="en-US" sz="1200" dirty="0"/>
          </a:p>
          <a:p>
            <a:pPr indent="0" marL="0">
              <a:lnSpc>
                <a:spcPct val="150000"/>
              </a:lnSpc>
              <a:buNone/>
            </a:pPr>
            <a:r>
              <a:rPr lang="en-US" sz="1200" dirty="0">
                <a:solidFill>
                  <a:srgbClr val="FFFFFF"/>
                </a:solidFill>
              </a:rPr>
              <a:t>   The systemic immune-inflammation index (SII) has emerged as a potential prognostic biomarker for colorectal cancer (CRC), although its predictive reliability remains inconsistent across studies.  </a:t>
            </a:r>
            <a:endParaRPr lang="en-US" sz="1200" dirty="0"/>
          </a:p>
          <a:p>
            <a:pPr indent="0" marL="0">
              <a:lnSpc>
                <a:spcPct val="150000"/>
              </a:lnSpc>
              <a:buNone/>
            </a:pPr>
            <a:r>
              <a:rPr lang="en-US" sz="1200" dirty="0">
                <a:solidFill>
                  <a:srgbClr val="FFFFFF"/>
                </a:solidFill>
              </a:rPr>
              <a:t>   系統免疫炎症指數（SII）已成為大腸癌（CRC）潛在的預後生物標記，儘管其預測可靠性在不同研究中仍不一致。</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2. **炎症與腫瘤進展的關聯**  </a:t>
            </a:r>
            <a:endParaRPr lang="en-US" sz="1200" dirty="0"/>
          </a:p>
          <a:p>
            <a:pPr indent="0" marL="0">
              <a:lnSpc>
                <a:spcPct val="150000"/>
              </a:lnSpc>
              <a:buNone/>
            </a:pPr>
            <a:r>
              <a:rPr lang="en-US" sz="1200" dirty="0">
                <a:solidFill>
                  <a:srgbClr val="FFFFFF"/>
                </a:solidFill>
              </a:rPr>
              <a:t>   Chronic inflammation plays a significant role in colorectal cancer progression, highlighting the need for further exploration of inflammatory markers and their therapeutic implications.  </a:t>
            </a:r>
            <a:endParaRPr lang="en-US" sz="1200" dirty="0"/>
          </a:p>
          <a:p>
            <a:pPr indent="0" marL="0">
              <a:lnSpc>
                <a:spcPct val="150000"/>
              </a:lnSpc>
              <a:buNone/>
            </a:pPr>
            <a:r>
              <a:rPr lang="en-US" sz="1200" dirty="0">
                <a:solidFill>
                  <a:srgbClr val="FFFFFF"/>
                </a:solidFill>
              </a:rPr>
              <a:t>   慢性炎症在大腸癌進展中扮演重要角色，強調需要進一步探索炎症標記及其治療意涵。</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3. **微生物群與腫瘤微環境的相互作用**  </a:t>
            </a:r>
            <a:endParaRPr lang="en-US" sz="1200" dirty="0"/>
          </a:p>
          <a:p>
            <a:pPr indent="0" marL="0">
              <a:lnSpc>
                <a:spcPct val="150000"/>
              </a:lnSpc>
              <a:buNone/>
            </a:pPr>
            <a:r>
              <a:rPr lang="en-US" sz="1200" dirty="0">
                <a:solidFill>
                  <a:srgbClr val="FFFFFF"/>
                </a:solidFill>
              </a:rPr>
              <a:t>   The interaction between gut microbiota and the tumor microenvironment is crucial in CRC, suggesting that microbiome-targeted therapies could be a promising avenue for treatment.  </a:t>
            </a:r>
            <a:endParaRPr lang="en-US" sz="1200" dirty="0"/>
          </a:p>
          <a:p>
            <a:pPr indent="0" marL="0">
              <a:lnSpc>
                <a:spcPct val="150000"/>
              </a:lnSpc>
              <a:buNone/>
            </a:pPr>
            <a:r>
              <a:rPr lang="en-US" sz="1200" dirty="0">
                <a:solidFill>
                  <a:srgbClr val="FFFFFF"/>
                </a:solidFill>
              </a:rPr>
              <a:t>   腸道微生物群與腫瘤微環境之間的相互作用在大腸癌中至關重要，這表明以微生物群為目標的治療可能是有前景的途徑。</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4. **新型納米藥物的潛力**  </a:t>
            </a:r>
            <a:endParaRPr lang="en-US" sz="1200" dirty="0"/>
          </a:p>
          <a:p>
            <a:pPr indent="0" marL="0">
              <a:lnSpc>
                <a:spcPct val="150000"/>
              </a:lnSpc>
              <a:buNone/>
            </a:pPr>
            <a:r>
              <a:rPr lang="en-US" sz="1200" dirty="0">
                <a:solidFill>
                  <a:srgbClr val="FFFFFF"/>
                </a:solidFill>
              </a:rPr>
              <a:t>   Hybrid nanoparticles that target both tumor suppression and iron homeostasis show promise in treating CRC and associated anemia, indicating a shift towards multifunctional therapeutic strategies.  </a:t>
            </a:r>
            <a:endParaRPr lang="en-US" sz="1200" dirty="0"/>
          </a:p>
          <a:p>
            <a:pPr indent="0" marL="0">
              <a:lnSpc>
                <a:spcPct val="150000"/>
              </a:lnSpc>
              <a:buNone/>
            </a:pPr>
            <a:r>
              <a:rPr lang="en-US" sz="1200" dirty="0">
                <a:solidFill>
                  <a:srgbClr val="FFFFFF"/>
                </a:solidFill>
              </a:rPr>
              <a:t>   針對腫瘤抑制和鐵穩態的混合納米藥物在治療大腸癌及相關貧血方面顯示出潛力，表明治療策略正向多功能化轉變。</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5. **免疫逃逸機制的研究**  </a:t>
            </a:r>
            <a:endParaRPr lang="en-US" sz="1200" dirty="0"/>
          </a:p>
          <a:p>
            <a:pPr indent="0" marL="0">
              <a:lnSpc>
                <a:spcPct val="150000"/>
              </a:lnSpc>
              <a:buNone/>
            </a:pPr>
            <a:r>
              <a:rPr lang="en-US" sz="1200" dirty="0">
                <a:solidFill>
                  <a:srgbClr val="FFFFFF"/>
                </a:solidFill>
              </a:rPr>
              <a:t>   Understanding the mechanisms of immune evasion in CRC, particularly through pathways involving macrophages and tumor microenvironments, is critical for developing effective immunotherapies.</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E3A5F"/>
        </a:solidFill>
      </p:bgPr>
    </p:bg>
    <p:spTree>
      <p:nvGrpSpPr>
        <p:cNvPr id="1" name=""/>
        <p:cNvGrpSpPr/>
        <p:nvPr/>
      </p:nvGrpSpPr>
      <p:grpSpPr>
        <a:xfrm>
          <a:off x="0" y="0"/>
          <a:ext cx="0" cy="0"/>
          <a:chOff x="0" y="0"/>
          <a:chExt cx="0" cy="0"/>
        </a:xfrm>
      </p:grpSpPr>
      <p:sp>
        <p:nvSpPr>
          <p:cNvPr id="2" name="Text 0"/>
          <p:cNvSpPr/>
          <p:nvPr/>
        </p:nvSpPr>
        <p:spPr>
          <a:xfrm>
            <a:off x="731520" y="365760"/>
            <a:ext cx="5486400" cy="0"/>
          </a:xfrm>
          <a:prstGeom prst="rect">
            <a:avLst/>
          </a:prstGeom>
          <a:noFill/>
          <a:ln/>
        </p:spPr>
        <p:txBody>
          <a:bodyPr wrap="square" lIns="0" tIns="0" rIns="0" bIns="0" rtlCol="0" anchor="ctr"/>
          <a:lstStyle/>
          <a:p>
            <a:pPr indent="0" marL="0">
              <a:buNone/>
            </a:pPr>
            <a:r>
              <a:rPr lang="en-US" sz="900" spc="600" kern="0" dirty="0">
                <a:solidFill>
                  <a:srgbClr val="888888"/>
                </a:solidFill>
              </a:rPr>
              <a:t>綜合啟示</a:t>
            </a:r>
            <a:endParaRPr lang="en-US" sz="900" dirty="0"/>
          </a:p>
        </p:txBody>
      </p:sp>
      <p:sp>
        <p:nvSpPr>
          <p:cNvPr id="3" name="Text 1"/>
          <p:cNvSpPr/>
          <p:nvPr/>
        </p:nvSpPr>
        <p:spPr>
          <a:xfrm>
            <a:off x="731520" y="822960"/>
            <a:ext cx="10058400" cy="0"/>
          </a:xfrm>
          <a:prstGeom prst="rect">
            <a:avLst/>
          </a:prstGeom>
          <a:noFill/>
          <a:ln/>
        </p:spPr>
        <p:txBody>
          <a:bodyPr wrap="square" lIns="0" tIns="0" rIns="0" bIns="0" rtlCol="0" anchor="ctr"/>
          <a:lstStyle/>
          <a:p>
            <a:pPr indent="0" marL="0">
              <a:buNone/>
            </a:pPr>
            <a:r>
              <a:rPr lang="en-US" sz="2400" b="1" dirty="0">
                <a:solidFill>
                  <a:srgbClr val="FFFFFF"/>
                </a:solidFill>
                <a:latin typeface="Microsoft JhengHei" pitchFamily="34" charset="0"/>
                <a:ea typeface="Microsoft JhengHei" pitchFamily="34" charset="-122"/>
                <a:cs typeface="Microsoft JhengHei" pitchFamily="34" charset="-120"/>
              </a:rPr>
              <a:t>綜合啟示與未來研究方向 (2/2)</a:t>
            </a:r>
            <a:endParaRPr lang="en-US" sz="2400" dirty="0"/>
          </a:p>
        </p:txBody>
      </p:sp>
      <p:sp>
        <p:nvSpPr>
          <p:cNvPr id="4" name="Text 2"/>
          <p:cNvSpPr/>
          <p:nvPr/>
        </p:nvSpPr>
        <p:spPr>
          <a:xfrm>
            <a:off x="731520" y="1463040"/>
            <a:ext cx="10515600" cy="0"/>
          </a:xfrm>
          <a:prstGeom prst="rect">
            <a:avLst/>
          </a:prstGeom>
          <a:noFill/>
          <a:ln/>
        </p:spPr>
        <p:txBody>
          <a:bodyPr wrap="square" rtlCol="0" anchor="ctr"/>
          <a:lstStyle/>
          <a:p>
            <a:pPr indent="0" marL="0">
              <a:lnSpc>
                <a:spcPct val="150000"/>
              </a:lnSpc>
              <a:buNone/>
            </a:pPr>
            <a:r>
              <a:rPr lang="en-US" sz="1200" dirty="0">
                <a:solidFill>
                  <a:srgbClr val="FFFFFF"/>
                </a:solidFill>
              </a:rPr>
              <a:t>理解大腸癌中免疫逃逸的機制，特別是涉及巨噬細胞和腫瘤微環境的途徑，對於開發有效的免疫療法至關重要。</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 未來研究方向 (Future Research Directions)</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1. **標準化SII的應用**  </a:t>
            </a:r>
            <a:endParaRPr lang="en-US" sz="1200" dirty="0"/>
          </a:p>
          <a:p>
            <a:pPr indent="0" marL="0">
              <a:lnSpc>
                <a:spcPct val="150000"/>
              </a:lnSpc>
              <a:buNone/>
            </a:pPr>
            <a:r>
              <a:rPr lang="en-US" sz="1200" dirty="0">
                <a:solidFill>
                  <a:srgbClr val="FFFFFF"/>
                </a:solidFill>
              </a:rPr>
              <a:t>   Future studies should focus on standardizing the application of the systemic immune-inflammation index (SII) in clinical settings to improve its prognostic accuracy in CRC.  </a:t>
            </a:r>
            <a:endParaRPr lang="en-US" sz="1200" dirty="0"/>
          </a:p>
          <a:p>
            <a:pPr indent="0" marL="0">
              <a:lnSpc>
                <a:spcPct val="150000"/>
              </a:lnSpc>
              <a:buNone/>
            </a:pPr>
            <a:r>
              <a:rPr lang="en-US" sz="1200" dirty="0">
                <a:solidFill>
                  <a:srgbClr val="FFFFFF"/>
                </a:solidFill>
              </a:rPr>
              <a:t>   未來研究應專注於標準化系統免疫炎症指數（SII）在臨床環境中的應用，以提高其在大腸癌中的預後準確性。</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2. **炎症標記的臨床應用**  </a:t>
            </a:r>
            <a:endParaRPr lang="en-US" sz="1200" dirty="0"/>
          </a:p>
          <a:p>
            <a:pPr indent="0" marL="0">
              <a:lnSpc>
                <a:spcPct val="150000"/>
              </a:lnSpc>
              <a:buNone/>
            </a:pPr>
            <a:r>
              <a:rPr lang="en-US" sz="1200" dirty="0">
                <a:solidFill>
                  <a:srgbClr val="FFFFFF"/>
                </a:solidFill>
              </a:rPr>
              <a:t>   Investigating the clinical utility of various inflammatory markers could provide insights into personalized treatment strategies for CRC patients.  </a:t>
            </a:r>
            <a:endParaRPr lang="en-US" sz="1200" dirty="0"/>
          </a:p>
          <a:p>
            <a:pPr indent="0" marL="0">
              <a:lnSpc>
                <a:spcPct val="150000"/>
              </a:lnSpc>
              <a:buNone/>
            </a:pPr>
            <a:r>
              <a:rPr lang="en-US" sz="1200" dirty="0">
                <a:solidFill>
                  <a:srgbClr val="FFFFFF"/>
                </a:solidFill>
              </a:rPr>
              <a:t>   探索各種炎症標記的臨床應用可能為大腸癌患者提供個性化治療策略的見解。</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3. **微生物群介入研究**  </a:t>
            </a:r>
            <a:endParaRPr lang="en-US" sz="1200" dirty="0"/>
          </a:p>
          <a:p>
            <a:pPr indent="0" marL="0">
              <a:lnSpc>
                <a:spcPct val="150000"/>
              </a:lnSpc>
              <a:buNone/>
            </a:pPr>
            <a:r>
              <a:rPr lang="en-US" sz="1200" dirty="0">
                <a:solidFill>
                  <a:srgbClr val="FFFFFF"/>
                </a:solidFill>
              </a:rPr>
              <a:t>   Research should aim to elucidate the therapeutic potential of modulating gut microbiota as a complementary approach to existing CRC therapies.  </a:t>
            </a:r>
            <a:endParaRPr lang="en-US" sz="1200" dirty="0"/>
          </a:p>
          <a:p>
            <a:pPr indent="0" marL="0">
              <a:lnSpc>
                <a:spcPct val="150000"/>
              </a:lnSpc>
              <a:buNone/>
            </a:pPr>
            <a:r>
              <a:rPr lang="en-US" sz="1200" dirty="0">
                <a:solidFill>
                  <a:srgbClr val="FFFFFF"/>
                </a:solidFill>
              </a:rPr>
              <a:t>   研究應旨在闡明調節腸道微生物群的治療潛力，作為現有大腸癌療法的補充方法。</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4. **納米技術在治療中的應用**  </a:t>
            </a:r>
            <a:endParaRPr lang="en-US" sz="1200" dirty="0"/>
          </a:p>
          <a:p>
            <a:pPr indent="0" marL="0">
              <a:lnSpc>
                <a:spcPct val="150000"/>
              </a:lnSpc>
              <a:buNone/>
            </a:pPr>
            <a:r>
              <a:rPr lang="en-US" sz="1200" dirty="0">
                <a:solidFill>
                  <a:srgbClr val="FFFFFF"/>
                </a:solidFill>
              </a:rPr>
              <a:t>   Further exploration of hybrid nanoparticles for targeted drug delivery in CRC treatment could enhance therapeutic efficacy and minimize side effects.  </a:t>
            </a:r>
            <a:endParaRPr lang="en-US" sz="1200" dirty="0"/>
          </a:p>
          <a:p>
            <a:pPr indent="0" marL="0">
              <a:lnSpc>
                <a:spcPct val="150000"/>
              </a:lnSpc>
              <a:buNone/>
            </a:pPr>
            <a:r>
              <a:rPr lang="en-US" sz="1200" dirty="0">
                <a:solidFill>
                  <a:srgbClr val="FFFFFF"/>
                </a:solidFill>
              </a:rPr>
              <a:t>   進一步探索混合納米藥物在大腸癌治療中的靶向藥物傳遞應用，可能提高治療效果並最小化副作用。</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5. **免疫療法的機制研究**  </a:t>
            </a:r>
            <a:endParaRPr lang="en-US" sz="1200" dirty="0"/>
          </a:p>
          <a:p>
            <a:pPr indent="0" marL="0">
              <a:lnSpc>
                <a:spcPct val="150000"/>
              </a:lnSpc>
              <a:buNone/>
            </a:pPr>
            <a:r>
              <a:rPr lang="en-US" sz="1200" dirty="0">
                <a:solidFill>
                  <a:srgbClr val="FFFFFF"/>
                </a:solidFill>
              </a:rPr>
              <a:t>   Continued investigation into the mechanisms of immune resistance in CRC, particularly in relation to macrophage dynamics, will be essential for advancing immunotherapy approaches.  </a:t>
            </a:r>
            <a:endParaRPr lang="en-US" sz="1200" dirty="0"/>
          </a:p>
          <a:p>
            <a:pPr indent="0" marL="0">
              <a:lnSpc>
                <a:spcPct val="150000"/>
              </a:lnSpc>
              <a:buNone/>
            </a:pPr>
            <a:r>
              <a:rPr lang="en-US" sz="1200" dirty="0">
                <a:solidFill>
                  <a:srgbClr val="FFFFFF"/>
                </a:solidFill>
              </a:rPr>
              <a:t>   持續研究大腸癌中免疫抵抗的機制，特別是與巨噬細胞動態相關的機制，對於推進免疫療法方法至關重要。</a:t>
            </a: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A1A2E"/>
        </a:solidFill>
      </p:bgPr>
    </p:bg>
    <p:spTree>
      <p:nvGrpSpPr>
        <p:cNvPr id="1" name=""/>
        <p:cNvGrpSpPr/>
        <p:nvPr/>
      </p:nvGrpSpPr>
      <p:grpSpPr>
        <a:xfrm>
          <a:off x="0" y="0"/>
          <a:ext cx="0" cy="0"/>
          <a:chOff x="0" y="0"/>
          <a:chExt cx="0" cy="0"/>
        </a:xfrm>
      </p:grpSpPr>
      <p:sp>
        <p:nvSpPr>
          <p:cNvPr id="2" name="Text 0"/>
          <p:cNvSpPr/>
          <p:nvPr/>
        </p:nvSpPr>
        <p:spPr>
          <a:xfrm>
            <a:off x="731520" y="2286000"/>
            <a:ext cx="10058400" cy="0"/>
          </a:xfrm>
          <a:prstGeom prst="rect">
            <a:avLst/>
          </a:prstGeom>
          <a:noFill/>
          <a:ln/>
        </p:spPr>
        <p:txBody>
          <a:bodyPr wrap="square" lIns="0" tIns="0" rIns="0" bIns="0" rtlCol="0" anchor="ctr"/>
          <a:lstStyle/>
          <a:p>
            <a:pPr indent="0" marL="0">
              <a:buNone/>
            </a:pPr>
            <a:r>
              <a:rPr lang="en-US" sz="4800" b="1" dirty="0">
                <a:solidFill>
                  <a:srgbClr val="FFFFFF"/>
                </a:solidFill>
                <a:latin typeface="Arial" pitchFamily="34" charset="0"/>
                <a:ea typeface="Arial" pitchFamily="34" charset="-122"/>
                <a:cs typeface="Arial" pitchFamily="34" charset="-120"/>
              </a:rPr>
              <a:t>Thank You</a:t>
            </a:r>
            <a:endParaRPr lang="en-US" sz="4800" dirty="0"/>
          </a:p>
        </p:txBody>
      </p:sp>
      <p:sp>
        <p:nvSpPr>
          <p:cNvPr id="3" name="Text 1"/>
          <p:cNvSpPr/>
          <p:nvPr/>
        </p:nvSpPr>
        <p:spPr>
          <a:xfrm>
            <a:off x="731520" y="3749040"/>
            <a:ext cx="10058400" cy="0"/>
          </a:xfrm>
          <a:prstGeom prst="rect">
            <a:avLst/>
          </a:prstGeom>
          <a:noFill/>
          <a:ln/>
        </p:spPr>
        <p:txBody>
          <a:bodyPr wrap="square" lIns="0" tIns="0" rIns="0" bIns="0" rtlCol="0" anchor="ctr"/>
          <a:lstStyle/>
          <a:p>
            <a:pPr indent="0" marL="0">
              <a:buNone/>
            </a:pPr>
            <a:r>
              <a:rPr lang="en-US" sz="2400" dirty="0">
                <a:solidFill>
                  <a:srgbClr val="888888"/>
                </a:solidFill>
                <a:latin typeface="Microsoft JhengHei" pitchFamily="34" charset="0"/>
                <a:ea typeface="Microsoft JhengHei" pitchFamily="34" charset="-122"/>
                <a:cs typeface="Microsoft JhengHei" pitchFamily="34" charset="-120"/>
              </a:rPr>
              <a:t>謝謝</a:t>
            </a:r>
            <a:endParaRPr lang="en-US" sz="2400" dirty="0"/>
          </a:p>
        </p:txBody>
      </p:sp>
      <p:sp>
        <p:nvSpPr>
          <p:cNvPr id="4" name="Text 2"/>
          <p:cNvSpPr/>
          <p:nvPr/>
        </p:nvSpPr>
        <p:spPr>
          <a:xfrm>
            <a:off x="731520" y="4572000"/>
            <a:ext cx="10058400" cy="0"/>
          </a:xfrm>
          <a:prstGeom prst="rect">
            <a:avLst/>
          </a:prstGeom>
          <a:noFill/>
          <a:ln/>
        </p:spPr>
        <p:txBody>
          <a:bodyPr wrap="square" lIns="0" tIns="0" rIns="0" bIns="0" rtlCol="0" anchor="ctr"/>
          <a:lstStyle/>
          <a:p>
            <a:pPr indent="0" marL="0">
              <a:buNone/>
            </a:pPr>
            <a:r>
              <a:rPr lang="en-US" sz="1100" dirty="0">
                <a:solidFill>
                  <a:srgbClr val="888888"/>
                </a:solidFill>
              </a:rPr>
              <a:t>Colorectal Surgery Weekly Digest</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大腸直腸外科文獻週報</dc:title>
  <dc:subject>PptxGenJS Presentation</dc:subject>
  <dc:creator>Colorectal Weekly Digest</dc:creator>
  <cp:lastModifiedBy>Colorectal Weekly Digest</cp:lastModifiedBy>
  <cp:revision>1</cp:revision>
  <dcterms:created xsi:type="dcterms:W3CDTF">2026-08-24T02:22:49Z</dcterms:created>
  <dcterms:modified xsi:type="dcterms:W3CDTF">2026-08-24T02:22:49Z</dcterms:modified>
</cp:coreProperties>
</file>