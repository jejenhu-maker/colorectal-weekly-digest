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ut.bmj.com/content/75/5/920.abstract" TargetMode="External"/><Relationship Id="rId2" Type="http://schemas.openxmlformats.org/officeDocument/2006/relationships/hyperlink" Target="https://gut.bmj.com/content/75/5/920.abstract"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aacrjournals.org/cancerres/article/86/7_Supplement/6122/780015" TargetMode="External"/><Relationship Id="rId2" Type="http://schemas.openxmlformats.org/officeDocument/2006/relationships/hyperlink" Target="https://aacrjournals.org/cancerres/article/86/7_Supplement/6122/780015"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link.springer.com/article/10.1186/s12957-025-04165-7" TargetMode="External"/><Relationship Id="rId2" Type="http://schemas.openxmlformats.org/officeDocument/2006/relationships/hyperlink" Target="https://link.springer.com/article/10.1186/s12957-025-04165-7"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frontiersin.org/journals/oncology/articles/10.3389/fonc.2026.1616016/full" TargetMode="External"/><Relationship Id="rId2" Type="http://schemas.openxmlformats.org/officeDocument/2006/relationships/hyperlink" Target="https://www.frontiersin.org/journals/oncology/articles/10.3389/fonc.2026.1616016/full"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oi.org/10.1186/s12967-026-08041-0" TargetMode="External"/><Relationship Id="rId2" Type="http://schemas.openxmlformats.org/officeDocument/2006/relationships/hyperlink" Target="https://doi.org/10.1186/s12967-026-08041-0"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186/s13020-026-01381-5" TargetMode="External"/><Relationship Id="rId2" Type="http://schemas.openxmlformats.org/officeDocument/2006/relationships/hyperlink" Target="https://doi.org/10.1186/s13020-026-01381-5"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i.org/10.1002/advs.202520000" TargetMode="External"/><Relationship Id="rId2" Type="http://schemas.openxmlformats.org/officeDocument/2006/relationships/hyperlink" Target="https://doi.org/10.1002/advs.202520000"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oi.org/10.1002/cbic.202600004" TargetMode="External"/><Relationship Id="rId2" Type="http://schemas.openxmlformats.org/officeDocument/2006/relationships/hyperlink" Target="https://doi.org/10.1002/cbic.202600004"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1016/j.jep.2026.121657" TargetMode="External"/><Relationship Id="rId2" Type="http://schemas.openxmlformats.org/officeDocument/2006/relationships/hyperlink" Target="https://doi.org/10.1016/j.jep.2026.121657"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aacrjournals.org/cancerres/article/86/7_Supplement/4476/777724" TargetMode="External"/><Relationship Id="rId2" Type="http://schemas.openxmlformats.org/officeDocument/2006/relationships/hyperlink" Target="https://aacrjournals.org/cancerres/article/86/7_Supplement/4476/777724"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30000"/>
              </a:lnSpc>
              <a:buNone/>
            </a:pPr>
            <a:r>
              <a:rPr lang="en-US" sz="4400" b="1" dirty="0">
                <a:solidFill>
                  <a:srgbClr val="FFFFFF"/>
                </a:solidFill>
                <a:latin typeface="Arial" pitchFamily="34" charset="0"/>
                <a:ea typeface="Arial" pitchFamily="34" charset="-122"/>
                <a:cs typeface="Arial" pitchFamily="34" charset="-120"/>
              </a:rPr>
              <a:t>Colorectal Surgery</a:t>
            </a:r>
            <a:endParaRPr lang="en-US" sz="4400" dirty="0"/>
          </a:p>
          <a:p>
            <a:pPr indent="0" marL="0">
              <a:lnSpc>
                <a:spcPct val="130000"/>
              </a:lnSpc>
              <a:buNone/>
            </a:pPr>
            <a:r>
              <a:rPr lang="en-US" sz="2200" dirty="0">
                <a:solidFill>
                  <a:srgbClr val="DBEAFE"/>
                </a:solidFill>
                <a:latin typeface="Microsoft JhengHei" pitchFamily="34" charset="0"/>
                <a:ea typeface="Microsoft JhengHei" pitchFamily="34" charset="-122"/>
                <a:cs typeface="Microsoft JhengHei" pitchFamily="34" charset="-120"/>
              </a:rPr>
              <a:t>大腸直腸外科文獻週報</a:t>
            </a:r>
            <a:endParaRPr lang="en-US" sz="44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2026-04-12 — 2026-04-19</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2563EB"/>
                </a:solidFill>
              </a:rPr>
              <a:t>10 篇精選論文</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目錄</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Parasutterella excrementihominis exacerbates experimental colitis and colitis-as…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Organ-specific immune and metabolic programs shape spatial microenvironments in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Effect of hyperthermic intraperitoneal chemotherapy on patients with advanced co…</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value of systemic immune-inflammation index for colorectal cancer: a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Lactate metabolism-driven lactylation: paradoxical modulation of intestinal infl…</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Thlaspi arvense attenuates colitis-associated colorectal tumorigenesis through 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Tumor-Derived Alpha-1 Antitrypsin Promotes Liver Metastasis of Colorectal Cancer…</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Radioiodination of Two Carborane-Based Dual Cyclooxygenase-2/5-Lipoxygenase Inhi…</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Sanghuangporus vaninii extract exerts dual anti-tumor effects in colitis-associa…</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Repurposing PARP inhibitors in molecularly defined subgroups of peritoneal metas…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Parasutterella excrementihominis exacerbates experimental colitis and colitis-associated colorectal cancer via pathogenic NETosis activation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Gut  ·  IF 24.5</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 excrementihominis加重結腸炎嚴重性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NETosis活化與癌症進展相關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識別潛在治療策略</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Organ-specific immune and metabolic programs shape spatial microenvironments in MSS colorectal cancer metastases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Research  ·  IF 12.7</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MSS大腸癌中的T細胞浸潤</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肝轉移有獨特免疫特徵</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腹膜轉移顯示不同微環境</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Effect of hyperthermic intraperitoneal chemotherapy on patients with advanced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World Journal of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評估高溫腹腔化療 (HIPEC)</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對晚期大腸癌患者的有效性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進行系統性回顧與統合分析</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Prognostic value of systemic immune-inflammation index for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Frontiers in Oncology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系統性免疫炎症指數(SII)評估</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SII作為CRC預後生物標誌</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進行現有研究的綜合分析</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Lactate metabolism-driven lactylation: paradoxical modulation of intestinal inflammation and malignancy.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translational medicine  ·  IF 6.1  ·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乳酸代謝影響腸道炎症。</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乳酸化調節腸道免疫反應。</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針對乳酸可治療腸道疾病。</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Thlaspi arvense attenuates colitis-associated colorectal tumorigenesis through suppression of neutrophil recruitment via the NOD/NF-&amp;#x3ba;B pathway.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Chinese medicine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Thlaspi arvense 降低結腸炎相關腫瘤。</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中性粒細胞招募是關鍵因素。</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TA 抑制 NOD/NF-κB 信號通路。</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Tumor-Derived Alpha-1 Antitrypsin Promotes Liver Metastasis of Colorectal Cancer Through the Neutrophil Extracellular Traps-CCDC25 Pathway.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Advanced science (Weinheim, Baden-Wurttemberg, Germany)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A1AT促進CRC肝轉移。</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中性粒細胞外陷阱參與。</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CCDC25上調增強侵襲性。</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Radioiodination of Two Carborane-Based Dual Cyclooxygenase-2/5-Lipoxygenase Inhibitors and Their In Vitro and In Vivo Evaluation.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Chembiochem : a European journal of chemical biology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COX-2和5-LO是癌症靶點</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碘化抑制劑顯示不同效能</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放射性示蹤劑吸收受5-LO影響</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Sanghuangporus vaninii extract exerts dual anti-tumor effects in colitis-associated colorectal cancer by direct cytotoxicity and macrophage reprogramming via the PPAR&amp;#x3b3;/NF-&amp;#x3ba;B axis.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ethnopharmacology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Sanghuangporus vaninii 具有抗腫瘤效果。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抑制結腸炎相關結直腸癌進展。</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通過 PPARγ/NF-κB 軸調節巨噬細胞。</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改善存活率並減少腫瘤負擔。</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調整治療小鼠的細胞因子譜。</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Repurposing PARP inhibitors in molecularly defined subgroups of peritoneal metastatic colorectal cancer (pmCRC): Preclinical analysis of patient-derived xenograft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pmCRC 預後較差。</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PARP inhibitors 可能有助於特定亞群。</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使用患者衍生的異種移植進行前臨床分析。</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**腸道微生物對腸道炎症和腸癌的影響**  </a:t>
            </a:r>
            <a:endParaRPr lang="en-US" sz="1200" dirty="0"/>
          </a:p>
          <a:p>
            <a:pPr indent="0" marL="0">
              <a:lnSpc>
                <a:spcPct val="150000"/>
              </a:lnSpc>
              <a:buNone/>
            </a:pPr>
            <a:r>
              <a:rPr lang="en-US" sz="1200" dirty="0">
                <a:solidFill>
                  <a:srgbClr val="FFFFFF"/>
                </a:solidFill>
              </a:rPr>
              <a:t>   **The impact of gut microbiota on intestinal inflammation and colorectal cancer:**  </a:t>
            </a:r>
            <a:endParaRPr lang="en-US" sz="1200" dirty="0"/>
          </a:p>
          <a:p>
            <a:pPr indent="0" marL="0">
              <a:lnSpc>
                <a:spcPct val="150000"/>
              </a:lnSpc>
              <a:buNone/>
            </a:pPr>
            <a:r>
              <a:rPr lang="en-US" sz="1200" dirty="0">
                <a:solidFill>
                  <a:srgbClr val="FFFFFF"/>
                </a:solidFill>
              </a:rPr>
              <a:t>   研究顯示，某些腸道微生物（如Parasutterella excrementihominis）能促進腸道炎症並加劇與腸炎相關的腸癌，提示微生物組在腸道健康中的關鍵角色。  </a:t>
            </a:r>
            <a:endParaRPr lang="en-US" sz="1200" dirty="0"/>
          </a:p>
          <a:p>
            <a:pPr indent="0" marL="0">
              <a:lnSpc>
                <a:spcPct val="150000"/>
              </a:lnSpc>
              <a:buNone/>
            </a:pPr>
            <a:r>
              <a:rPr lang="en-US" sz="1200" dirty="0">
                <a:solidFill>
                  <a:srgbClr val="FFFFFF"/>
                </a:solidFill>
              </a:rPr>
              <a:t>   Studies indicate that certain gut microbes (e.g., Parasutterella excrementihominis) can exacerbate intestinal inflammation and colitis-associated colorectal cancer, highlighting the critical role of the microbiome in gut health.</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**免疫反應與腫瘤微環境的關聯**  </a:t>
            </a:r>
            <a:endParaRPr lang="en-US" sz="1200" dirty="0"/>
          </a:p>
          <a:p>
            <a:pPr indent="0" marL="0">
              <a:lnSpc>
                <a:spcPct val="150000"/>
              </a:lnSpc>
              <a:buNone/>
            </a:pPr>
            <a:r>
              <a:rPr lang="en-US" sz="1200" dirty="0">
                <a:solidFill>
                  <a:srgbClr val="FFFFFF"/>
                </a:solidFill>
              </a:rPr>
              <a:t>   **The relationship between immune responses and tumor microenvironments:**  </a:t>
            </a:r>
            <a:endParaRPr lang="en-US" sz="1200" dirty="0"/>
          </a:p>
          <a:p>
            <a:pPr indent="0" marL="0">
              <a:lnSpc>
                <a:spcPct val="150000"/>
              </a:lnSpc>
              <a:buNone/>
            </a:pPr>
            <a:r>
              <a:rPr lang="en-US" sz="1200" dirty="0">
                <a:solidFill>
                  <a:srgbClr val="FFFFFF"/>
                </a:solidFill>
              </a:rPr>
              <a:t>   不同器官的免疫和代謝程序塑造了腫瘤微環境，這對腸癌轉移具有重要影響，顯示了針對特定微環境的治療策略的潛力。  </a:t>
            </a:r>
            <a:endParaRPr lang="en-US" sz="1200" dirty="0"/>
          </a:p>
          <a:p>
            <a:pPr indent="0" marL="0">
              <a:lnSpc>
                <a:spcPct val="150000"/>
              </a:lnSpc>
              <a:buNone/>
            </a:pPr>
            <a:r>
              <a:rPr lang="en-US" sz="1200" dirty="0">
                <a:solidFill>
                  <a:srgbClr val="FFFFFF"/>
                </a:solidFill>
              </a:rPr>
              <a:t>   Organ-specific immune and metabolic programs shape tumor microenvironments, significantly affecting colorectal cancer metastasis, suggesting the potential for targeted therapeutic strategies against specific microenvironments.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**系統性免疫-炎症指數的預後價值**  </a:t>
            </a:r>
            <a:endParaRPr lang="en-US" sz="1200" dirty="0"/>
          </a:p>
          <a:p>
            <a:pPr indent="0" marL="0">
              <a:lnSpc>
                <a:spcPct val="150000"/>
              </a:lnSpc>
              <a:buNone/>
            </a:pPr>
            <a:r>
              <a:rPr lang="en-US" sz="1200" dirty="0">
                <a:solidFill>
                  <a:srgbClr val="FFFFFF"/>
                </a:solidFill>
              </a:rPr>
              <a:t>   **Prognostic value of the systemic immune-inflammation index:**  </a:t>
            </a:r>
            <a:endParaRPr lang="en-US" sz="1200" dirty="0"/>
          </a:p>
          <a:p>
            <a:pPr indent="0" marL="0">
              <a:lnSpc>
                <a:spcPct val="150000"/>
              </a:lnSpc>
              <a:buNone/>
            </a:pPr>
            <a:r>
              <a:rPr lang="en-US" sz="1200" dirty="0">
                <a:solidFill>
                  <a:srgbClr val="FFFFFF"/>
                </a:solidFill>
              </a:rPr>
              <a:t>   系統性免疫-炎症指數（SII）在腸癌預後中顯示出重要的生物標記潛力，能夠幫助臨床醫生評估患者的預後情況。  </a:t>
            </a:r>
            <a:endParaRPr lang="en-US" sz="1200" dirty="0"/>
          </a:p>
          <a:p>
            <a:pPr indent="0" marL="0">
              <a:lnSpc>
                <a:spcPct val="150000"/>
              </a:lnSpc>
              <a:buNone/>
            </a:pPr>
            <a:r>
              <a:rPr lang="en-US" sz="1200" dirty="0">
                <a:solidFill>
                  <a:srgbClr val="FFFFFF"/>
                </a:solidFill>
              </a:rPr>
              <a:t>   The systemic immune-inflammation index (SII) shows significant potential as a prognostic biomarker in colorectal cancer, aiding clinicians in assessing patient prognosis.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**腫瘤微環境中的中性粒細胞角色**  </a:t>
            </a:r>
            <a:endParaRPr lang="en-US" sz="1200" dirty="0"/>
          </a:p>
          <a:p>
            <a:pPr indent="0" marL="0">
              <a:lnSpc>
                <a:spcPct val="150000"/>
              </a:lnSpc>
              <a:buNone/>
            </a:pPr>
            <a:r>
              <a:rPr lang="en-US" sz="1200" dirty="0">
                <a:solidFill>
                  <a:srgbClr val="FFFFFF"/>
                </a:solidFill>
              </a:rPr>
              <a:t>   **Role of neutrophils in the tumor microenvironment:**  </a:t>
            </a:r>
            <a:endParaRPr lang="en-US" sz="1200" dirty="0"/>
          </a:p>
          <a:p>
            <a:pPr indent="0" marL="0">
              <a:lnSpc>
                <a:spcPct val="150000"/>
              </a:lnSpc>
              <a:buNone/>
            </a:pPr>
            <a:r>
              <a:rPr lang="en-US" sz="1200" dirty="0">
                <a:solidFill>
                  <a:srgbClr val="FFFFFF"/>
                </a:solidFill>
              </a:rPr>
              <a:t>   中性粒細胞在腸癌的轉移過程中扮演了促進角色，這一發現強調了抑制中性粒細胞浸潤的治療策略的必要性。  </a:t>
            </a:r>
            <a:endParaRPr lang="en-US" sz="1200" dirty="0"/>
          </a:p>
          <a:p>
            <a:pPr indent="0" marL="0">
              <a:lnSpc>
                <a:spcPct val="150000"/>
              </a:lnSpc>
              <a:buNone/>
            </a:pPr>
            <a:r>
              <a:rPr lang="en-US" sz="1200" dirty="0">
                <a:solidFill>
                  <a:srgbClr val="FFFFFF"/>
                </a:solidFill>
              </a:rPr>
              <a:t>   Neutrophils play a pro-metastatic role in colorectal cancer, emphasizing the need for therapeutic strategies aimed at inhibiting neutrophil infiltration.</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**新型治療策略的潛力**  </a:t>
            </a:r>
            <a:endParaRPr lang="en-US" sz="1200" dirty="0"/>
          </a:p>
          <a:p>
            <a:pPr indent="0" marL="0">
              <a:lnSpc>
                <a:spcPct val="150000"/>
              </a:lnSpc>
              <a:buNone/>
            </a:pPr>
            <a:r>
              <a:rPr lang="en-US" sz="1200" dirty="0">
                <a:solidFill>
                  <a:srgbClr val="FFFFFF"/>
                </a:solidFill>
              </a:rPr>
              <a:t>   **Potential for novel therapeutic strategies:**  </a:t>
            </a:r>
            <a:endParaRPr lang="en-US" sz="1200" dirty="0"/>
          </a:p>
          <a:p>
            <a:pPr indent="0" marL="0">
              <a:lnSpc>
                <a:spcPct val="150000"/>
              </a:lnSpc>
              <a:buNone/>
            </a:pPr>
            <a:r>
              <a:rPr lang="en-US" sz="1200" dirty="0">
                <a:solidFill>
                  <a:srgbClr val="FFFFFF"/>
                </a:solidFill>
              </a:rPr>
              <a:t>   研究顯示，利用植物提取物和PARP抑制劑等新型療法在腸癌的治療中展現出希望，尤其是在特定的分子亞型中。  </a:t>
            </a:r>
            <a:endParaRPr lang="en-US" sz="1200" dirty="0"/>
          </a:p>
          <a:p>
            <a:pPr indent="0" marL="0">
              <a:lnSpc>
                <a:spcPct val="150000"/>
              </a:lnSpc>
              <a:buNone/>
            </a:pPr>
            <a:r>
              <a:rPr lang="en-US" sz="1200" dirty="0">
                <a:solidFill>
                  <a:srgbClr val="FFFFFF"/>
                </a:solidFill>
              </a:rPr>
              <a:t>   Studies indicate that novel therapies, such as plant extracts and PARP inhibitors, show promise in treating colorectal cancer, particularly in specific molecular subgroups.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未來研究方向（Future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**腸道微生物組的調控機制研究**  </a:t>
            </a:r>
            <a:endParaRPr lang="en-US" sz="1200" dirty="0"/>
          </a:p>
          <a:p>
            <a:pPr indent="0" marL="0">
              <a:lnSpc>
                <a:spcPct val="150000"/>
              </a:lnSpc>
              <a:buNone/>
            </a:pPr>
            <a:r>
              <a:rPr lang="en-US" sz="1200" dirty="0">
                <a:solidFill>
                  <a:srgbClr val="FFFFFF"/>
                </a:solidFill>
              </a:rPr>
              <a:t>   **Investigating regulatory mechanisms of the gut microbiome:**  </a:t>
            </a:r>
            <a:endParaRPr lang="en-US" sz="1200" dirty="0"/>
          </a:p>
          <a:p>
            <a:pPr indent="0" marL="0">
              <a:lnSpc>
                <a:spcPct val="150000"/>
              </a:lnSpc>
              <a:buNone/>
            </a:pPr>
            <a:r>
              <a:rPr lang="en-US" sz="1200" dirty="0">
                <a:solidFill>
                  <a:srgbClr val="FFFFFF"/>
                </a:solidFill>
              </a:rPr>
              <a:t>   需要深入研究腸道微生物組如何影響腸道炎症及癌症發展的分子機制，以開發靶向微生物的治療方法。  </a:t>
            </a:r>
            <a:endParaRPr lang="en-US" sz="1200" dirty="0"/>
          </a:p>
          <a:p>
            <a:pPr indent="0" marL="0">
              <a:lnSpc>
                <a:spcPct val="150000"/>
              </a:lnSpc>
              <a:buNone/>
            </a:pPr>
            <a:r>
              <a:rPr lang="en-US" sz="1200" dirty="0">
                <a:solidFill>
                  <a:srgbClr val="FFFFFF"/>
                </a:solidFill>
              </a:rPr>
              <a:t>   Further investigation is needed into the molecular mechanisms by which the gut microbiome influences intestinal inflammation and cancer development, to develop microbiome-targeted therapies.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**針對腫瘤微環境的免疫療法**  </a:t>
            </a:r>
            <a:endParaRPr lang="en-US" sz="1200" dirty="0"/>
          </a:p>
          <a:p>
            <a:pPr indent="0" marL="0">
              <a:lnSpc>
                <a:spcPct val="150000"/>
              </a:lnSpc>
              <a:buNone/>
            </a:pPr>
            <a:r>
              <a:rPr lang="en-US" sz="1200" dirty="0">
                <a:solidFill>
                  <a:srgbClr val="FFFFFF"/>
                </a:solidFill>
              </a:rPr>
              <a:t>   **Immunotherapy targeting the tumor microenvironment:**  </a:t>
            </a:r>
            <a:endParaRPr lang="en-US" sz="1200" dirty="0"/>
          </a:p>
          <a:p>
            <a:pPr indent="0" marL="0">
              <a:lnSpc>
                <a:spcPct val="150000"/>
              </a:lnSpc>
              <a:buNone/>
            </a:pPr>
            <a:r>
              <a:rPr lang="en-US" sz="1200" dirty="0">
                <a:solidFill>
                  <a:srgbClr val="FFFFFF"/>
                </a:solidFill>
              </a:rPr>
              <a:t>   探索針對特定腫瘤微環境的免疫療法，特別是針對中性粒細胞的抑制，以改善腸癌患者的治療效果。  </a:t>
            </a:r>
            <a:endParaRPr lang="en-US" sz="1200" dirty="0"/>
          </a:p>
          <a:p>
            <a:pPr indent="0" marL="0">
              <a:lnSpc>
                <a:spcPct val="150000"/>
              </a:lnSpc>
              <a:buNone/>
            </a:pPr>
            <a:r>
              <a:rPr lang="en-US" sz="1200" dirty="0">
                <a:solidFill>
                  <a:srgbClr val="FFFFFF"/>
                </a:solidFill>
              </a:rPr>
              <a:t>   Exploring immunotherapies targeting specific tumor microenvironments, especially neutrophil suppression, to improve treatment outcomes for colorectal cancer patients.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**系統性免疫-炎症指數的臨床應用**  </a:t>
            </a:r>
            <a:endParaRPr lang="en-US" sz="1200" dirty="0"/>
          </a:p>
          <a:p>
            <a:pPr indent="0" marL="0">
              <a:lnSpc>
                <a:spcPct val="150000"/>
              </a:lnSpc>
              <a:buNone/>
            </a:pPr>
            <a:r>
              <a:rPr lang="en-US" sz="1200" dirty="0">
                <a:solidFill>
                  <a:srgbClr val="FFFFFF"/>
                </a:solidFill>
              </a:rPr>
              <a:t>   **Clinical application of the systemic immune-inflammation index:**  </a:t>
            </a:r>
            <a:endParaRPr lang="en-US" sz="1200" dirty="0"/>
          </a:p>
          <a:p>
            <a:pPr indent="0" marL="0">
              <a:lnSpc>
                <a:spcPct val="150000"/>
              </a:lnSpc>
              <a:buNone/>
            </a:pPr>
            <a:r>
              <a:rPr lang="en-US" sz="1200" dirty="0">
                <a:solidFill>
                  <a:srgbClr val="FFFFFF"/>
                </a:solidFill>
              </a:rPr>
              <a:t>   進一步研究SII在不同腸癌亞型中的預測能力，以便在臨床上更有效地應用該指數。  </a:t>
            </a:r>
            <a:endParaRPr lang="en-US" sz="1200" dirty="0"/>
          </a:p>
          <a:p>
            <a:pPr indent="0" marL="0">
              <a:lnSpc>
                <a:spcPct val="150000"/>
              </a:lnSpc>
              <a:buNone/>
            </a:pPr>
            <a:r>
              <a:rPr lang="en-US" sz="1200" dirty="0">
                <a:solidFill>
                  <a:srgbClr val="FFFFFF"/>
                </a:solidFill>
              </a:rPr>
              <a:t>   Further research on the predictive capability of SII in different colorectal cancer subtypes for more effective clinical application of this index.</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**新型藥物的臨床試驗**  </a:t>
            </a:r>
            <a:endParaRPr lang="en-US" sz="1200" dirty="0"/>
          </a:p>
          <a:p>
            <a:pPr indent="0" marL="0">
              <a:lnSpc>
                <a:spcPct val="150000"/>
              </a:lnSpc>
              <a:buNone/>
            </a:pPr>
            <a:r>
              <a:rPr lang="en-US" sz="1200" dirty="0">
                <a:solidFill>
                  <a:srgbClr val="FFFFFF"/>
                </a:solidFill>
              </a:rPr>
              <a:t>   **Clinical trials for novel therapeutics:**  </a:t>
            </a:r>
            <a:endParaRPr lang="en-US" sz="1200" dirty="0"/>
          </a:p>
          <a:p>
            <a:pPr indent="0" marL="0">
              <a:lnSpc>
                <a:spcPct val="150000"/>
              </a:lnSpc>
              <a:buNone/>
            </a:pPr>
            <a:r>
              <a:rPr lang="en-US" sz="1200" dirty="0">
                <a:solidFill>
                  <a:srgbClr val="FFFFFF"/>
                </a:solidFill>
              </a:rPr>
              <a:t>   對新型植物提取物和PARP抑制劑進行臨床試驗，以評估其在腸癌治療中的有效性和安全性。  </a:t>
            </a:r>
            <a:endParaRPr lang="en-US" sz="1200" dirty="0"/>
          </a:p>
          <a:p>
            <a:pPr indent="0" marL="0">
              <a:lnSpc>
                <a:spcPct val="150000"/>
              </a:lnSpc>
              <a:buNone/>
            </a:pPr>
            <a:r>
              <a:rPr lang="en-US" sz="1200" dirty="0">
                <a:solidFill>
                  <a:srgbClr val="FFFFFF"/>
                </a:solidFill>
              </a:rPr>
              <a:t>   Conducting clinical trials for novel plant extracts and PARP inhibitors to evaluate their efficacy and safety in colorectal cancer treatment.</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**多學科合作研究**  </a:t>
            </a:r>
            <a:endParaRPr lang="en-US" sz="1200" dirty="0"/>
          </a:p>
          <a:p>
            <a:pPr indent="0" marL="0">
              <a:lnSpc>
                <a:spcPct val="150000"/>
              </a:lnSpc>
              <a:buNone/>
            </a:pPr>
            <a:r>
              <a:rPr lang="en-US" sz="1200" dirty="0">
                <a:solidFill>
                  <a:srgbClr val="FFFFFF"/>
                </a:solidFill>
              </a:rPr>
              <a:t>   **Multidisciplinary collaborative research:**  </a:t>
            </a:r>
            <a:endParaRPr lang="en-US" sz="1200" dirty="0"/>
          </a:p>
          <a:p>
            <a:pPr indent="0" marL="0">
              <a:lnSpc>
                <a:spcPct val="150000"/>
              </a:lnSpc>
              <a:buNone/>
            </a:pPr>
            <a:r>
              <a:rPr lang="en-US" sz="1200" dirty="0">
                <a:solidFill>
                  <a:srgbClr val="FFFFFF"/>
                </a:solidFill>
              </a:rPr>
              <a:t>   鼓勵腸道微生物學、腫瘤學和免疫學等領域的多學科合作，以促進腸癌研究的綜合性和深度。  </a:t>
            </a:r>
            <a:endParaRPr lang="en-US" sz="1200" dirty="0"/>
          </a:p>
          <a:p>
            <a:pPr indent="0" marL="0">
              <a:lnSpc>
                <a:spcPct val="150000"/>
              </a:lnSpc>
              <a:buNone/>
            </a:pPr>
            <a:r>
              <a:rPr lang="en-US" sz="1200" dirty="0">
                <a:solidFill>
                  <a:srgbClr val="FFFFFF"/>
                </a:solidFill>
              </a:rPr>
              <a:t>   Encouraging multidisciplinary collaboration across fields such as microbiology, oncology, and immunology to enhance the comprehensiveness and depth of colorectal cancer research.</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749040"/>
            <a:ext cx="10058400" cy="0"/>
          </a:xfrm>
          <a:prstGeom prst="rect">
            <a:avLst/>
          </a:prstGeom>
          <a:noFill/>
          <a:ln/>
        </p:spPr>
        <p:txBody>
          <a:bodyPr wrap="square" lIns="0" tIns="0" rIns="0" bIns="0" rtlCol="0" anchor="ctr"/>
          <a:lstStyle/>
          <a:p>
            <a:pPr indent="0" marL="0">
              <a:buNone/>
            </a:pPr>
            <a:r>
              <a:rPr lang="en-US" sz="2400" dirty="0">
                <a:solidFill>
                  <a:srgbClr val="888888"/>
                </a:solidFill>
                <a:latin typeface="Microsoft JhengHei" pitchFamily="34" charset="0"/>
                <a:ea typeface="Microsoft JhengHei" pitchFamily="34" charset="-122"/>
                <a:cs typeface="Microsoft JhengHei" pitchFamily="34" charset="-120"/>
              </a:rPr>
              <a:t>謝謝</a:t>
            </a:r>
            <a:endParaRPr lang="en-US" sz="2400" dirty="0"/>
          </a:p>
        </p:txBody>
      </p:sp>
      <p:sp>
        <p:nvSpPr>
          <p:cNvPr id="4" name="Text 2"/>
          <p:cNvSpPr/>
          <p:nvPr/>
        </p:nvSpPr>
        <p:spPr>
          <a:xfrm>
            <a:off x="731520" y="4572000"/>
            <a:ext cx="10058400" cy="0"/>
          </a:xfrm>
          <a:prstGeom prst="rect">
            <a:avLst/>
          </a:prstGeom>
          <a:noFill/>
          <a:ln/>
        </p:spPr>
        <p:txBody>
          <a:bodyPr wrap="square" lIns="0" tIns="0" rIns="0" bIns="0" rtlCol="0" anchor="ctr"/>
          <a:lstStyle/>
          <a:p>
            <a:pPr indent="0" marL="0">
              <a:buNone/>
            </a:pPr>
            <a:r>
              <a:rPr lang="en-US" sz="1100" dirty="0">
                <a:solidFill>
                  <a:srgbClr val="888888"/>
                </a:solidFill>
              </a:rPr>
              <a:t>Colorectal Surgery Weekly Digest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大腸直腸外科文獻週報</dc:title>
  <dc:subject>PptxGenJS Presentation</dc:subject>
  <dc:creator>Colorectal Weekly Digest</dc:creator>
  <cp:lastModifiedBy>Colorectal Weekly Digest</cp:lastModifiedBy>
  <cp:revision>1</cp:revision>
  <dcterms:created xsi:type="dcterms:W3CDTF">2026-04-19T10:18:21Z</dcterms:created>
  <dcterms:modified xsi:type="dcterms:W3CDTF">2026-04-19T10:18:21Z</dcterms:modified>
</cp:coreProperties>
</file>